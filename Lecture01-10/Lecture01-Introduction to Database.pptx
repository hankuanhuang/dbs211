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B2694-1CF6-4901-BBA4-7E2E71ED0C95}" v="1" dt="2024-01-11T17:39:18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dia Li" userId="ea0578a6-1f9b-4b91-a2cb-da76beaf9494" providerId="ADAL" clId="{4F0B2694-1CF6-4901-BBA4-7E2E71ED0C95}"/>
    <pc:docChg chg="modSld">
      <pc:chgData name="Lydia Li" userId="ea0578a6-1f9b-4b91-a2cb-da76beaf9494" providerId="ADAL" clId="{4F0B2694-1CF6-4901-BBA4-7E2E71ED0C95}" dt="2024-01-11T17:39:18.601" v="1" actId="1076"/>
      <pc:docMkLst>
        <pc:docMk/>
      </pc:docMkLst>
      <pc:sldChg chg="modSp mod">
        <pc:chgData name="Lydia Li" userId="ea0578a6-1f9b-4b91-a2cb-da76beaf9494" providerId="ADAL" clId="{4F0B2694-1CF6-4901-BBA4-7E2E71ED0C95}" dt="2024-01-11T17:08:29.396" v="0" actId="20577"/>
        <pc:sldMkLst>
          <pc:docMk/>
          <pc:sldMk cId="3557403338" sldId="258"/>
        </pc:sldMkLst>
        <pc:spChg chg="mod">
          <ac:chgData name="Lydia Li" userId="ea0578a6-1f9b-4b91-a2cb-da76beaf9494" providerId="ADAL" clId="{4F0B2694-1CF6-4901-BBA4-7E2E71ED0C95}" dt="2024-01-11T17:08:29.396" v="0" actId="20577"/>
          <ac:spMkLst>
            <pc:docMk/>
            <pc:sldMk cId="3557403338" sldId="258"/>
            <ac:spMk id="3" creationId="{00000000-0000-0000-0000-000000000000}"/>
          </ac:spMkLst>
        </pc:spChg>
      </pc:sldChg>
      <pc:sldChg chg="modSp">
        <pc:chgData name="Lydia Li" userId="ea0578a6-1f9b-4b91-a2cb-da76beaf9494" providerId="ADAL" clId="{4F0B2694-1CF6-4901-BBA4-7E2E71ED0C95}" dt="2024-01-11T17:39:18.601" v="1" actId="1076"/>
        <pc:sldMkLst>
          <pc:docMk/>
          <pc:sldMk cId="2458166496" sldId="289"/>
        </pc:sldMkLst>
        <pc:picChg chg="mod">
          <ac:chgData name="Lydia Li" userId="ea0578a6-1f9b-4b91-a2cb-da76beaf9494" providerId="ADAL" clId="{4F0B2694-1CF6-4901-BBA4-7E2E71ED0C95}" dt="2024-01-11T17:39:18.601" v="1" actId="1076"/>
          <ac:picMkLst>
            <pc:docMk/>
            <pc:sldMk cId="2458166496" sldId="289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0054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738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887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45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0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39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985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31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62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666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18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8C806B3-D79A-4E76-A2D8-F9ADBAFB48B1}" type="datetimeFigureOut">
              <a:rPr lang="en-CA" smtClean="0"/>
              <a:t>2024-01-11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66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Introduction to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sz="6600" dirty="0"/>
              <a:t>Database Management</a:t>
            </a:r>
            <a:br>
              <a:rPr lang="en-US" altLang="en-US" dirty="0"/>
            </a:br>
            <a:r>
              <a:rPr lang="en-US" altLang="en-US" dirty="0"/>
              <a:t>Systems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Lecture 01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374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</a:p>
          <a:p>
            <a:r>
              <a:rPr lang="en-US" altLang="en-US" dirty="0"/>
              <a:t>File Systems</a:t>
            </a:r>
          </a:p>
          <a:p>
            <a:r>
              <a:rPr lang="en-US" altLang="en-US" dirty="0"/>
              <a:t>Database  </a:t>
            </a:r>
          </a:p>
          <a:p>
            <a:r>
              <a:rPr lang="en-US" altLang="en-US"/>
              <a:t>Database</a:t>
            </a:r>
          </a:p>
          <a:p>
            <a:r>
              <a:rPr lang="en-US" altLang="en-US"/>
              <a:t> </a:t>
            </a:r>
            <a:r>
              <a:rPr lang="en-US" altLang="en-US" dirty="0"/>
              <a:t>Management System</a:t>
            </a:r>
          </a:p>
          <a:p>
            <a:r>
              <a:rPr lang="en-US" altLang="en-US" dirty="0"/>
              <a:t>Database Design</a:t>
            </a:r>
          </a:p>
          <a:p>
            <a:endParaRPr lang="en-CA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728472" y="1807932"/>
            <a:ext cx="533400" cy="457200"/>
          </a:xfrm>
          <a:prstGeom prst="rightArrow">
            <a:avLst>
              <a:gd name="adj1" fmla="val 50000"/>
              <a:gd name="adj2" fmla="val 41665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0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Data: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Unprocessed information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i.e. customer, course, employee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Building blocks of information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Information: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Information reveals the meaning of data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Produced by processing data which is related</a:t>
            </a:r>
          </a:p>
          <a:p>
            <a:pPr lvl="1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/>
              <a:t>i.e. credit card statement, phone bill, video rental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Accurate and timely information is need for decision making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Good decision making is key to an organization’s survival</a:t>
            </a:r>
            <a:endParaRPr lang="en-US" altLang="en-US" sz="28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605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</a:p>
          <a:p>
            <a:r>
              <a:rPr lang="en-US" altLang="en-US" dirty="0"/>
              <a:t>File Systems</a:t>
            </a:r>
          </a:p>
          <a:p>
            <a:r>
              <a:rPr lang="en-US" altLang="en-US" dirty="0"/>
              <a:t>Database  </a:t>
            </a:r>
          </a:p>
          <a:p>
            <a:r>
              <a:rPr lang="en-US" altLang="en-US" dirty="0"/>
              <a:t>Database Management System</a:t>
            </a:r>
          </a:p>
          <a:p>
            <a:r>
              <a:rPr lang="en-US" altLang="en-US" dirty="0"/>
              <a:t>Database Design</a:t>
            </a:r>
          </a:p>
          <a:p>
            <a:endParaRPr lang="en-CA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616528" y="2241724"/>
            <a:ext cx="533400" cy="457200"/>
          </a:xfrm>
          <a:prstGeom prst="rightArrow">
            <a:avLst>
              <a:gd name="adj1" fmla="val 50000"/>
              <a:gd name="adj2" fmla="val 41665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9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Programs were written to access data. </a:t>
            </a:r>
          </a:p>
          <a:p>
            <a:pPr lvl="1"/>
            <a:r>
              <a:rPr lang="en-US" altLang="en-US" sz="2400" dirty="0"/>
              <a:t>i.e. to get information about a customer, a program would be written to do just that (and nothing else).</a:t>
            </a:r>
          </a:p>
          <a:p>
            <a:pPr lvl="1"/>
            <a:r>
              <a:rPr lang="en-US" altLang="en-US" sz="2400" dirty="0"/>
              <a:t>Program would go against a specific file (or files, depending on it’s purpose)</a:t>
            </a:r>
          </a:p>
          <a:p>
            <a:r>
              <a:rPr lang="en-US" altLang="en-US" sz="2800" dirty="0"/>
              <a:t>If other information was needed, another program was written</a:t>
            </a:r>
          </a:p>
          <a:p>
            <a:r>
              <a:rPr lang="en-US" altLang="en-US" sz="2800" dirty="0"/>
              <a:t>Programmer had to specify exactly how the processing of the data needed to be done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473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317" y="2253860"/>
            <a:ext cx="5981700" cy="2886075"/>
          </a:xfrm>
        </p:spPr>
      </p:pic>
    </p:spTree>
    <p:extLst>
      <p:ext uri="{BB962C8B-B14F-4D97-AF65-F5344CB8AC3E}">
        <p14:creationId xmlns:p14="http://schemas.microsoft.com/office/powerpoint/2010/main" val="272705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 </a:t>
            </a:r>
            <a:r>
              <a:rPr lang="en-US" altLang="en-US" sz="2000" dirty="0"/>
              <a:t>(Example)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Simple business example:</a:t>
            </a:r>
          </a:p>
          <a:p>
            <a:pPr lvl="1"/>
            <a:r>
              <a:rPr lang="en-US" altLang="en-US" sz="2400" dirty="0"/>
              <a:t>A customer </a:t>
            </a:r>
            <a:r>
              <a:rPr lang="en-US" altLang="en-US" sz="2400" b="1" i="1" dirty="0"/>
              <a:t>orders</a:t>
            </a:r>
            <a:r>
              <a:rPr lang="en-US" altLang="en-US" sz="2400" dirty="0"/>
              <a:t> products from a Retailer</a:t>
            </a:r>
          </a:p>
          <a:p>
            <a:pPr lvl="1"/>
            <a:r>
              <a:rPr lang="en-US" altLang="en-US" sz="2400" dirty="0"/>
              <a:t>Sales Department would </a:t>
            </a:r>
            <a:r>
              <a:rPr lang="en-US" altLang="en-US" sz="2400" b="1" i="1" dirty="0"/>
              <a:t>take the order</a:t>
            </a:r>
            <a:r>
              <a:rPr lang="en-US" altLang="en-US" sz="2400" dirty="0"/>
              <a:t> information from the customer </a:t>
            </a:r>
          </a:p>
          <a:p>
            <a:pPr lvl="1"/>
            <a:r>
              <a:rPr lang="en-US" altLang="en-US" sz="2400" dirty="0"/>
              <a:t>Sales Department would </a:t>
            </a:r>
            <a:r>
              <a:rPr lang="en-US" altLang="en-US" sz="2400" b="1" i="1" dirty="0"/>
              <a:t>send a request</a:t>
            </a:r>
            <a:r>
              <a:rPr lang="en-US" altLang="en-US" sz="2400" dirty="0"/>
              <a:t> to the Shipping Department to deliver a product to a customer</a:t>
            </a:r>
          </a:p>
          <a:p>
            <a:pPr lvl="1"/>
            <a:r>
              <a:rPr lang="en-US" altLang="en-US" sz="2400" dirty="0"/>
              <a:t>The Shipping Department would </a:t>
            </a:r>
            <a:r>
              <a:rPr lang="en-US" altLang="en-US" sz="2400" b="1" i="1" dirty="0"/>
              <a:t>enter in the information</a:t>
            </a:r>
            <a:r>
              <a:rPr lang="en-US" altLang="en-US" sz="2400" dirty="0"/>
              <a:t> about the customer order and create a shipping document</a:t>
            </a:r>
          </a:p>
          <a:p>
            <a:pPr lvl="1"/>
            <a:r>
              <a:rPr lang="en-US" altLang="en-US" sz="2400" dirty="0"/>
              <a:t>The Shipping Department </a:t>
            </a:r>
            <a:r>
              <a:rPr lang="en-US" altLang="en-US" sz="2400" b="1" i="1" dirty="0"/>
              <a:t>would print the shipping</a:t>
            </a:r>
            <a:r>
              <a:rPr lang="en-US" altLang="en-US" sz="2400" dirty="0"/>
              <a:t> document and send the products to the Customer</a:t>
            </a:r>
            <a:endParaRPr lang="en-US" altLang="en-US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508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 </a:t>
            </a:r>
            <a:r>
              <a:rPr lang="en-US" altLang="en-US" sz="2400" dirty="0"/>
              <a:t>(Cont’d)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2800" dirty="0"/>
              <a:t>Possible required files to store data:</a:t>
            </a:r>
          </a:p>
          <a:p>
            <a:pPr marL="0" indent="0">
              <a:spcAft>
                <a:spcPts val="0"/>
              </a:spcAft>
              <a:buNone/>
              <a:defRPr/>
            </a:pPr>
            <a:endParaRPr lang="en-US" altLang="en-US" sz="2800" dirty="0"/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400" dirty="0"/>
              <a:t>Files required in Sales Department: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altLang="en-US" sz="2000" i="1" dirty="0"/>
              <a:t>Customer, Product, Sale</a:t>
            </a:r>
          </a:p>
          <a:p>
            <a:pPr marL="685800" lvl="2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2000" dirty="0"/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400" dirty="0"/>
              <a:t>Files required Shipping Department: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altLang="en-US" sz="2000" i="1" dirty="0"/>
              <a:t>Customer, Shipping Document</a:t>
            </a:r>
          </a:p>
          <a:p>
            <a:pPr marL="685800" lvl="2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2000" dirty="0"/>
          </a:p>
          <a:p>
            <a:pPr marL="0" lvl="1" indent="0" fontAlgn="auto">
              <a:spcAft>
                <a:spcPts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None/>
              <a:defRPr/>
            </a:pPr>
            <a:r>
              <a:rPr lang="en-US" altLang="en-US" dirty="0"/>
              <a:t>Can anybody see a problem with this?</a:t>
            </a:r>
          </a:p>
          <a:p>
            <a:pPr marL="0" lvl="1" indent="0" fontAlgn="auto">
              <a:spcAft>
                <a:spcPts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None/>
              <a:defRPr/>
            </a:pPr>
            <a:r>
              <a:rPr lang="en-US" altLang="en-US" dirty="0"/>
              <a:t>Where would you go to look up the phone number for a customer?</a:t>
            </a:r>
          </a:p>
          <a:p>
            <a:pPr lvl="1" fontAlgn="auto">
              <a:spcAft>
                <a:spcPts val="0"/>
              </a:spcAft>
              <a:defRPr/>
            </a:pPr>
            <a:endParaRPr lang="en-US" altLang="en-US" dirty="0"/>
          </a:p>
          <a:p>
            <a:pPr lvl="1" fontAlgn="auto">
              <a:spcAft>
                <a:spcPts val="0"/>
              </a:spcAft>
              <a:defRPr/>
            </a:pPr>
            <a:endParaRPr lang="en-US" alt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42279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Redundancy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2800" dirty="0"/>
              <a:t>Same data appears in more than one location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500" dirty="0"/>
              <a:t>Customer data exists in two different files:</a:t>
            </a:r>
          </a:p>
          <a:p>
            <a:pPr marL="3429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2500" dirty="0"/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400" b="1" dirty="0"/>
              <a:t>Sales Department</a:t>
            </a:r>
            <a:r>
              <a:rPr lang="en-US" altLang="en-US" sz="2400" dirty="0"/>
              <a:t>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altLang="en-US" sz="2000" b="1" i="1" dirty="0">
                <a:solidFill>
                  <a:srgbClr val="C00000"/>
                </a:solidFill>
              </a:rPr>
              <a:t>Customer</a:t>
            </a:r>
            <a:r>
              <a:rPr lang="en-US" altLang="en-US" sz="2000" i="1" dirty="0"/>
              <a:t>, Product, Sale</a:t>
            </a:r>
          </a:p>
          <a:p>
            <a:pPr marL="685800" lvl="2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2000" dirty="0"/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400" b="1" dirty="0"/>
              <a:t>Shipping Department</a:t>
            </a:r>
            <a:r>
              <a:rPr lang="en-US" altLang="en-US" sz="2400" dirty="0"/>
              <a:t>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altLang="en-US" sz="2000" b="1" i="1" dirty="0">
                <a:solidFill>
                  <a:srgbClr val="C00000"/>
                </a:solidFill>
              </a:rPr>
              <a:t>Customer</a:t>
            </a:r>
            <a:r>
              <a:rPr lang="en-US" altLang="en-US" sz="2000" i="1" dirty="0"/>
              <a:t>, Shipping Document</a:t>
            </a:r>
          </a:p>
          <a:p>
            <a:pPr lvl="1" fontAlgn="auto">
              <a:spcAft>
                <a:spcPts val="0"/>
              </a:spcAft>
              <a:defRPr/>
            </a:pP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/>
              <a:t>Results in data inconsistency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/>
              <a:t>Data anomalies result when changes to redundant data are not made successfully.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929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What if you wanted some information from a file quickly?</a:t>
            </a:r>
          </a:p>
          <a:p>
            <a:r>
              <a:rPr lang="en-US" altLang="en-US" dirty="0"/>
              <a:t>Could not be done using a traditional file system.</a:t>
            </a:r>
          </a:p>
          <a:p>
            <a:r>
              <a:rPr lang="en-US" altLang="en-US" dirty="0"/>
              <a:t>Why?  Programs specified exact structure of a file. Think of the complexity if information was required from multiples files!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0710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What if you wanted to change the structure of a file?</a:t>
            </a:r>
          </a:p>
          <a:p>
            <a:r>
              <a:rPr lang="en-US" altLang="en-US" dirty="0"/>
              <a:t>All the programs that used that file would have to be changed.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51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Anomalies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Modification anomalies</a:t>
            </a:r>
          </a:p>
          <a:p>
            <a:r>
              <a:rPr lang="en-US" altLang="en-US" dirty="0"/>
              <a:t>Insertion anomalies</a:t>
            </a:r>
          </a:p>
          <a:p>
            <a:r>
              <a:rPr lang="en-US" altLang="en-US" dirty="0"/>
              <a:t>Deletion anomalies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929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Modification Anomaly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342900" lvl="1" indent="-342900">
              <a:spcAft>
                <a:spcPts val="0"/>
              </a:spcAft>
              <a:buClr>
                <a:schemeClr val="hlink"/>
              </a:buClr>
              <a:buSzPct val="80000"/>
              <a:defRPr/>
            </a:pPr>
            <a:r>
              <a:rPr lang="en-US" altLang="en-US" sz="2000" dirty="0"/>
              <a:t>Change the address for employee 519 – has to be done for all rows with employee ID 519.</a:t>
            </a:r>
          </a:p>
          <a:p>
            <a:pPr marL="342900" lvl="1" indent="-342900">
              <a:spcAft>
                <a:spcPts val="0"/>
              </a:spcAft>
              <a:buClr>
                <a:schemeClr val="hlink"/>
              </a:buClr>
              <a:buSzPct val="80000"/>
              <a:defRPr/>
            </a:pPr>
            <a:r>
              <a:rPr lang="en-US" altLang="en-US" sz="2000" dirty="0"/>
              <a:t>What if this employee address is in another table (file) – has to be done for all tables (files)</a:t>
            </a:r>
          </a:p>
          <a:p>
            <a:endParaRPr lang="en-CA" dirty="0"/>
          </a:p>
        </p:txBody>
      </p:sp>
      <p:pic>
        <p:nvPicPr>
          <p:cNvPr id="4" name="Content Placeholder 5" descr="http://upload.wikimedia.org/wikipedia/commons/thumb/2/29/Update_anomaly.svg/758px-Update_anomaly.svg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087" y="1494905"/>
            <a:ext cx="72199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87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 Anomaly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160020" lvl="1" indent="-342900">
              <a:spcAft>
                <a:spcPts val="0"/>
              </a:spcAft>
              <a:buClr>
                <a:schemeClr val="hlink"/>
              </a:buClr>
              <a:buSzPct val="80000"/>
              <a:defRPr/>
            </a:pPr>
            <a:endParaRPr lang="en-US" altLang="en-US" sz="2400" dirty="0"/>
          </a:p>
          <a:p>
            <a:pPr marL="160020" lvl="1" indent="-342900">
              <a:spcAft>
                <a:spcPts val="0"/>
              </a:spcAft>
              <a:buClr>
                <a:schemeClr val="hlink"/>
              </a:buClr>
              <a:buSzPct val="80000"/>
              <a:defRPr/>
            </a:pPr>
            <a:r>
              <a:rPr lang="en-US" altLang="en-US" sz="2000" dirty="0"/>
              <a:t>Dr. Giddens is not teaching ENG-206 this semester</a:t>
            </a:r>
          </a:p>
          <a:p>
            <a:pPr marL="160020" lvl="1" indent="-342900">
              <a:spcAft>
                <a:spcPts val="0"/>
              </a:spcAft>
              <a:buClr>
                <a:schemeClr val="hlink"/>
              </a:buClr>
              <a:buSzPct val="80000"/>
              <a:defRPr/>
            </a:pPr>
            <a:r>
              <a:rPr lang="en-US" altLang="en-US" sz="2000" dirty="0"/>
              <a:t>We could lose the hire date if we remove this row to reflect current faculty and their courses</a:t>
            </a:r>
          </a:p>
          <a:p>
            <a:endParaRPr lang="en-CA" dirty="0"/>
          </a:p>
        </p:txBody>
      </p:sp>
      <p:pic>
        <p:nvPicPr>
          <p:cNvPr id="4" name="Content Placeholder 6" descr="http://upload.wikimedia.org/wikipedia/commons/thumb/2/2c/Deletion_anomaly.svg/776px-Deletion_anomaly.svg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852" y="1691322"/>
            <a:ext cx="7391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2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Insertion Anomaly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342900" lvl="1" indent="-34290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CA" altLang="en-US" sz="2000" dirty="0"/>
              <a:t>We can record the details of any faculty member who teaches at least one course in 2007</a:t>
            </a:r>
            <a:endParaRPr lang="en-US" altLang="en-US" sz="2000" dirty="0"/>
          </a:p>
          <a:p>
            <a:pPr marL="342900" lvl="1" indent="-342900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en-US" altLang="en-US" sz="2000" dirty="0"/>
              <a:t>W</a:t>
            </a:r>
            <a:r>
              <a:rPr lang="en-CA" altLang="en-US" sz="2000" dirty="0"/>
              <a:t>e cannot record the details of a newly hired faculty member who has not yet been assigned to teach any courses </a:t>
            </a:r>
            <a:endParaRPr lang="en-US" altLang="en-US" sz="2000" dirty="0"/>
          </a:p>
          <a:p>
            <a:endParaRPr lang="en-CA" dirty="0"/>
          </a:p>
        </p:txBody>
      </p:sp>
      <p:pic>
        <p:nvPicPr>
          <p:cNvPr id="5" name="Content Placeholder 6" descr="http://upload.wikimedia.org/wikipedia/commons/thumb/5/5c/Insertion_anomaly.svg/758px-Insertion_anomaly.svg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763" y="1553441"/>
            <a:ext cx="72199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76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</a:p>
          <a:p>
            <a:r>
              <a:rPr lang="en-US" altLang="en-US" dirty="0"/>
              <a:t>File Systems</a:t>
            </a:r>
          </a:p>
          <a:p>
            <a:r>
              <a:rPr lang="en-US" altLang="en-US" dirty="0"/>
              <a:t>Database  </a:t>
            </a:r>
          </a:p>
          <a:p>
            <a:r>
              <a:rPr lang="en-US" altLang="en-US" dirty="0"/>
              <a:t>Database Management System</a:t>
            </a:r>
          </a:p>
          <a:p>
            <a:r>
              <a:rPr lang="en-US" altLang="en-US" dirty="0"/>
              <a:t>Database Design</a:t>
            </a:r>
          </a:p>
          <a:p>
            <a:endParaRPr lang="en-CA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633152" y="2705735"/>
            <a:ext cx="533400" cy="457200"/>
          </a:xfrm>
          <a:prstGeom prst="rightArrow">
            <a:avLst>
              <a:gd name="adj1" fmla="val 50000"/>
              <a:gd name="adj2" fmla="val 41665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360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Database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dirty="0"/>
              <a:t>Database</a:t>
            </a:r>
          </a:p>
          <a:p>
            <a:pPr lvl="1"/>
            <a:r>
              <a:rPr lang="en-US" altLang="en-US" sz="2400" dirty="0"/>
              <a:t>A structure that contains logically related data in a </a:t>
            </a:r>
            <a:r>
              <a:rPr lang="en-US" altLang="en-US" sz="2400" i="1" dirty="0"/>
              <a:t>single repository</a:t>
            </a:r>
          </a:p>
          <a:p>
            <a:pPr lvl="1"/>
            <a:endParaRPr lang="en-US" altLang="en-US" sz="2400" dirty="0"/>
          </a:p>
          <a:p>
            <a:r>
              <a:rPr lang="en-US" altLang="en-US" sz="2800" dirty="0"/>
              <a:t>A Database contains:</a:t>
            </a:r>
          </a:p>
          <a:p>
            <a:pPr lvl="1"/>
            <a:r>
              <a:rPr lang="en-US" altLang="en-US" sz="2400" dirty="0"/>
              <a:t>End user component – data </a:t>
            </a:r>
          </a:p>
          <a:p>
            <a:pPr lvl="1"/>
            <a:r>
              <a:rPr lang="en-US" altLang="en-US" sz="2400" dirty="0"/>
              <a:t>Metadata – data about data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0082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Databases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400" dirty="0">
                <a:solidFill>
                  <a:srgbClr val="C00000"/>
                </a:solidFill>
              </a:rPr>
              <a:t>Centralized</a:t>
            </a:r>
          </a:p>
          <a:p>
            <a:pPr lvl="2"/>
            <a:r>
              <a:rPr lang="en-US" altLang="en-US" sz="2000" dirty="0"/>
              <a:t>Supports one or more users at a time</a:t>
            </a:r>
          </a:p>
          <a:p>
            <a:pPr lvl="2"/>
            <a:r>
              <a:rPr lang="en-US" altLang="en-US" sz="2000" dirty="0"/>
              <a:t>Database is in one physical location </a:t>
            </a:r>
          </a:p>
          <a:p>
            <a:pPr lvl="2"/>
            <a:r>
              <a:rPr lang="en-US" altLang="en-US" sz="2000" dirty="0"/>
              <a:t>Database could be on a pc, a mid-range, or a main-frame</a:t>
            </a:r>
          </a:p>
          <a:p>
            <a:pPr lvl="1"/>
            <a:r>
              <a:rPr lang="en-US" altLang="en-US" sz="2400" dirty="0">
                <a:solidFill>
                  <a:srgbClr val="C00000"/>
                </a:solidFill>
              </a:rPr>
              <a:t>Distributed</a:t>
            </a:r>
            <a:r>
              <a:rPr lang="en-US" altLang="en-US" sz="2400" dirty="0"/>
              <a:t>:</a:t>
            </a:r>
          </a:p>
          <a:p>
            <a:pPr lvl="2"/>
            <a:r>
              <a:rPr lang="en-US" altLang="en-US" sz="2000" dirty="0"/>
              <a:t>Data is distributed at several physical locations</a:t>
            </a:r>
          </a:p>
          <a:p>
            <a:pPr lvl="2"/>
            <a:r>
              <a:rPr lang="en-US" altLang="en-US" sz="2000" dirty="0"/>
              <a:t>Database at each physical locations can vary (i.e. one location might have the database on a mid-range, one might have it on a pc) </a:t>
            </a:r>
            <a:endParaRPr lang="en-US" altLang="en-US" sz="2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86322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vs. File System</a:t>
            </a:r>
            <a:endParaRPr lang="en-CA" dirty="0"/>
          </a:p>
        </p:txBody>
      </p:sp>
      <p:pic>
        <p:nvPicPr>
          <p:cNvPr id="4" name="Picture 4" descr="Fig01-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611" y="1837113"/>
            <a:ext cx="6149975" cy="434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7753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Uses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i="1" dirty="0"/>
              <a:t>Production or Transaction</a:t>
            </a:r>
          </a:p>
          <a:p>
            <a:pPr lvl="1"/>
            <a:r>
              <a:rPr lang="en-US" altLang="en-US" sz="2400" dirty="0"/>
              <a:t>Supports day-to-day operations</a:t>
            </a:r>
          </a:p>
          <a:p>
            <a:r>
              <a:rPr lang="en-US" altLang="en-US" sz="2800" b="1" i="1" dirty="0"/>
              <a:t>Decision Support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sz="2400" dirty="0"/>
              <a:t>Information for tactical or strategic decision making</a:t>
            </a:r>
          </a:p>
          <a:p>
            <a:r>
              <a:rPr lang="en-US" altLang="en-US" sz="2800" b="1" i="1" dirty="0"/>
              <a:t>Data Warehouse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sz="2400" dirty="0"/>
              <a:t>Historical data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31656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Database Processing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Ability to get more information from the same amount of data</a:t>
            </a:r>
          </a:p>
          <a:p>
            <a:pPr lvl="1"/>
            <a:r>
              <a:rPr lang="en-US" altLang="en-US" sz="2400" dirty="0"/>
              <a:t>i.e. all customer related data is in one customer place</a:t>
            </a:r>
          </a:p>
          <a:p>
            <a:r>
              <a:rPr lang="en-US" altLang="en-US" sz="2800" dirty="0"/>
              <a:t>Sharing data</a:t>
            </a:r>
          </a:p>
          <a:p>
            <a:pPr lvl="1"/>
            <a:r>
              <a:rPr lang="en-US" altLang="en-US" sz="2400" dirty="0"/>
              <a:t>Data is available to be use by authorized users</a:t>
            </a:r>
          </a:p>
          <a:p>
            <a:r>
              <a:rPr lang="en-US" altLang="en-US" sz="2800" dirty="0"/>
              <a:t>Controlling Redundancy</a:t>
            </a:r>
          </a:p>
          <a:p>
            <a:pPr lvl="1"/>
            <a:r>
              <a:rPr lang="en-US" altLang="en-US" sz="2400" dirty="0"/>
              <a:t>Only a single copy of the data exists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26189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Advantages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Balancing</a:t>
            </a:r>
          </a:p>
          <a:p>
            <a:pPr lvl="1"/>
            <a:r>
              <a:rPr lang="en-US" altLang="en-US" sz="2400" dirty="0"/>
              <a:t>Databases are structured to benefit all users in the organization, not just a single group</a:t>
            </a:r>
          </a:p>
          <a:p>
            <a:r>
              <a:rPr lang="en-US" altLang="en-US" sz="2800" dirty="0"/>
              <a:t>Expanding security</a:t>
            </a:r>
          </a:p>
          <a:p>
            <a:pPr lvl="1"/>
            <a:r>
              <a:rPr lang="en-US" altLang="en-US" sz="2400" dirty="0"/>
              <a:t>Access to data can be password protected or can restrict access to data – read only, update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6980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Continued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Increasing Productivity</a:t>
            </a:r>
          </a:p>
          <a:p>
            <a:pPr lvl="1"/>
            <a:r>
              <a:rPr lang="en-US" altLang="en-US" sz="2400" dirty="0"/>
              <a:t>Ability to write ad hoc queries</a:t>
            </a:r>
          </a:p>
          <a:p>
            <a:pPr lvl="1"/>
            <a:r>
              <a:rPr lang="en-US" altLang="en-US" sz="2400" dirty="0"/>
              <a:t>Users don’t have to know exact structure of the data</a:t>
            </a:r>
          </a:p>
          <a:p>
            <a:r>
              <a:rPr lang="en-US" altLang="en-US" sz="2800" dirty="0"/>
              <a:t>Provides data independence</a:t>
            </a:r>
          </a:p>
          <a:p>
            <a:pPr lvl="1"/>
            <a:r>
              <a:rPr lang="en-US" altLang="en-US" sz="2400" dirty="0"/>
              <a:t>Can change the structure of the data without having to change the programs that access it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7027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Disadvantages of Database Processing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Large file size</a:t>
            </a:r>
          </a:p>
          <a:p>
            <a:pPr lvl="1"/>
            <a:r>
              <a:rPr lang="en-US" altLang="en-US" sz="2400" dirty="0"/>
              <a:t>Files now include metadata information</a:t>
            </a:r>
          </a:p>
          <a:p>
            <a:r>
              <a:rPr lang="en-US" altLang="en-US" sz="2800" dirty="0"/>
              <a:t>Increased complexity</a:t>
            </a:r>
          </a:p>
          <a:p>
            <a:pPr lvl="1"/>
            <a:r>
              <a:rPr lang="en-US" altLang="en-US" sz="2400" dirty="0"/>
              <a:t>Need to take into consideration data design, security, backup and recovery, integrity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2019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Disadvantages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Greater impact of failure</a:t>
            </a:r>
          </a:p>
          <a:p>
            <a:pPr lvl="1"/>
            <a:r>
              <a:rPr lang="en-US" altLang="en-US" sz="2400" dirty="0"/>
              <a:t>Data is now shared, if a failure occurs, many users are impacted</a:t>
            </a:r>
          </a:p>
          <a:p>
            <a:r>
              <a:rPr lang="en-US" altLang="en-US" sz="2800" dirty="0"/>
              <a:t>More difficult recovery</a:t>
            </a:r>
          </a:p>
          <a:p>
            <a:pPr lvl="1"/>
            <a:r>
              <a:rPr lang="en-US" altLang="en-US" sz="2400" dirty="0"/>
              <a:t>If data can be updated by many users at the same time, how can it be recovered to the correct state for all users correctly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1579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</a:p>
          <a:p>
            <a:r>
              <a:rPr lang="en-US" altLang="en-US" dirty="0"/>
              <a:t>File Systems</a:t>
            </a:r>
          </a:p>
          <a:p>
            <a:r>
              <a:rPr lang="en-US" altLang="en-US" dirty="0"/>
              <a:t>Database  </a:t>
            </a:r>
          </a:p>
          <a:p>
            <a:r>
              <a:rPr lang="en-US" altLang="en-US" dirty="0"/>
              <a:t>Database Management System</a:t>
            </a:r>
          </a:p>
          <a:p>
            <a:r>
              <a:rPr lang="en-US" altLang="en-US" dirty="0"/>
              <a:t>Database Design</a:t>
            </a:r>
          </a:p>
          <a:p>
            <a:endParaRPr lang="en-CA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633152" y="3653473"/>
            <a:ext cx="533400" cy="457200"/>
          </a:xfrm>
          <a:prstGeom prst="rightArrow">
            <a:avLst>
              <a:gd name="adj1" fmla="val 50000"/>
              <a:gd name="adj2" fmla="val 41665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868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Database Management System (DBMS)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Collection of programs that manages database structure and controls access to the database (and ultimately the data)</a:t>
            </a:r>
          </a:p>
          <a:p>
            <a:r>
              <a:rPr lang="en-US" altLang="en-US" sz="2000" dirty="0"/>
              <a:t>Manages sharing of data among multiple applications and users</a:t>
            </a:r>
          </a:p>
          <a:p>
            <a:r>
              <a:rPr lang="en-US" altLang="en-US" sz="2000" dirty="0"/>
              <a:t>Data is more consistent</a:t>
            </a:r>
          </a:p>
          <a:p>
            <a:r>
              <a:rPr lang="en-US" altLang="en-US" sz="2000" dirty="0"/>
              <a:t>Ability to do ad hoc querying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04434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Database Management System (DBMS)</a:t>
            </a:r>
            <a:endParaRPr lang="en-CA" sz="4000" dirty="0"/>
          </a:p>
        </p:txBody>
      </p:sp>
      <p:pic>
        <p:nvPicPr>
          <p:cNvPr id="4" name="Picture 4" descr="Fig01-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105" y="1961804"/>
            <a:ext cx="8064500" cy="4087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186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Importance of a DBMS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For Top Management</a:t>
            </a:r>
          </a:p>
          <a:p>
            <a:pPr lvl="1"/>
            <a:r>
              <a:rPr lang="en-US" altLang="en-US" sz="2400" dirty="0"/>
              <a:t>Provides information necessary for strategic decision making and planning</a:t>
            </a:r>
          </a:p>
          <a:p>
            <a:pPr lvl="1"/>
            <a:r>
              <a:rPr lang="en-US" altLang="en-US" sz="2400" dirty="0"/>
              <a:t>Provides access to external and internal data</a:t>
            </a:r>
          </a:p>
          <a:p>
            <a:pPr lvl="1"/>
            <a:r>
              <a:rPr lang="en-US" altLang="en-US" sz="2400" dirty="0"/>
              <a:t>Provides information on company performance and whether the company is achieving their goals (targets) or not</a:t>
            </a:r>
          </a:p>
          <a:p>
            <a:r>
              <a:rPr lang="en-US" altLang="en-US" sz="2800" dirty="0"/>
              <a:t>For Middle Management</a:t>
            </a:r>
          </a:p>
          <a:p>
            <a:pPr lvl="1"/>
            <a:r>
              <a:rPr lang="en-US" altLang="en-US" sz="2400" dirty="0"/>
              <a:t>Provides information necessary for tactical decision making planning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28313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Importance of a DBMS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For Operational Management</a:t>
            </a:r>
          </a:p>
          <a:p>
            <a:pPr lvl="1"/>
            <a:r>
              <a:rPr lang="en-US" altLang="en-US" sz="2400" dirty="0"/>
              <a:t>Provides timely information</a:t>
            </a:r>
          </a:p>
          <a:p>
            <a:pPr lvl="1"/>
            <a:r>
              <a:rPr lang="en-US" altLang="en-US" sz="2400" dirty="0"/>
              <a:t>Represents and supports the company operations as closely as possible (operational data)</a:t>
            </a:r>
          </a:p>
          <a:p>
            <a:r>
              <a:rPr lang="en-US" altLang="en-US" sz="2800" dirty="0"/>
              <a:t>For Other Users</a:t>
            </a:r>
          </a:p>
          <a:p>
            <a:pPr lvl="1"/>
            <a:r>
              <a:rPr lang="en-US" altLang="en-US" sz="2400" dirty="0"/>
              <a:t>Provides timely information  </a:t>
            </a:r>
          </a:p>
          <a:p>
            <a:pPr lvl="1"/>
            <a:r>
              <a:rPr lang="en-US" altLang="en-US" sz="2400" dirty="0"/>
              <a:t>Produces results within specified performance levels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4681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vs. Information</a:t>
            </a:r>
          </a:p>
          <a:p>
            <a:r>
              <a:rPr lang="en-US" altLang="en-US" dirty="0"/>
              <a:t>File Systems</a:t>
            </a:r>
          </a:p>
          <a:p>
            <a:r>
              <a:rPr lang="en-US" altLang="en-US" dirty="0"/>
              <a:t>Database  </a:t>
            </a:r>
          </a:p>
          <a:p>
            <a:r>
              <a:rPr lang="en-US" altLang="en-US" dirty="0"/>
              <a:t>Database Management System</a:t>
            </a:r>
          </a:p>
          <a:p>
            <a:r>
              <a:rPr lang="en-US" altLang="en-US" dirty="0"/>
              <a:t>Database Design</a:t>
            </a:r>
          </a:p>
          <a:p>
            <a:endParaRPr lang="en-CA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599902" y="3660285"/>
            <a:ext cx="533400" cy="457200"/>
          </a:xfrm>
          <a:prstGeom prst="rightArrow">
            <a:avLst>
              <a:gd name="adj1" fmla="val 50000"/>
              <a:gd name="adj2" fmla="val 41665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61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Design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Defines the database’s expected use</a:t>
            </a:r>
          </a:p>
          <a:p>
            <a:r>
              <a:rPr lang="en-US" altLang="en-US" sz="2000" dirty="0"/>
              <a:t>Avoids redundant data (unnecessarily duplicated)</a:t>
            </a:r>
          </a:p>
          <a:p>
            <a:r>
              <a:rPr lang="en-US" altLang="en-US" sz="2000" dirty="0"/>
              <a:t>Eliminates poorly designed databases </a:t>
            </a:r>
          </a:p>
          <a:p>
            <a:r>
              <a:rPr lang="en-US" altLang="en-US" sz="2000" dirty="0"/>
              <a:t>Done within a systems development life cycle (SDLC) framework</a:t>
            </a:r>
          </a:p>
          <a:p>
            <a:r>
              <a:rPr lang="en-US" altLang="en-US" sz="2000" dirty="0"/>
              <a:t>Database Design has it’s own framework, within the SDLC called the Database Life Cycle (DBLC)</a:t>
            </a:r>
          </a:p>
          <a:p>
            <a:pPr marL="0" indent="0">
              <a:buNone/>
            </a:pP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871672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Development Life Cycle</a:t>
            </a:r>
            <a:endParaRPr lang="en-CA" dirty="0"/>
          </a:p>
        </p:txBody>
      </p:sp>
      <p:pic>
        <p:nvPicPr>
          <p:cNvPr id="4" name="Picture 3" descr="The database lifecy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368" y="2156080"/>
            <a:ext cx="3816350" cy="333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166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Design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Different database design strategies exist: top-down, bottom-up, centralized and decentralized</a:t>
            </a:r>
          </a:p>
          <a:p>
            <a:r>
              <a:rPr lang="en-US" altLang="en-US" dirty="0"/>
              <a:t>The database topic will be covered in database design and </a:t>
            </a:r>
            <a:r>
              <a:rPr lang="en-US" altLang="en-US"/>
              <a:t>modeling lecture.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54161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12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FF00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</TotalTime>
  <Words>1138</Words>
  <Application>Microsoft Office PowerPoint</Application>
  <PresentationFormat>Widescreen</PresentationFormat>
  <Paragraphs>203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Century Schoolbook</vt:lpstr>
      <vt:lpstr>Wingdings 2</vt:lpstr>
      <vt:lpstr>View</vt:lpstr>
      <vt:lpstr>Introduction to  Database Management Systems</vt:lpstr>
      <vt:lpstr>Agenda</vt:lpstr>
      <vt:lpstr>Data vs. Information</vt:lpstr>
      <vt:lpstr>Agenda</vt:lpstr>
      <vt:lpstr>File Systems</vt:lpstr>
      <vt:lpstr>File Systems</vt:lpstr>
      <vt:lpstr>File Systems (Example)</vt:lpstr>
      <vt:lpstr>File Systems (Cont’d)</vt:lpstr>
      <vt:lpstr>Data Redundancy</vt:lpstr>
      <vt:lpstr>File Systems</vt:lpstr>
      <vt:lpstr>File Systems</vt:lpstr>
      <vt:lpstr>Data Anomalies</vt:lpstr>
      <vt:lpstr>Modification Anomaly</vt:lpstr>
      <vt:lpstr>Deletion Anomaly</vt:lpstr>
      <vt:lpstr>Insertion Anomaly</vt:lpstr>
      <vt:lpstr>Agenda</vt:lpstr>
      <vt:lpstr>Database</vt:lpstr>
      <vt:lpstr>Types of Databases</vt:lpstr>
      <vt:lpstr>Database vs. File System</vt:lpstr>
      <vt:lpstr>Database Uses</vt:lpstr>
      <vt:lpstr>Advantages of Database Processing</vt:lpstr>
      <vt:lpstr>More Advantages</vt:lpstr>
      <vt:lpstr>Advantages Continued</vt:lpstr>
      <vt:lpstr>Disadvantages of Database Processing</vt:lpstr>
      <vt:lpstr>More Disadvantages</vt:lpstr>
      <vt:lpstr>Agenda</vt:lpstr>
      <vt:lpstr>Database Management System (DBMS)</vt:lpstr>
      <vt:lpstr>Database Management System (DBMS)</vt:lpstr>
      <vt:lpstr>Importance of a DBMS</vt:lpstr>
      <vt:lpstr>Importance of a DBMS</vt:lpstr>
      <vt:lpstr>Agenda</vt:lpstr>
      <vt:lpstr>Database Design</vt:lpstr>
      <vt:lpstr>Database Development Life Cycle</vt:lpstr>
      <vt:lpstr>Database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Nasim</dc:creator>
  <cp:lastModifiedBy>Lydia Li</cp:lastModifiedBy>
  <cp:revision>135</cp:revision>
  <dcterms:created xsi:type="dcterms:W3CDTF">2019-07-08T16:55:16Z</dcterms:created>
  <dcterms:modified xsi:type="dcterms:W3CDTF">2024-01-11T17:39:27Z</dcterms:modified>
</cp:coreProperties>
</file>