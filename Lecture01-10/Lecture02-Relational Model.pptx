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319" r:id="rId12"/>
    <p:sldId id="313" r:id="rId13"/>
    <p:sldId id="314" r:id="rId14"/>
    <p:sldId id="315" r:id="rId15"/>
    <p:sldId id="320" r:id="rId16"/>
    <p:sldId id="299" r:id="rId17"/>
    <p:sldId id="317" r:id="rId18"/>
    <p:sldId id="318" r:id="rId19"/>
    <p:sldId id="323" r:id="rId20"/>
    <p:sldId id="322" r:id="rId21"/>
    <p:sldId id="31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dia Li" userId="ea0578a6-1f9b-4b91-a2cb-da76beaf9494" providerId="ADAL" clId="{6C2A2354-7F17-4A65-9FE4-189F05915A81}"/>
    <pc:docChg chg="modSld">
      <pc:chgData name="Lydia Li" userId="ea0578a6-1f9b-4b91-a2cb-da76beaf9494" providerId="ADAL" clId="{6C2A2354-7F17-4A65-9FE4-189F05915A81}" dt="2023-09-12T20:22:57.687" v="33" actId="1076"/>
      <pc:docMkLst>
        <pc:docMk/>
      </pc:docMkLst>
      <pc:sldChg chg="modSp mod">
        <pc:chgData name="Lydia Li" userId="ea0578a6-1f9b-4b91-a2cb-da76beaf9494" providerId="ADAL" clId="{6C2A2354-7F17-4A65-9FE4-189F05915A81}" dt="2023-09-12T20:20:34.515" v="32" actId="1076"/>
        <pc:sldMkLst>
          <pc:docMk/>
          <pc:sldMk cId="801963927" sldId="316"/>
        </pc:sldMkLst>
        <pc:picChg chg="mod">
          <ac:chgData name="Lydia Li" userId="ea0578a6-1f9b-4b91-a2cb-da76beaf9494" providerId="ADAL" clId="{6C2A2354-7F17-4A65-9FE4-189F05915A81}" dt="2023-09-12T20:14:47.559" v="31" actId="1076"/>
          <ac:picMkLst>
            <pc:docMk/>
            <pc:sldMk cId="801963927" sldId="316"/>
            <ac:picMk id="4" creationId="{00000000-0000-0000-0000-000000000000}"/>
          </ac:picMkLst>
        </pc:picChg>
        <pc:picChg chg="mod">
          <ac:chgData name="Lydia Li" userId="ea0578a6-1f9b-4b91-a2cb-da76beaf9494" providerId="ADAL" clId="{6C2A2354-7F17-4A65-9FE4-189F05915A81}" dt="2023-09-12T20:11:53.729" v="29" actId="1076"/>
          <ac:picMkLst>
            <pc:docMk/>
            <pc:sldMk cId="801963927" sldId="316"/>
            <ac:picMk id="6" creationId="{00000000-0000-0000-0000-000000000000}"/>
          </ac:picMkLst>
        </pc:picChg>
        <pc:cxnChg chg="mod">
          <ac:chgData name="Lydia Li" userId="ea0578a6-1f9b-4b91-a2cb-da76beaf9494" providerId="ADAL" clId="{6C2A2354-7F17-4A65-9FE4-189F05915A81}" dt="2023-09-12T20:20:34.515" v="32" actId="1076"/>
          <ac:cxnSpMkLst>
            <pc:docMk/>
            <pc:sldMk cId="801963927" sldId="316"/>
            <ac:cxnSpMk id="9" creationId="{00000000-0000-0000-0000-000000000000}"/>
          </ac:cxnSpMkLst>
        </pc:cxnChg>
      </pc:sldChg>
      <pc:sldChg chg="modSp mod">
        <pc:chgData name="Lydia Li" userId="ea0578a6-1f9b-4b91-a2cb-da76beaf9494" providerId="ADAL" clId="{6C2A2354-7F17-4A65-9FE4-189F05915A81}" dt="2023-09-12T20:22:57.687" v="33" actId="1076"/>
        <pc:sldMkLst>
          <pc:docMk/>
          <pc:sldMk cId="3392936812" sldId="318"/>
        </pc:sldMkLst>
        <pc:spChg chg="mod">
          <ac:chgData name="Lydia Li" userId="ea0578a6-1f9b-4b91-a2cb-da76beaf9494" providerId="ADAL" clId="{6C2A2354-7F17-4A65-9FE4-189F05915A81}" dt="2023-09-12T20:22:57.687" v="33" actId="1076"/>
          <ac:spMkLst>
            <pc:docMk/>
            <pc:sldMk cId="3392936812" sldId="318"/>
            <ac:spMk id="10" creationId="{00000000-0000-0000-0000-000000000000}"/>
          </ac:spMkLst>
        </pc:spChg>
        <pc:spChg chg="mod">
          <ac:chgData name="Lydia Li" userId="ea0578a6-1f9b-4b91-a2cb-da76beaf9494" providerId="ADAL" clId="{6C2A2354-7F17-4A65-9FE4-189F05915A81}" dt="2023-09-12T18:40:41.837" v="23" actId="20577"/>
          <ac:spMkLst>
            <pc:docMk/>
            <pc:sldMk cId="3392936812" sldId="318"/>
            <ac:spMk id="11" creationId="{00000000-0000-0000-0000-000000000000}"/>
          </ac:spMkLst>
        </pc:spChg>
      </pc:sldChg>
    </pc:docChg>
  </pc:docChgLst>
  <pc:docChgLst>
    <pc:chgData name="Lydia Li" userId="ea0578a6-1f9b-4b91-a2cb-da76beaf9494" providerId="ADAL" clId="{8F9814E7-132C-489B-9F20-623E8113DFB0}"/>
    <pc:docChg chg="modSld">
      <pc:chgData name="Lydia Li" userId="ea0578a6-1f9b-4b91-a2cb-da76beaf9494" providerId="ADAL" clId="{8F9814E7-132C-489B-9F20-623E8113DFB0}" dt="2023-05-17T18:08:30.086" v="4" actId="14100"/>
      <pc:docMkLst>
        <pc:docMk/>
      </pc:docMkLst>
      <pc:sldChg chg="modSp mod">
        <pc:chgData name="Lydia Li" userId="ea0578a6-1f9b-4b91-a2cb-da76beaf9494" providerId="ADAL" clId="{8F9814E7-132C-489B-9F20-623E8113DFB0}" dt="2023-05-17T18:08:30.086" v="4" actId="14100"/>
        <pc:sldMkLst>
          <pc:docMk/>
          <pc:sldMk cId="801963927" sldId="316"/>
        </pc:sldMkLst>
        <pc:picChg chg="mod">
          <ac:chgData name="Lydia Li" userId="ea0578a6-1f9b-4b91-a2cb-da76beaf9494" providerId="ADAL" clId="{8F9814E7-132C-489B-9F20-623E8113DFB0}" dt="2023-05-17T18:08:30.086" v="4" actId="14100"/>
          <ac:picMkLst>
            <pc:docMk/>
            <pc:sldMk cId="801963927" sldId="316"/>
            <ac:picMk id="4" creationId="{00000000-0000-0000-0000-000000000000}"/>
          </ac:picMkLst>
        </pc:picChg>
        <pc:picChg chg="mod">
          <ac:chgData name="Lydia Li" userId="ea0578a6-1f9b-4b91-a2cb-da76beaf9494" providerId="ADAL" clId="{8F9814E7-132C-489B-9F20-623E8113DFB0}" dt="2023-05-17T18:08:00.120" v="1" actId="14100"/>
          <ac:picMkLst>
            <pc:docMk/>
            <pc:sldMk cId="801963927" sldId="316"/>
            <ac:picMk id="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8C806B3-D79A-4E76-A2D8-F9ADBAFB48B1}" type="datetimeFigureOut">
              <a:rPr lang="en-CA" smtClean="0"/>
              <a:t>2023-09-12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0054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2023-09-12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738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2023-09-12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887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2023-09-12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5459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2023-09-12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007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2023-09-12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239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2023-09-12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985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2023-09-12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131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2023-09-12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0623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2023-09-12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666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06B3-D79A-4E76-A2D8-F9ADBAFB48B1}" type="datetimeFigureOut">
              <a:rPr lang="en-CA" smtClean="0"/>
              <a:t>2023-09-12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4187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8C806B3-D79A-4E76-A2D8-F9ADBAFB48B1}" type="datetimeFigureOut">
              <a:rPr lang="en-CA" smtClean="0"/>
              <a:t>2023-09-12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DBC746D-FDA8-4E70-97A5-9AC447FED4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866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CA" dirty="0"/>
              <a:t>Relational Data Model</a:t>
            </a:r>
            <a:br>
              <a:rPr lang="en-CA" dirty="0"/>
            </a:b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Lecture 02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6374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Database Properties :</a:t>
            </a:r>
          </a:p>
          <a:p>
            <a:pPr lvl="1"/>
            <a:r>
              <a:rPr lang="en-US" sz="2800" dirty="0"/>
              <a:t>Centralized repository </a:t>
            </a:r>
          </a:p>
          <a:p>
            <a:pPr lvl="1"/>
            <a:r>
              <a:rPr lang="en-US" sz="2800" dirty="0"/>
              <a:t>Real-time </a:t>
            </a:r>
          </a:p>
          <a:p>
            <a:pPr lvl="1"/>
            <a:r>
              <a:rPr lang="en-US" sz="2800" dirty="0"/>
              <a:t>Concurrent </a:t>
            </a:r>
          </a:p>
          <a:p>
            <a:pPr lvl="1"/>
            <a:r>
              <a:rPr lang="en-US" sz="2800" dirty="0"/>
              <a:t>Interactive (ad-hoc) query</a:t>
            </a:r>
          </a:p>
        </p:txBody>
      </p:sp>
    </p:spTree>
    <p:extLst>
      <p:ext uri="{BB962C8B-B14F-4D97-AF65-F5344CB8AC3E}">
        <p14:creationId xmlns:p14="http://schemas.microsoft.com/office/powerpoint/2010/main" val="56476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DBMSs?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Some of the advantages of Database Management systems:</a:t>
            </a:r>
          </a:p>
          <a:p>
            <a:pPr lvl="1"/>
            <a:r>
              <a:rPr lang="en-US" sz="2200" dirty="0"/>
              <a:t>Data administration </a:t>
            </a:r>
          </a:p>
          <a:p>
            <a:pPr lvl="1"/>
            <a:r>
              <a:rPr lang="en-US" sz="2200" dirty="0"/>
              <a:t>Efficient data access  </a:t>
            </a:r>
          </a:p>
          <a:p>
            <a:pPr lvl="1"/>
            <a:r>
              <a:rPr lang="en-US" sz="2200" dirty="0"/>
              <a:t>Data integrity &amp; security </a:t>
            </a:r>
          </a:p>
          <a:p>
            <a:pPr lvl="1"/>
            <a:r>
              <a:rPr lang="en-US" sz="2200" dirty="0"/>
              <a:t>Concurrent access, crash recovery </a:t>
            </a:r>
            <a:endParaRPr lang="en-CA" sz="2200" dirty="0"/>
          </a:p>
        </p:txBody>
      </p:sp>
    </p:spTree>
    <p:extLst>
      <p:ext uri="{BB962C8B-B14F-4D97-AF65-F5344CB8AC3E}">
        <p14:creationId xmlns:p14="http://schemas.microsoft.com/office/powerpoint/2010/main" val="1504131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Data Models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Data modeling simply is a method of describing data or information. </a:t>
            </a:r>
          </a:p>
          <a:p>
            <a:r>
              <a:rPr lang="en-US" sz="2000" dirty="0"/>
              <a:t>It includes:</a:t>
            </a:r>
          </a:p>
          <a:p>
            <a:pPr lvl="1"/>
            <a:r>
              <a:rPr lang="en-US" sz="1800" dirty="0"/>
              <a:t>Structure</a:t>
            </a:r>
            <a:r>
              <a:rPr lang="en-US" dirty="0"/>
              <a:t> of data</a:t>
            </a:r>
          </a:p>
          <a:p>
            <a:pPr lvl="2"/>
            <a:r>
              <a:rPr lang="en-US" dirty="0"/>
              <a:t>In what format data is stored</a:t>
            </a:r>
          </a:p>
          <a:p>
            <a:pPr lvl="1"/>
            <a:r>
              <a:rPr lang="en-US" sz="1800" dirty="0"/>
              <a:t>Operations on Data</a:t>
            </a:r>
          </a:p>
          <a:p>
            <a:pPr lvl="2"/>
            <a:r>
              <a:rPr lang="en-US" dirty="0"/>
              <a:t>Selection</a:t>
            </a:r>
          </a:p>
          <a:p>
            <a:pPr lvl="3"/>
            <a:r>
              <a:rPr lang="en-US" dirty="0"/>
              <a:t>Set of queries to fetch the data</a:t>
            </a:r>
          </a:p>
          <a:p>
            <a:pPr lvl="2"/>
            <a:r>
              <a:rPr lang="en-US" dirty="0"/>
              <a:t>Modification</a:t>
            </a:r>
          </a:p>
          <a:p>
            <a:pPr lvl="3"/>
            <a:r>
              <a:rPr lang="en-US" dirty="0"/>
              <a:t>Operations to modify the database and the data</a:t>
            </a:r>
          </a:p>
          <a:p>
            <a:pPr lvl="1"/>
            <a:r>
              <a:rPr lang="en-US" sz="1800" dirty="0"/>
              <a:t>Constraints</a:t>
            </a:r>
          </a:p>
          <a:p>
            <a:pPr lvl="2"/>
            <a:r>
              <a:rPr lang="en-US" dirty="0"/>
              <a:t>It defines what data can be stored in the database by enforcing rules and limitations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35089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Relational Data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It provides both </a:t>
            </a:r>
            <a:br>
              <a:rPr lang="en-US" sz="2400" dirty="0"/>
            </a:br>
            <a:endParaRPr lang="en-US" sz="2400" dirty="0"/>
          </a:p>
          <a:p>
            <a:pPr lvl="1"/>
            <a:r>
              <a:rPr lang="en-US" sz="2200" dirty="0"/>
              <a:t>Efficient data access</a:t>
            </a:r>
          </a:p>
          <a:p>
            <a:pPr lvl="2"/>
            <a:r>
              <a:rPr lang="en-US" sz="2000" dirty="0"/>
              <a:t>By structuring data</a:t>
            </a:r>
            <a:br>
              <a:rPr lang="en-US" sz="2000" dirty="0"/>
            </a:br>
            <a:endParaRPr lang="en-US" sz="2000" dirty="0"/>
          </a:p>
          <a:p>
            <a:pPr lvl="1"/>
            <a:r>
              <a:rPr lang="en-US" sz="2200" dirty="0"/>
              <a:t>Efficient data manipulation </a:t>
            </a:r>
          </a:p>
          <a:p>
            <a:pPr lvl="2"/>
            <a:r>
              <a:rPr lang="en-US" sz="2000" dirty="0"/>
              <a:t>By providing set of operations </a:t>
            </a:r>
          </a:p>
          <a:p>
            <a:pPr marL="0" indent="0">
              <a:buNone/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374743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Relational Data Model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relational model represents data as a two dimensional.</a:t>
            </a:r>
          </a:p>
          <a:p>
            <a:r>
              <a:rPr lang="en-US" sz="2000" dirty="0"/>
              <a:t>In the relational model, a table is also called a </a:t>
            </a:r>
            <a:r>
              <a:rPr lang="en-US" sz="2000" b="1" i="1" dirty="0"/>
              <a:t>relation</a:t>
            </a:r>
            <a:r>
              <a:rPr lang="en-US" sz="2000" dirty="0"/>
              <a:t>.</a:t>
            </a:r>
          </a:p>
          <a:p>
            <a:r>
              <a:rPr lang="en-US" sz="2000" dirty="0"/>
              <a:t>In the following table</a:t>
            </a:r>
          </a:p>
          <a:p>
            <a:pPr lvl="1"/>
            <a:r>
              <a:rPr lang="en-US" sz="1800" dirty="0"/>
              <a:t>Every row represent a department.</a:t>
            </a:r>
          </a:p>
          <a:p>
            <a:pPr lvl="1"/>
            <a:r>
              <a:rPr lang="en-US" sz="1800" dirty="0"/>
              <a:t>Every column in a row, represent an attribute of that department. </a:t>
            </a:r>
            <a:endParaRPr lang="en-CA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369" y="4004468"/>
            <a:ext cx="4964365" cy="22520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77369" y="6317615"/>
            <a:ext cx="151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11049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Columns in a table (relation) are called attributes.</a:t>
            </a:r>
          </a:p>
          <a:p>
            <a:r>
              <a:rPr lang="en-US" sz="2000" dirty="0"/>
              <a:t>In the following table (department), the attributes are:</a:t>
            </a:r>
          </a:p>
          <a:p>
            <a:pPr lvl="1"/>
            <a:r>
              <a:rPr lang="en-US" sz="1800" dirty="0" err="1"/>
              <a:t>Department_id</a:t>
            </a:r>
            <a:endParaRPr lang="en-US" sz="1800" dirty="0"/>
          </a:p>
          <a:p>
            <a:pPr lvl="1"/>
            <a:r>
              <a:rPr lang="en-US" sz="1800" dirty="0" err="1"/>
              <a:t>Department_name</a:t>
            </a:r>
            <a:endParaRPr lang="en-US" sz="1800" dirty="0"/>
          </a:p>
          <a:p>
            <a:pPr lvl="1"/>
            <a:r>
              <a:rPr lang="en-US" sz="1800" dirty="0" err="1"/>
              <a:t>Manager_id</a:t>
            </a:r>
            <a:endParaRPr lang="en-US" sz="1800" dirty="0"/>
          </a:p>
          <a:p>
            <a:pPr lvl="1"/>
            <a:r>
              <a:rPr lang="en-US" sz="1800" dirty="0" err="1"/>
              <a:t>Location_id</a:t>
            </a:r>
            <a:endParaRPr lang="en-US" sz="1800" dirty="0"/>
          </a:p>
          <a:p>
            <a:pPr marL="274320" lvl="1" indent="0">
              <a:buNone/>
            </a:pPr>
            <a:endParaRPr lang="en-US" sz="1800" dirty="0"/>
          </a:p>
          <a:p>
            <a:pPr lvl="1"/>
            <a:endParaRPr lang="en-CA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369" y="4065610"/>
            <a:ext cx="4964365" cy="22520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94703" y="3696278"/>
            <a:ext cx="151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39824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schema represent the name of a relation and its attributes.</a:t>
            </a:r>
          </a:p>
          <a:p>
            <a:pPr marL="0" indent="0">
              <a:buNone/>
            </a:pPr>
            <a:r>
              <a:rPr lang="en-US" sz="1800" b="1" dirty="0"/>
              <a:t>DEPARTMENT</a:t>
            </a:r>
            <a:r>
              <a:rPr lang="en-US" sz="1800" dirty="0"/>
              <a:t>(</a:t>
            </a:r>
            <a:r>
              <a:rPr lang="en-US" sz="1800" dirty="0" err="1"/>
              <a:t>department_id,department_name</a:t>
            </a:r>
            <a:r>
              <a:rPr lang="en-US" sz="1800" dirty="0"/>
              <a:t>, </a:t>
            </a:r>
            <a:r>
              <a:rPr lang="en-US" sz="1800" dirty="0" err="1"/>
              <a:t>manager_id,Location_id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A relational database consists of a set of relations(tables). </a:t>
            </a:r>
          </a:p>
          <a:p>
            <a:r>
              <a:rPr lang="en-US" sz="2400" dirty="0"/>
              <a:t>A relational database schema is a set of schemas of database relations. </a:t>
            </a:r>
          </a:p>
        </p:txBody>
      </p:sp>
    </p:spTree>
    <p:extLst>
      <p:ext uri="{BB962C8B-B14F-4D97-AF65-F5344CB8AC3E}">
        <p14:creationId xmlns:p14="http://schemas.microsoft.com/office/powerpoint/2010/main" val="948012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a relation (table), a row (record) is called a tuple.  </a:t>
            </a:r>
          </a:p>
          <a:p>
            <a:r>
              <a:rPr lang="en-US" sz="2400" dirty="0"/>
              <a:t>The following relation (department) has 8 tuples.</a:t>
            </a:r>
          </a:p>
          <a:p>
            <a:r>
              <a:rPr lang="en-US" sz="2400" dirty="0"/>
              <a:t>The value of each attribute in a tuple represents a component.  </a:t>
            </a:r>
            <a:endParaRPr lang="en-CA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369" y="4139176"/>
            <a:ext cx="4964365" cy="22520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77369" y="3701105"/>
            <a:ext cx="151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37568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 a relational model, each components of a tuple must be atomic. Each component is allowed to be a single value of primitive types (integer, character, character string).</a:t>
            </a:r>
          </a:p>
          <a:p>
            <a:r>
              <a:rPr lang="en-US" sz="2000" dirty="0"/>
              <a:t>The domain of an attribute (column) is simply the data type of that attribute.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CA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819807" y="3909849"/>
            <a:ext cx="1042626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               DEPARTMENT</a:t>
            </a:r>
            <a:r>
              <a:rPr lang="en-US" sz="1600" dirty="0"/>
              <a:t>(</a:t>
            </a:r>
            <a:r>
              <a:rPr lang="en-US" sz="1600" dirty="0" err="1"/>
              <a:t>department_id,department_name</a:t>
            </a:r>
            <a:r>
              <a:rPr lang="en-US" sz="1600" dirty="0"/>
              <a:t>, </a:t>
            </a:r>
            <a:r>
              <a:rPr lang="en-US" sz="1600" dirty="0" err="1"/>
              <a:t>manager_id</a:t>
            </a:r>
            <a:r>
              <a:rPr lang="en-US" sz="1600" dirty="0"/>
              <a:t> ,</a:t>
            </a:r>
            <a:r>
              <a:rPr lang="en-US" sz="1600" dirty="0" err="1"/>
              <a:t>Location_id</a:t>
            </a:r>
            <a:r>
              <a:rPr lang="en-US" sz="1600" dirty="0"/>
              <a:t>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00553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Default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2288" lvl="1" indent="-342900">
              <a:spcBef>
                <a:spcPct val="30000"/>
              </a:spcBef>
              <a:defRPr/>
            </a:pPr>
            <a:r>
              <a:rPr lang="en-US" sz="2800" dirty="0"/>
              <a:t>You can specify a default value for a column. </a:t>
            </a:r>
          </a:p>
          <a:p>
            <a:pPr marL="522288" lvl="1" indent="-342900">
              <a:spcBef>
                <a:spcPct val="30000"/>
              </a:spcBef>
              <a:defRPr/>
            </a:pPr>
            <a:r>
              <a:rPr lang="en-US" sz="2800" dirty="0"/>
              <a:t>A default value is the value to be inserted into a column if no other value is specified. </a:t>
            </a:r>
          </a:p>
          <a:p>
            <a:pPr marL="522288" lvl="1" indent="-342900">
              <a:spcBef>
                <a:spcPct val="30000"/>
              </a:spcBef>
              <a:defRPr/>
            </a:pPr>
            <a:r>
              <a:rPr lang="en-US" sz="2800" dirty="0"/>
              <a:t>If not explicitly specified, the default value of a column is NULL.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612023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Null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Null denotes the absent of a value.</a:t>
            </a:r>
          </a:p>
          <a:p>
            <a:r>
              <a:rPr lang="en-CA" dirty="0"/>
              <a:t>The value of an attribute is null if </a:t>
            </a:r>
          </a:p>
          <a:p>
            <a:pPr lvl="1"/>
            <a:r>
              <a:rPr lang="en-CA" dirty="0"/>
              <a:t>It is unknown</a:t>
            </a:r>
          </a:p>
          <a:p>
            <a:pPr lvl="1"/>
            <a:r>
              <a:rPr lang="en-CA" dirty="0"/>
              <a:t>It does not exist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73255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Integrity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Integrity constraints are a set of rules to maintain the quality.  </a:t>
            </a:r>
          </a:p>
          <a:p>
            <a:pPr lvl="1"/>
            <a:r>
              <a:rPr lang="en-CA" dirty="0"/>
              <a:t>Domain/tuple constraints</a:t>
            </a:r>
          </a:p>
          <a:p>
            <a:pPr lvl="1"/>
            <a:r>
              <a:rPr lang="en-CA" dirty="0"/>
              <a:t>Entity integrity constraints</a:t>
            </a:r>
          </a:p>
          <a:p>
            <a:pPr lvl="1"/>
            <a:r>
              <a:rPr lang="en-CA" dirty="0"/>
              <a:t>Key constraints</a:t>
            </a:r>
          </a:p>
          <a:p>
            <a:pPr lvl="1"/>
            <a:r>
              <a:rPr lang="en-CA" dirty="0"/>
              <a:t>Referential integrity constraints</a:t>
            </a:r>
          </a:p>
          <a:p>
            <a:pPr lvl="1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89610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Domain Integrity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 restrict the values of tuple attributes in a database relation. </a:t>
            </a:r>
          </a:p>
          <a:p>
            <a:r>
              <a:rPr lang="en-CA" dirty="0"/>
              <a:t>Domain constraints</a:t>
            </a:r>
          </a:p>
          <a:p>
            <a:pPr lvl="1"/>
            <a:r>
              <a:rPr lang="en-CA" dirty="0"/>
              <a:t>Define conditions on a single attribute of a tuple</a:t>
            </a:r>
          </a:p>
          <a:p>
            <a:pPr marL="274320" lvl="1" indent="0">
              <a:buNone/>
            </a:pPr>
            <a:r>
              <a:rPr lang="en-CA" dirty="0"/>
              <a:t>	</a:t>
            </a:r>
            <a:r>
              <a:rPr lang="en-CA" dirty="0" err="1"/>
              <a:t>department_id</a:t>
            </a:r>
            <a:r>
              <a:rPr lang="en-CA" dirty="0"/>
              <a:t> = 60</a:t>
            </a:r>
          </a:p>
          <a:p>
            <a:pPr marL="274320" lvl="1" indent="0">
              <a:buNone/>
            </a:pPr>
            <a:endParaRPr lang="en-CA" dirty="0"/>
          </a:p>
          <a:p>
            <a:r>
              <a:rPr lang="en-CA" dirty="0"/>
              <a:t>Tuple constraints</a:t>
            </a:r>
          </a:p>
          <a:p>
            <a:pPr lvl="1"/>
            <a:r>
              <a:rPr lang="en-CA" dirty="0"/>
              <a:t>Define conditions on different attributes of a tuple</a:t>
            </a:r>
          </a:p>
          <a:p>
            <a:pPr marL="274320" lvl="1" indent="0">
              <a:buNone/>
            </a:pPr>
            <a:r>
              <a:rPr lang="en-CA" dirty="0"/>
              <a:t>	</a:t>
            </a:r>
            <a:r>
              <a:rPr lang="en-CA" dirty="0" err="1"/>
              <a:t>department_id</a:t>
            </a:r>
            <a:r>
              <a:rPr lang="en-CA" dirty="0"/>
              <a:t> = 60 and </a:t>
            </a:r>
            <a:r>
              <a:rPr lang="en-CA" dirty="0" err="1"/>
              <a:t>location_id</a:t>
            </a:r>
            <a:r>
              <a:rPr lang="en-CA" dirty="0"/>
              <a:t>  =1700 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6241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Constraints are used to ensure that the database receives “good” data</a:t>
            </a:r>
          </a:p>
          <a:p>
            <a:pPr lvl="1"/>
            <a:r>
              <a:rPr lang="en-US" altLang="en-US" sz="2600" dirty="0"/>
              <a:t>PRIMARY KEY</a:t>
            </a:r>
          </a:p>
          <a:p>
            <a:pPr lvl="2"/>
            <a:r>
              <a:rPr lang="en-US" altLang="en-US" sz="2600" dirty="0"/>
              <a:t>unique and not null</a:t>
            </a:r>
          </a:p>
          <a:p>
            <a:pPr lvl="1"/>
            <a:r>
              <a:rPr lang="en-US" altLang="en-US" sz="2600" dirty="0"/>
              <a:t>NOT NULL </a:t>
            </a:r>
            <a:endParaRPr lang="en-US" altLang="en-US" sz="2600" dirty="0">
              <a:sym typeface="Wingdings" pitchFamily="2" charset="2"/>
            </a:endParaRPr>
          </a:p>
          <a:p>
            <a:pPr lvl="2"/>
            <a:r>
              <a:rPr lang="en-US" altLang="en-US" sz="2600" dirty="0">
                <a:sym typeface="Wingdings" pitchFamily="2" charset="2"/>
              </a:rPr>
              <a:t>a value must exist</a:t>
            </a:r>
          </a:p>
          <a:p>
            <a:pPr lvl="1"/>
            <a:r>
              <a:rPr lang="en-US" altLang="en-US" sz="2600" dirty="0">
                <a:sym typeface="Wingdings" pitchFamily="2" charset="2"/>
              </a:rPr>
              <a:t>UNIQUE</a:t>
            </a:r>
          </a:p>
          <a:p>
            <a:pPr lvl="2"/>
            <a:r>
              <a:rPr lang="en-US" altLang="en-US" sz="2600" dirty="0">
                <a:sym typeface="Wingdings" pitchFamily="2" charset="2"/>
              </a:rPr>
              <a:t>value exists only once in a column</a:t>
            </a:r>
          </a:p>
          <a:p>
            <a:pPr lvl="1"/>
            <a:r>
              <a:rPr lang="en-US" altLang="en-US" sz="2600" dirty="0">
                <a:sym typeface="Wingdings" pitchFamily="2" charset="2"/>
              </a:rPr>
              <a:t>CHECK</a:t>
            </a:r>
          </a:p>
          <a:p>
            <a:pPr lvl="2"/>
            <a:r>
              <a:rPr lang="en-US" altLang="en-US" sz="2200" dirty="0">
                <a:sym typeface="Wingdings" pitchFamily="2" charset="2"/>
              </a:rPr>
              <a:t>value must pass validation criteria</a:t>
            </a:r>
          </a:p>
          <a:p>
            <a:pPr lvl="1">
              <a:spcBef>
                <a:spcPct val="0"/>
              </a:spcBef>
              <a:defRPr/>
            </a:pPr>
            <a:r>
              <a:rPr lang="en-US" altLang="en-US" sz="2600" dirty="0">
                <a:sym typeface="Wingdings" pitchFamily="2" charset="2"/>
              </a:rPr>
              <a:t>FOREIGN KEY</a:t>
            </a:r>
          </a:p>
          <a:p>
            <a:pPr lvl="2">
              <a:spcBef>
                <a:spcPct val="0"/>
              </a:spcBef>
              <a:defRPr/>
            </a:pPr>
            <a:r>
              <a:rPr lang="en-US" altLang="en-US" sz="2200" dirty="0">
                <a:sym typeface="Wingdings" pitchFamily="2" charset="2"/>
              </a:rPr>
              <a:t>used to enforce Relational Integrity between two tables</a:t>
            </a:r>
            <a:endParaRPr lang="en-US" altLang="en-US" sz="22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62495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chemeClr val="accent1"/>
                </a:solidFill>
              </a:rPr>
              <a:t>Primary Key Constraint</a:t>
            </a:r>
            <a:endParaRPr lang="en-CA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 primary key, in a relation(table), identifies every tuple(row) uniquely.</a:t>
            </a:r>
            <a:endParaRPr lang="en-CA" sz="2000" dirty="0"/>
          </a:p>
          <a:p>
            <a:pPr lvl="1"/>
            <a:r>
              <a:rPr lang="en-US" sz="1800" dirty="0"/>
              <a:t>A primary  key can be a single attribute or a set of attributes.</a:t>
            </a:r>
          </a:p>
          <a:p>
            <a:r>
              <a:rPr lang="en-US" sz="2000" dirty="0"/>
              <a:t>In a multi-attribute primary key, the combinations of key attributes must be unique for each row in the table. </a:t>
            </a:r>
          </a:p>
          <a:p>
            <a:pPr lvl="1"/>
            <a:r>
              <a:rPr lang="en-US" sz="1800" dirty="0"/>
              <a:t>In table department, the key is </a:t>
            </a:r>
            <a:r>
              <a:rPr lang="en-US" sz="1800" dirty="0" err="1"/>
              <a:t>department_id</a:t>
            </a:r>
            <a:r>
              <a:rPr lang="en-US" sz="1800" dirty="0"/>
              <a:t> which is unique for every row.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sz="2000" dirty="0"/>
              <a:t>To represent primary key in a table, key attributes are underlined.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061" y="4046823"/>
            <a:ext cx="1042626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</a:rPr>
              <a:t>           DEPARTMENT</a:t>
            </a:r>
            <a:r>
              <a:rPr lang="en-US" sz="1600" dirty="0">
                <a:solidFill>
                  <a:srgbClr val="002060"/>
                </a:solidFill>
              </a:rPr>
              <a:t>(</a:t>
            </a:r>
            <a:r>
              <a:rPr lang="en-US" sz="1600" u="sng" dirty="0" err="1">
                <a:solidFill>
                  <a:srgbClr val="002060"/>
                </a:solidFill>
              </a:rPr>
              <a:t>department_id</a:t>
            </a:r>
            <a:r>
              <a:rPr lang="en-US" sz="1600" dirty="0">
                <a:solidFill>
                  <a:srgbClr val="002060"/>
                </a:solidFill>
              </a:rPr>
              <a:t>, </a:t>
            </a:r>
            <a:r>
              <a:rPr lang="en-US" sz="1600" dirty="0" err="1">
                <a:solidFill>
                  <a:srgbClr val="002060"/>
                </a:solidFill>
              </a:rPr>
              <a:t>department_name</a:t>
            </a:r>
            <a:r>
              <a:rPr lang="en-US" sz="1600" dirty="0">
                <a:solidFill>
                  <a:srgbClr val="002060"/>
                </a:solidFill>
              </a:rPr>
              <a:t>, </a:t>
            </a:r>
            <a:r>
              <a:rPr lang="en-US" sz="1600" dirty="0" err="1">
                <a:solidFill>
                  <a:srgbClr val="002060"/>
                </a:solidFill>
              </a:rPr>
              <a:t>manager_id</a:t>
            </a:r>
            <a:r>
              <a:rPr lang="en-US" sz="1600" dirty="0">
                <a:solidFill>
                  <a:srgbClr val="002060"/>
                </a:solidFill>
              </a:rPr>
              <a:t>, </a:t>
            </a:r>
            <a:r>
              <a:rPr lang="en-US" sz="1600" dirty="0" err="1">
                <a:solidFill>
                  <a:srgbClr val="002060"/>
                </a:solidFill>
              </a:rPr>
              <a:t>Location_id</a:t>
            </a:r>
            <a:r>
              <a:rPr lang="en-US" sz="1600" dirty="0">
                <a:solidFill>
                  <a:srgbClr val="002060"/>
                </a:solidFill>
              </a:rPr>
              <a:t>)</a:t>
            </a:r>
          </a:p>
          <a:p>
            <a:endParaRPr lang="en-CA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735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Entity Integrity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constraint ensures that each table has a primary key.</a:t>
            </a:r>
          </a:p>
          <a:p>
            <a:r>
              <a:rPr lang="en-CA" dirty="0"/>
              <a:t>A primary key is an attribute or set of attributes that uniquely identifies every row in a table.</a:t>
            </a:r>
          </a:p>
          <a:p>
            <a:r>
              <a:rPr lang="en-CA" dirty="0"/>
              <a:t>The values of the attributes involved in the primary key cannot be null.</a:t>
            </a:r>
          </a:p>
          <a:p>
            <a:r>
              <a:rPr lang="en-CA" dirty="0"/>
              <a:t>Attribute </a:t>
            </a:r>
            <a:r>
              <a:rPr lang="en-CA" dirty="0" err="1"/>
              <a:t>department_id</a:t>
            </a:r>
            <a:r>
              <a:rPr lang="en-CA" dirty="0"/>
              <a:t> is the primary key of table department.</a:t>
            </a:r>
          </a:p>
          <a:p>
            <a:pPr marL="0" indent="0">
              <a:buNone/>
            </a:pPr>
            <a:r>
              <a:rPr lang="en-US" sz="1600" b="1" dirty="0"/>
              <a:t>DEPARTMENT </a:t>
            </a:r>
            <a:r>
              <a:rPr lang="en-US" sz="1600" dirty="0"/>
              <a:t>(</a:t>
            </a:r>
            <a:r>
              <a:rPr lang="en-US" sz="1600" dirty="0" err="1"/>
              <a:t>department_id,department_name</a:t>
            </a:r>
            <a:r>
              <a:rPr lang="en-US" sz="1600" dirty="0"/>
              <a:t>, </a:t>
            </a:r>
            <a:r>
              <a:rPr lang="en-US" sz="1600" dirty="0" err="1"/>
              <a:t>manager_id,Location_id</a:t>
            </a:r>
            <a:r>
              <a:rPr lang="en-US" sz="1600" dirty="0"/>
              <a:t>)</a:t>
            </a:r>
          </a:p>
          <a:p>
            <a:r>
              <a:rPr lang="en-US" sz="1600" dirty="0"/>
              <a:t>A primary key is unique and cannot be null.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58970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Referential integrity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Referential integrity is a constraint specified on two tables.</a:t>
            </a:r>
          </a:p>
          <a:p>
            <a:r>
              <a:rPr lang="en-CA" dirty="0"/>
              <a:t>Referential integrity constraint determines if two tables are related. A value appearing in a column of a table also appears in a column of another table.</a:t>
            </a:r>
          </a:p>
          <a:p>
            <a:r>
              <a:rPr lang="en-CA" dirty="0"/>
              <a:t>Location ID exits in tables department and locations.</a:t>
            </a:r>
          </a:p>
          <a:p>
            <a:pPr lvl="1"/>
            <a:r>
              <a:rPr lang="en-CA" dirty="0"/>
              <a:t>Attribute </a:t>
            </a:r>
            <a:r>
              <a:rPr lang="en-CA" dirty="0" err="1"/>
              <a:t>location_id</a:t>
            </a:r>
            <a:r>
              <a:rPr lang="en-CA" dirty="0"/>
              <a:t> in table department refers to the </a:t>
            </a:r>
            <a:r>
              <a:rPr lang="en-CA" dirty="0" err="1"/>
              <a:t>location_id</a:t>
            </a:r>
            <a:r>
              <a:rPr lang="en-CA" dirty="0"/>
              <a:t> attribute in table locations.</a:t>
            </a:r>
          </a:p>
          <a:p>
            <a:endParaRPr lang="en-CA" dirty="0"/>
          </a:p>
          <a:p>
            <a:pPr lvl="1"/>
            <a:endParaRPr lang="en-CA" dirty="0"/>
          </a:p>
        </p:txBody>
      </p:sp>
      <p:sp>
        <p:nvSpPr>
          <p:cNvPr id="10" name="TextBox 9"/>
          <p:cNvSpPr txBox="1"/>
          <p:nvPr/>
        </p:nvSpPr>
        <p:spPr>
          <a:xfrm>
            <a:off x="1765738" y="4254232"/>
            <a:ext cx="1042626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</a:rPr>
              <a:t>DEPARTMENT</a:t>
            </a:r>
            <a:r>
              <a:rPr lang="en-US" sz="1600" dirty="0">
                <a:solidFill>
                  <a:srgbClr val="002060"/>
                </a:solidFill>
              </a:rPr>
              <a:t>(</a:t>
            </a:r>
            <a:r>
              <a:rPr lang="en-US" sz="1600" u="sng" dirty="0" err="1">
                <a:solidFill>
                  <a:srgbClr val="002060"/>
                </a:solidFill>
              </a:rPr>
              <a:t>department_id</a:t>
            </a:r>
            <a:r>
              <a:rPr lang="en-US" sz="1600" u="sng" dirty="0">
                <a:solidFill>
                  <a:srgbClr val="002060"/>
                </a:solidFill>
              </a:rPr>
              <a:t>(PK)</a:t>
            </a:r>
            <a:r>
              <a:rPr lang="en-US" sz="1600" dirty="0">
                <a:solidFill>
                  <a:srgbClr val="002060"/>
                </a:solidFill>
              </a:rPr>
              <a:t>,</a:t>
            </a:r>
            <a:r>
              <a:rPr lang="en-US" sz="1600" dirty="0" err="1">
                <a:solidFill>
                  <a:srgbClr val="002060"/>
                </a:solidFill>
              </a:rPr>
              <a:t>department_name</a:t>
            </a:r>
            <a:r>
              <a:rPr lang="en-US" sz="1600" dirty="0">
                <a:solidFill>
                  <a:srgbClr val="002060"/>
                </a:solidFill>
              </a:rPr>
              <a:t>, </a:t>
            </a:r>
            <a:r>
              <a:rPr lang="en-US" sz="1600" dirty="0" err="1">
                <a:solidFill>
                  <a:srgbClr val="002060"/>
                </a:solidFill>
              </a:rPr>
              <a:t>manager_id,</a:t>
            </a:r>
            <a:r>
              <a:rPr lang="en-US" sz="1600" b="1" i="1" dirty="0" err="1">
                <a:solidFill>
                  <a:schemeClr val="accent1">
                    <a:lumMod val="75000"/>
                  </a:schemeClr>
                </a:solidFill>
              </a:rPr>
              <a:t>Location_id</a:t>
            </a:r>
            <a:r>
              <a:rPr lang="en-US" sz="1600" b="1" i="1" dirty="0">
                <a:solidFill>
                  <a:schemeClr val="accent1">
                    <a:lumMod val="75000"/>
                  </a:schemeClr>
                </a:solidFill>
              </a:rPr>
              <a:t>(FK)</a:t>
            </a:r>
            <a:r>
              <a:rPr lang="en-US" sz="1600" dirty="0">
                <a:solidFill>
                  <a:srgbClr val="002060"/>
                </a:solidFill>
              </a:rPr>
              <a:t>)</a:t>
            </a:r>
          </a:p>
          <a:p>
            <a:endParaRPr lang="en-CA" dirty="0">
              <a:solidFill>
                <a:srgbClr val="00206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59832" y="4869785"/>
            <a:ext cx="1042626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</a:rPr>
              <a:t>LOCATIONS</a:t>
            </a:r>
            <a:r>
              <a:rPr lang="en-US" sz="1600" dirty="0">
                <a:solidFill>
                  <a:srgbClr val="002060"/>
                </a:solidFill>
              </a:rPr>
              <a:t>(</a:t>
            </a:r>
            <a:r>
              <a:rPr lang="en-US" sz="1600" b="1" i="1" u="sng" dirty="0" err="1">
                <a:solidFill>
                  <a:schemeClr val="accent1">
                    <a:lumMod val="75000"/>
                  </a:schemeClr>
                </a:solidFill>
              </a:rPr>
              <a:t>location_id</a:t>
            </a:r>
            <a:r>
              <a:rPr lang="en-US" sz="1600" b="1" i="1" u="sng" dirty="0">
                <a:solidFill>
                  <a:schemeClr val="accent1">
                    <a:lumMod val="75000"/>
                  </a:schemeClr>
                </a:solidFill>
              </a:rPr>
              <a:t>(PK)</a:t>
            </a:r>
            <a:r>
              <a:rPr lang="en-US" sz="1600" dirty="0">
                <a:solidFill>
                  <a:srgbClr val="002060"/>
                </a:solidFill>
              </a:rPr>
              <a:t>,street_address,postal_code,city,state_province,country_id)</a:t>
            </a:r>
          </a:p>
          <a:p>
            <a:endParaRPr lang="en-CA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936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multiple tables, or entities, are being used, there is often attributes in each table the relates the two tables together.</a:t>
            </a:r>
            <a:r>
              <a:rPr lang="en-CA" b="1" dirty="0"/>
              <a:t> </a:t>
            </a:r>
          </a:p>
          <a:p>
            <a:r>
              <a:rPr lang="en-CA" b="1" dirty="0"/>
              <a:t>Relationship Types</a:t>
            </a:r>
          </a:p>
          <a:p>
            <a:pPr marL="0" indent="0">
              <a:buNone/>
            </a:pPr>
            <a:r>
              <a:rPr lang="en-US" dirty="0"/>
              <a:t>  There are three types of relationships:</a:t>
            </a:r>
          </a:p>
          <a:p>
            <a:pPr marL="0" indent="0">
              <a:buNone/>
            </a:pPr>
            <a:r>
              <a:rPr lang="en-CA" dirty="0"/>
              <a:t>.  1-to-many (1:M) </a:t>
            </a:r>
          </a:p>
          <a:p>
            <a:pPr marL="0" indent="0">
              <a:buNone/>
            </a:pPr>
            <a:r>
              <a:rPr lang="en-CA" dirty="0"/>
              <a:t>.  1-to-1 (1:1)</a:t>
            </a:r>
          </a:p>
          <a:p>
            <a:pPr marL="0" indent="0">
              <a:buNone/>
            </a:pPr>
            <a:r>
              <a:rPr lang="en-US" dirty="0"/>
              <a:t>. </a:t>
            </a:r>
            <a:r>
              <a:rPr lang="en-CA" dirty="0"/>
              <a:t>many-to-many (M:M)</a:t>
            </a:r>
          </a:p>
          <a:p>
            <a:pPr marL="0" indent="0">
              <a:buNone/>
            </a:pPr>
            <a:endParaRPr lang="en-CA" b="1" dirty="0"/>
          </a:p>
          <a:p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66319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C00000"/>
                </a:solidFill>
              </a:rPr>
              <a:t>Foreign Key Constraint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defRPr/>
            </a:pPr>
            <a:r>
              <a:rPr lang="en-US" altLang="en-US" sz="3400" dirty="0"/>
              <a:t>The Foreign Key enforces relational integrity between the two tables. </a:t>
            </a:r>
          </a:p>
          <a:p>
            <a:pPr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defRPr/>
            </a:pPr>
            <a:r>
              <a:rPr lang="en-US" altLang="en-US" sz="3400" dirty="0"/>
              <a:t>The Foreign Key is used to create 1:M relationships between two tables. It is used to get information from another table using the primary key of that table.</a:t>
            </a:r>
          </a:p>
          <a:p>
            <a:pPr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defRPr/>
            </a:pPr>
            <a:r>
              <a:rPr lang="en-US" altLang="en-US" sz="3400" dirty="0"/>
              <a:t>The table with the foreign key column is the child table.</a:t>
            </a:r>
          </a:p>
          <a:p>
            <a:pPr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defRPr/>
            </a:pPr>
            <a:r>
              <a:rPr lang="en-US" altLang="en-US" sz="3400" dirty="0"/>
              <a:t>The table that is referred by the foreign key column in the CHILD table is the PARENT table.</a:t>
            </a:r>
          </a:p>
          <a:p>
            <a:pPr marL="0" indent="0"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buNone/>
              <a:defRPr/>
            </a:pPr>
            <a:endParaRPr lang="en-US" altLang="en-US" sz="3100" dirty="0"/>
          </a:p>
          <a:p>
            <a:pPr marL="0" indent="0"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buNone/>
              <a:defRPr/>
            </a:pPr>
            <a:endParaRPr lang="en-US" altLang="en-US" sz="2300" dirty="0"/>
          </a:p>
          <a:p>
            <a:pPr marL="0" indent="0">
              <a:lnSpc>
                <a:spcPct val="80000"/>
              </a:lnSpc>
              <a:spcBef>
                <a:spcPct val="30000"/>
              </a:spcBef>
              <a:buClr>
                <a:srgbClr val="660066"/>
              </a:buClr>
              <a:buNone/>
              <a:defRPr/>
            </a:pPr>
            <a:endParaRPr lang="en-US" altLang="en-US" sz="2300" dirty="0"/>
          </a:p>
          <a:p>
            <a:pPr marL="0" indent="0" latinLnBrk="1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95985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Referential Integrity Constraints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85" y="2326594"/>
            <a:ext cx="4067102" cy="1844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2596" y="2128050"/>
            <a:ext cx="9447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departments</a:t>
            </a:r>
            <a:endParaRPr lang="en-CA" sz="10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036" y="2335799"/>
            <a:ext cx="6010476" cy="35680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50182" y="2001092"/>
            <a:ext cx="9447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locations</a:t>
            </a:r>
            <a:endParaRPr lang="en-CA" sz="1050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853341" y="1909686"/>
            <a:ext cx="0" cy="4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499658" y="1942962"/>
            <a:ext cx="17276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5227275" y="1951275"/>
            <a:ext cx="0" cy="3037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96392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Custom 12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FF0000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1152</TotalTime>
  <Words>1031</Words>
  <Application>Microsoft Office PowerPoint</Application>
  <PresentationFormat>Widescreen</PresentationFormat>
  <Paragraphs>142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Century Schoolbook</vt:lpstr>
      <vt:lpstr>Courier New</vt:lpstr>
      <vt:lpstr>Wingdings 2</vt:lpstr>
      <vt:lpstr>View</vt:lpstr>
      <vt:lpstr>Relational Data Model </vt:lpstr>
      <vt:lpstr>Database</vt:lpstr>
      <vt:lpstr>Why DBMSs?</vt:lpstr>
      <vt:lpstr>Data Models</vt:lpstr>
      <vt:lpstr>Why Relational Data Model?</vt:lpstr>
      <vt:lpstr>Relational Data Model Basics</vt:lpstr>
      <vt:lpstr>Attributes</vt:lpstr>
      <vt:lpstr>Schema</vt:lpstr>
      <vt:lpstr>Tuple</vt:lpstr>
      <vt:lpstr>Domains</vt:lpstr>
      <vt:lpstr>Default Value</vt:lpstr>
      <vt:lpstr>Null Value</vt:lpstr>
      <vt:lpstr>Integrity Constraints</vt:lpstr>
      <vt:lpstr>Domain Integrity Constraint</vt:lpstr>
      <vt:lpstr>Constraints</vt:lpstr>
      <vt:lpstr>Primary Key Constraint</vt:lpstr>
      <vt:lpstr>Entity Integrity Constraint</vt:lpstr>
      <vt:lpstr>Referential integrity Constraint</vt:lpstr>
      <vt:lpstr>Relationships</vt:lpstr>
      <vt:lpstr>Foreign Key Constraint</vt:lpstr>
      <vt:lpstr>Referential Integrity Constraints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Nasim</dc:creator>
  <cp:lastModifiedBy>Lydia Li</cp:lastModifiedBy>
  <cp:revision>119</cp:revision>
  <dcterms:created xsi:type="dcterms:W3CDTF">2019-07-08T16:55:16Z</dcterms:created>
  <dcterms:modified xsi:type="dcterms:W3CDTF">2023-09-12T20:23:08Z</dcterms:modified>
</cp:coreProperties>
</file>