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9" r:id="rId22"/>
    <p:sldId id="290" r:id="rId23"/>
    <p:sldId id="291" r:id="rId24"/>
    <p:sldId id="278" r:id="rId25"/>
    <p:sldId id="284" r:id="rId26"/>
    <p:sldId id="282" r:id="rId27"/>
    <p:sldId id="283" r:id="rId28"/>
    <p:sldId id="285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9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dia Li" userId="ea0578a6-1f9b-4b91-a2cb-da76beaf9494" providerId="ADAL" clId="{D5483600-3209-4837-BD9A-D8DD1750F3A9}"/>
    <pc:docChg chg="modSld">
      <pc:chgData name="Lydia Li" userId="ea0578a6-1f9b-4b91-a2cb-da76beaf9494" providerId="ADAL" clId="{D5483600-3209-4837-BD9A-D8DD1750F3A9}" dt="2024-04-04T16:01:45.176" v="20" actId="13926"/>
      <pc:docMkLst>
        <pc:docMk/>
      </pc:docMkLst>
      <pc:sldChg chg="modSp mod">
        <pc:chgData name="Lydia Li" userId="ea0578a6-1f9b-4b91-a2cb-da76beaf9494" providerId="ADAL" clId="{D5483600-3209-4837-BD9A-D8DD1750F3A9}" dt="2024-04-04T15:57:14.162" v="14" actId="207"/>
        <pc:sldMkLst>
          <pc:docMk/>
          <pc:sldMk cId="2298771153" sldId="269"/>
        </pc:sldMkLst>
      </pc:sldChg>
      <pc:sldChg chg="modSp mod">
        <pc:chgData name="Lydia Li" userId="ea0578a6-1f9b-4b91-a2cb-da76beaf9494" providerId="ADAL" clId="{D5483600-3209-4837-BD9A-D8DD1750F3A9}" dt="2024-04-04T16:01:45.176" v="20" actId="13926"/>
        <pc:sldMkLst>
          <pc:docMk/>
          <pc:sldMk cId="4275707534" sldId="271"/>
        </pc:sldMkLst>
      </pc:sldChg>
      <pc:sldChg chg="modSp mod">
        <pc:chgData name="Lydia Li" userId="ea0578a6-1f9b-4b91-a2cb-da76beaf9494" providerId="ADAL" clId="{D5483600-3209-4837-BD9A-D8DD1750F3A9}" dt="2024-03-25T14:55:54.133" v="2" actId="207"/>
        <pc:sldMkLst>
          <pc:docMk/>
          <pc:sldMk cId="3083129247" sldId="283"/>
        </pc:sldMkLst>
      </pc:sldChg>
      <pc:sldChg chg="modSp mod">
        <pc:chgData name="Lydia Li" userId="ea0578a6-1f9b-4b91-a2cb-da76beaf9494" providerId="ADAL" clId="{D5483600-3209-4837-BD9A-D8DD1750F3A9}" dt="2024-03-25T14:56:51.699" v="5" actId="207"/>
        <pc:sldMkLst>
          <pc:docMk/>
          <pc:sldMk cId="3057615082" sldId="285"/>
        </pc:sldMkLst>
      </pc:sldChg>
      <pc:sldChg chg="modSp mod">
        <pc:chgData name="Lydia Li" userId="ea0578a6-1f9b-4b91-a2cb-da76beaf9494" providerId="ADAL" clId="{D5483600-3209-4837-BD9A-D8DD1750F3A9}" dt="2024-03-25T14:59:09.472" v="12" actId="20577"/>
        <pc:sldMkLst>
          <pc:docMk/>
          <pc:sldMk cId="3263609119" sldId="286"/>
        </pc:sldMkLst>
      </pc:sldChg>
      <pc:sldChg chg="modSp mod">
        <pc:chgData name="Lydia Li" userId="ea0578a6-1f9b-4b91-a2cb-da76beaf9494" providerId="ADAL" clId="{D5483600-3209-4837-BD9A-D8DD1750F3A9}" dt="2024-03-25T15:02:24.644" v="13" actId="207"/>
        <pc:sldMkLst>
          <pc:docMk/>
          <pc:sldMk cId="1750229853" sldId="287"/>
        </pc:sldMkLst>
      </pc:sldChg>
    </pc:docChg>
  </pc:docChgLst>
  <pc:docChgLst>
    <pc:chgData name="Lydia Li" userId="ea0578a6-1f9b-4b91-a2cb-da76beaf9494" providerId="ADAL" clId="{CED8FBE7-0F74-4EB4-8E0D-FCC25CF90AD3}"/>
    <pc:docChg chg="addSld">
      <pc:chgData name="Lydia Li" userId="ea0578a6-1f9b-4b91-a2cb-da76beaf9494" providerId="ADAL" clId="{CED8FBE7-0F74-4EB4-8E0D-FCC25CF90AD3}" dt="2025-11-04T22:13:56.711" v="2" actId="680"/>
      <pc:docMkLst>
        <pc:docMk/>
      </pc:docMkLst>
      <pc:sldChg chg="new">
        <pc:chgData name="Lydia Li" userId="ea0578a6-1f9b-4b91-a2cb-da76beaf9494" providerId="ADAL" clId="{CED8FBE7-0F74-4EB4-8E0D-FCC25CF90AD3}" dt="2025-11-04T22:13:55.630" v="0" actId="680"/>
        <pc:sldMkLst>
          <pc:docMk/>
          <pc:sldMk cId="3361310987" sldId="289"/>
        </pc:sldMkLst>
      </pc:sldChg>
      <pc:sldChg chg="new">
        <pc:chgData name="Lydia Li" userId="ea0578a6-1f9b-4b91-a2cb-da76beaf9494" providerId="ADAL" clId="{CED8FBE7-0F74-4EB4-8E0D-FCC25CF90AD3}" dt="2025-11-04T22:13:56.115" v="1" actId="680"/>
        <pc:sldMkLst>
          <pc:docMk/>
          <pc:sldMk cId="2546362275" sldId="290"/>
        </pc:sldMkLst>
      </pc:sldChg>
      <pc:sldChg chg="new">
        <pc:chgData name="Lydia Li" userId="ea0578a6-1f9b-4b91-a2cb-da76beaf9494" providerId="ADAL" clId="{CED8FBE7-0F74-4EB4-8E0D-FCC25CF90AD3}" dt="2025-11-04T22:13:56.711" v="2" actId="680"/>
        <pc:sldMkLst>
          <pc:docMk/>
          <pc:sldMk cId="1111273725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14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007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5069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5008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54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340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205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421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326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11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487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E5993C4-E043-40F0-936B-80EEAC259391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08CCB18-D9F5-4642-B1C8-2A0DC888CF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83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Relations, Keys, &amp; Normalization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09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3671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 Review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724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relation?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Rows contain data about an entity</a:t>
            </a:r>
          </a:p>
          <a:p>
            <a:r>
              <a:rPr lang="en-CA" dirty="0"/>
              <a:t>Columns contain data about attributes of the entity</a:t>
            </a:r>
          </a:p>
          <a:p>
            <a:r>
              <a:rPr lang="en-CA" dirty="0"/>
              <a:t>Cells of the table hold a single value</a:t>
            </a:r>
          </a:p>
          <a:p>
            <a:r>
              <a:rPr lang="en-CA" dirty="0"/>
              <a:t>All entries in a column are of the same kind</a:t>
            </a:r>
          </a:p>
          <a:p>
            <a:r>
              <a:rPr lang="en-CA" dirty="0"/>
              <a:t>Each column has a unique name</a:t>
            </a:r>
          </a:p>
          <a:p>
            <a:r>
              <a:rPr lang="en-CA" dirty="0"/>
              <a:t>The order of the rows and columns is unimportant</a:t>
            </a:r>
          </a:p>
          <a:p>
            <a:r>
              <a:rPr lang="en-CA" dirty="0"/>
              <a:t>No two rows may be identical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63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 key is one or more columns of a relation that is used to identify a row</a:t>
            </a:r>
          </a:p>
          <a:p>
            <a:r>
              <a:rPr lang="en-CA" dirty="0"/>
              <a:t>A key can be unique </a:t>
            </a:r>
            <a:r>
              <a:rPr lang="en-CA"/>
              <a:t>or non-unique</a:t>
            </a:r>
            <a:endParaRPr lang="en-CA" dirty="0"/>
          </a:p>
          <a:p>
            <a:r>
              <a:rPr lang="en-CA" dirty="0"/>
              <a:t>In Employee relation </a:t>
            </a:r>
            <a:r>
              <a:rPr lang="en-CA" dirty="0" err="1"/>
              <a:t>Emp_No</a:t>
            </a:r>
            <a:r>
              <a:rPr lang="en-CA" dirty="0"/>
              <a:t> vs Department</a:t>
            </a:r>
          </a:p>
          <a:p>
            <a:r>
              <a:rPr lang="en-CA" dirty="0"/>
              <a:t>Composite Key</a:t>
            </a:r>
          </a:p>
          <a:p>
            <a:r>
              <a:rPr lang="en-CA" dirty="0"/>
              <a:t>Primary Key</a:t>
            </a:r>
          </a:p>
          <a:p>
            <a:r>
              <a:rPr lang="en-CA" dirty="0"/>
              <a:t>Candidate Key</a:t>
            </a:r>
          </a:p>
          <a:p>
            <a:r>
              <a:rPr lang="en-CA" dirty="0"/>
              <a:t>Surrogate Key</a:t>
            </a:r>
          </a:p>
          <a:p>
            <a:r>
              <a:rPr lang="en-CA" dirty="0"/>
              <a:t>Foreign Key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24521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An attribute that is a key of one or more relations other than the one in which it appears</a:t>
            </a:r>
          </a:p>
          <a:p>
            <a:r>
              <a:rPr lang="en-CA" dirty="0"/>
              <a:t>Is a foreign key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Foreign keys are one or more fields in a dependent file that reference the primary key in a parent file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246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Surrogate Keys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 column with a unique, DBMS assigned identifier that has been added to a table to be the primary key</a:t>
            </a:r>
          </a:p>
          <a:p>
            <a:r>
              <a:rPr lang="en-CA" dirty="0"/>
              <a:t>The unique values of the surrogate key are assigned by the DBMS each time a row is added and the values never change</a:t>
            </a:r>
          </a:p>
          <a:p>
            <a:r>
              <a:rPr lang="en-CA" dirty="0"/>
              <a:t>PROPERTY(</a:t>
            </a:r>
            <a:r>
              <a:rPr lang="en-CA" u="sng" dirty="0" err="1"/>
              <a:t>Street</a:t>
            </a:r>
            <a:r>
              <a:rPr lang="en-CA" dirty="0" err="1"/>
              <a:t>,</a:t>
            </a:r>
            <a:r>
              <a:rPr lang="en-CA" u="sng" dirty="0" err="1"/>
              <a:t>City</a:t>
            </a:r>
            <a:r>
              <a:rPr lang="en-CA" dirty="0" err="1"/>
              <a:t>,</a:t>
            </a:r>
            <a:r>
              <a:rPr lang="en-CA" u="sng" dirty="0" err="1"/>
              <a:t>Prov</a:t>
            </a:r>
            <a:r>
              <a:rPr lang="en-CA" dirty="0" err="1"/>
              <a:t>,</a:t>
            </a:r>
            <a:r>
              <a:rPr lang="en-CA" u="sng" dirty="0" err="1"/>
              <a:t>Pcode</a:t>
            </a:r>
            <a:r>
              <a:rPr lang="en-CA" dirty="0" err="1"/>
              <a:t>,OwnerID</a:t>
            </a:r>
            <a:r>
              <a:rPr lang="en-CA" dirty="0"/>
              <a:t>)</a:t>
            </a:r>
          </a:p>
          <a:p>
            <a:endParaRPr lang="en-CA" dirty="0"/>
          </a:p>
          <a:p>
            <a:r>
              <a:rPr lang="en-CA" dirty="0"/>
              <a:t>PROPERTY(</a:t>
            </a:r>
            <a:r>
              <a:rPr lang="en-CA" u="sng" dirty="0" err="1"/>
              <a:t>PropertyID</a:t>
            </a:r>
            <a:r>
              <a:rPr lang="en-CA" dirty="0" err="1"/>
              <a:t>,Street,City,Prov,Pcode,OwnerID</a:t>
            </a:r>
            <a:r>
              <a:rPr lang="en-CA" dirty="0"/>
              <a:t>)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Surrogate keys are short, numeric and never change</a:t>
            </a:r>
          </a:p>
          <a:p>
            <a:r>
              <a:rPr lang="en-CA" dirty="0"/>
              <a:t>Ideal as a primary key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700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sz="3200" dirty="0"/>
              <a:t>(Primary Key)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Example (Hockey Awards)</a:t>
            </a:r>
          </a:p>
          <a:p>
            <a:endParaRPr lang="en-CA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769463"/>
              </p:ext>
            </p:extLst>
          </p:nvPr>
        </p:nvGraphicFramePr>
        <p:xfrm>
          <a:off x="1324303" y="2716632"/>
          <a:ext cx="8502869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9614">
                  <a:extLst>
                    <a:ext uri="{9D8B030D-6E8A-4147-A177-3AD203B41FA5}">
                      <a16:colId xmlns:a16="http://schemas.microsoft.com/office/drawing/2014/main" val="3826166981"/>
                    </a:ext>
                  </a:extLst>
                </a:gridCol>
                <a:gridCol w="1537357">
                  <a:extLst>
                    <a:ext uri="{9D8B030D-6E8A-4147-A177-3AD203B41FA5}">
                      <a16:colId xmlns:a16="http://schemas.microsoft.com/office/drawing/2014/main" val="2559339041"/>
                    </a:ext>
                  </a:extLst>
                </a:gridCol>
                <a:gridCol w="1240057">
                  <a:extLst>
                    <a:ext uri="{9D8B030D-6E8A-4147-A177-3AD203B41FA5}">
                      <a16:colId xmlns:a16="http://schemas.microsoft.com/office/drawing/2014/main" val="1698045043"/>
                    </a:ext>
                  </a:extLst>
                </a:gridCol>
                <a:gridCol w="1697464">
                  <a:extLst>
                    <a:ext uri="{9D8B030D-6E8A-4147-A177-3AD203B41FA5}">
                      <a16:colId xmlns:a16="http://schemas.microsoft.com/office/drawing/2014/main" val="3547533648"/>
                    </a:ext>
                  </a:extLst>
                </a:gridCol>
                <a:gridCol w="1249701">
                  <a:extLst>
                    <a:ext uri="{9D8B030D-6E8A-4147-A177-3AD203B41FA5}">
                      <a16:colId xmlns:a16="http://schemas.microsoft.com/office/drawing/2014/main" val="1394870144"/>
                    </a:ext>
                  </a:extLst>
                </a:gridCol>
                <a:gridCol w="1138676">
                  <a:extLst>
                    <a:ext uri="{9D8B030D-6E8A-4147-A177-3AD203B41FA5}">
                      <a16:colId xmlns:a16="http://schemas.microsoft.com/office/drawing/2014/main" val="1062285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dirty="0"/>
                        <a:t>Award	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Player</a:t>
                      </a:r>
                    </a:p>
                    <a:p>
                      <a:r>
                        <a:rPr lang="en-CA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Pnumber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Team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Year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19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Best Defense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Joe Wall	</a:t>
                      </a:r>
                    </a:p>
                    <a:p>
                      <a:r>
                        <a:rPr lang="en-CA" dirty="0" err="1"/>
                        <a:t>Sy</a:t>
                      </a:r>
                      <a:r>
                        <a:rPr lang="en-CA" dirty="0"/>
                        <a:t> </a:t>
                      </a:r>
                      <a:r>
                        <a:rPr lang="en-CA" dirty="0" err="1"/>
                        <a:t>Stopp</a:t>
                      </a:r>
                      <a:endParaRPr lang="en-CA" dirty="0"/>
                    </a:p>
                    <a:p>
                      <a:r>
                        <a:rPr lang="en-CA" dirty="0"/>
                        <a:t>Pete Puck</a:t>
                      </a:r>
                    </a:p>
                    <a:p>
                      <a:r>
                        <a:rPr lang="en-CA" dirty="0"/>
                        <a:t>Joe Wall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17</a:t>
                      </a:r>
                    </a:p>
                    <a:p>
                      <a:r>
                        <a:rPr lang="en-US" dirty="0"/>
                        <a:t>7</a:t>
                      </a:r>
                    </a:p>
                    <a:p>
                      <a:r>
                        <a:rPr lang="en-US" dirty="0"/>
                        <a:t>22</a:t>
                      </a:r>
                    </a:p>
                    <a:p>
                      <a:r>
                        <a:rPr lang="en-US" dirty="0"/>
                        <a:t>17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Left Defense </a:t>
                      </a:r>
                    </a:p>
                    <a:p>
                      <a:r>
                        <a:rPr lang="en-CA" dirty="0"/>
                        <a:t>Right Defense</a:t>
                      </a:r>
                    </a:p>
                    <a:p>
                      <a:r>
                        <a:rPr lang="en-CA" dirty="0"/>
                        <a:t>Left Defense</a:t>
                      </a:r>
                    </a:p>
                    <a:p>
                      <a:r>
                        <a:rPr lang="en-CA" dirty="0"/>
                        <a:t>Left 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Toronto </a:t>
                      </a:r>
                    </a:p>
                    <a:p>
                      <a:r>
                        <a:rPr lang="en-CA" dirty="0"/>
                        <a:t>Detroit</a:t>
                      </a:r>
                    </a:p>
                    <a:p>
                      <a:r>
                        <a:rPr lang="en-CA" dirty="0"/>
                        <a:t>Montreal</a:t>
                      </a:r>
                    </a:p>
                    <a:p>
                      <a:r>
                        <a:rPr lang="en-CA" dirty="0"/>
                        <a:t>Toronto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1999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2001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36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Most Valuable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Sam Scores</a:t>
                      </a:r>
                    </a:p>
                    <a:p>
                      <a:r>
                        <a:rPr lang="en-CA" dirty="0"/>
                        <a:t>Wayne </a:t>
                      </a:r>
                      <a:r>
                        <a:rPr lang="en-CA" dirty="0" err="1"/>
                        <a:t>Gret</a:t>
                      </a:r>
                      <a:endParaRPr lang="en-CA" dirty="0"/>
                    </a:p>
                    <a:p>
                      <a:r>
                        <a:rPr lang="en-CA" dirty="0"/>
                        <a:t>Joe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  <a:p>
                      <a:r>
                        <a:rPr lang="en-US" dirty="0"/>
                        <a:t>99</a:t>
                      </a:r>
                    </a:p>
                    <a:p>
                      <a:r>
                        <a:rPr lang="en-US" dirty="0"/>
                        <a:t>17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Center</a:t>
                      </a:r>
                    </a:p>
                    <a:p>
                      <a:r>
                        <a:rPr lang="en-CA" dirty="0"/>
                        <a:t>Center</a:t>
                      </a:r>
                    </a:p>
                    <a:p>
                      <a:r>
                        <a:rPr lang="en-CA" dirty="0"/>
                        <a:t>Left 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Chicago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New York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Toronto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1999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2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3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sz="3200" dirty="0"/>
              <a:t>(Primary Key)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fill all attributes</a:t>
            </a:r>
          </a:p>
          <a:p>
            <a:r>
              <a:rPr lang="en-CA" dirty="0"/>
              <a:t>Step 2: look for any column that has no value that is used in more than one row. </a:t>
            </a:r>
          </a:p>
          <a:p>
            <a:pPr lvl="1"/>
            <a:r>
              <a:rPr lang="en-CA" sz="1800" dirty="0"/>
              <a:t>We are looking for a column for which it’s value is UNIQUE. </a:t>
            </a:r>
          </a:p>
          <a:p>
            <a:pPr lvl="1"/>
            <a:r>
              <a:rPr lang="en-CA" sz="1800" dirty="0"/>
              <a:t>We first check to see  if we can have a single attribute as the primary key.</a:t>
            </a:r>
          </a:p>
          <a:p>
            <a:pPr marL="457200" lvl="1" indent="0">
              <a:buNone/>
            </a:pPr>
            <a:endParaRPr lang="en-C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954075"/>
              </p:ext>
            </p:extLst>
          </p:nvPr>
        </p:nvGraphicFramePr>
        <p:xfrm>
          <a:off x="1261872" y="3655333"/>
          <a:ext cx="8502869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9614">
                  <a:extLst>
                    <a:ext uri="{9D8B030D-6E8A-4147-A177-3AD203B41FA5}">
                      <a16:colId xmlns:a16="http://schemas.microsoft.com/office/drawing/2014/main" val="3826166981"/>
                    </a:ext>
                  </a:extLst>
                </a:gridCol>
                <a:gridCol w="1537357">
                  <a:extLst>
                    <a:ext uri="{9D8B030D-6E8A-4147-A177-3AD203B41FA5}">
                      <a16:colId xmlns:a16="http://schemas.microsoft.com/office/drawing/2014/main" val="2559339041"/>
                    </a:ext>
                  </a:extLst>
                </a:gridCol>
                <a:gridCol w="1240057">
                  <a:extLst>
                    <a:ext uri="{9D8B030D-6E8A-4147-A177-3AD203B41FA5}">
                      <a16:colId xmlns:a16="http://schemas.microsoft.com/office/drawing/2014/main" val="1698045043"/>
                    </a:ext>
                  </a:extLst>
                </a:gridCol>
                <a:gridCol w="1697464">
                  <a:extLst>
                    <a:ext uri="{9D8B030D-6E8A-4147-A177-3AD203B41FA5}">
                      <a16:colId xmlns:a16="http://schemas.microsoft.com/office/drawing/2014/main" val="3547533648"/>
                    </a:ext>
                  </a:extLst>
                </a:gridCol>
                <a:gridCol w="1354637">
                  <a:extLst>
                    <a:ext uri="{9D8B030D-6E8A-4147-A177-3AD203B41FA5}">
                      <a16:colId xmlns:a16="http://schemas.microsoft.com/office/drawing/2014/main" val="1394870144"/>
                    </a:ext>
                  </a:extLst>
                </a:gridCol>
                <a:gridCol w="1033740">
                  <a:extLst>
                    <a:ext uri="{9D8B030D-6E8A-4147-A177-3AD203B41FA5}">
                      <a16:colId xmlns:a16="http://schemas.microsoft.com/office/drawing/2014/main" val="1062285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dirty="0"/>
                        <a:t>Award	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Player</a:t>
                      </a:r>
                    </a:p>
                    <a:p>
                      <a:r>
                        <a:rPr lang="en-CA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Pnumber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Team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Year</a:t>
                      </a:r>
                    </a:p>
                    <a:p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19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Best Defense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Best Defense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Best Defense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Best Defense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Joe Wall	</a:t>
                      </a:r>
                    </a:p>
                    <a:p>
                      <a:r>
                        <a:rPr lang="en-CA" sz="1400" dirty="0" err="1"/>
                        <a:t>Sy</a:t>
                      </a:r>
                      <a:r>
                        <a:rPr lang="en-CA" sz="1400" dirty="0"/>
                        <a:t> </a:t>
                      </a:r>
                      <a:r>
                        <a:rPr lang="en-CA" sz="1400" dirty="0" err="1"/>
                        <a:t>Stopp</a:t>
                      </a:r>
                      <a:endParaRPr lang="en-CA" sz="1400" dirty="0"/>
                    </a:p>
                    <a:p>
                      <a:r>
                        <a:rPr lang="en-CA" sz="1400" dirty="0"/>
                        <a:t>Pete Puck</a:t>
                      </a:r>
                    </a:p>
                    <a:p>
                      <a:r>
                        <a:rPr lang="en-CA" sz="1400" dirty="0"/>
                        <a:t>Joe Wall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17</a:t>
                      </a:r>
                    </a:p>
                    <a:p>
                      <a:r>
                        <a:rPr lang="en-US" sz="1400" dirty="0"/>
                        <a:t>7</a:t>
                      </a:r>
                    </a:p>
                    <a:p>
                      <a:r>
                        <a:rPr lang="en-US" sz="1400" dirty="0"/>
                        <a:t>22</a:t>
                      </a:r>
                    </a:p>
                    <a:p>
                      <a:r>
                        <a:rPr lang="en-US" sz="1400" dirty="0"/>
                        <a:t>17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Left Defense </a:t>
                      </a:r>
                    </a:p>
                    <a:p>
                      <a:r>
                        <a:rPr lang="en-CA" sz="1400" dirty="0"/>
                        <a:t>Right Defense</a:t>
                      </a:r>
                    </a:p>
                    <a:p>
                      <a:r>
                        <a:rPr lang="en-CA" sz="1400" dirty="0"/>
                        <a:t>Left Defense</a:t>
                      </a:r>
                    </a:p>
                    <a:p>
                      <a:r>
                        <a:rPr lang="en-CA" sz="1400" dirty="0"/>
                        <a:t>Left 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Toronto </a:t>
                      </a:r>
                    </a:p>
                    <a:p>
                      <a:r>
                        <a:rPr lang="en-CA" sz="1400" dirty="0"/>
                        <a:t>Detroit</a:t>
                      </a:r>
                    </a:p>
                    <a:p>
                      <a:r>
                        <a:rPr lang="en-CA" sz="1400" dirty="0"/>
                        <a:t>Montreal</a:t>
                      </a:r>
                    </a:p>
                    <a:p>
                      <a:r>
                        <a:rPr lang="en-CA" sz="1400" dirty="0"/>
                        <a:t>Toronto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1999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2000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2001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2002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36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Most Valuable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Most Valuable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Most Valuable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Sam Scores</a:t>
                      </a:r>
                    </a:p>
                    <a:p>
                      <a:r>
                        <a:rPr lang="en-CA" sz="1400" dirty="0"/>
                        <a:t>Wayne </a:t>
                      </a:r>
                      <a:r>
                        <a:rPr lang="en-CA" sz="1400" dirty="0" err="1"/>
                        <a:t>Gret</a:t>
                      </a:r>
                      <a:endParaRPr lang="en-CA" sz="1400" dirty="0"/>
                    </a:p>
                    <a:p>
                      <a:r>
                        <a:rPr lang="en-CA" sz="1400" dirty="0"/>
                        <a:t>Joe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18</a:t>
                      </a:r>
                    </a:p>
                    <a:p>
                      <a:r>
                        <a:rPr lang="en-US" sz="1400" dirty="0"/>
                        <a:t>99</a:t>
                      </a:r>
                    </a:p>
                    <a:p>
                      <a:r>
                        <a:rPr lang="en-US" sz="1400" dirty="0"/>
                        <a:t>17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Center</a:t>
                      </a:r>
                    </a:p>
                    <a:p>
                      <a:r>
                        <a:rPr lang="en-CA" sz="1400" dirty="0"/>
                        <a:t>Center</a:t>
                      </a:r>
                    </a:p>
                    <a:p>
                      <a:r>
                        <a:rPr lang="en-CA" sz="1400" dirty="0"/>
                        <a:t>Left 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Chicago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New York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Toronto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1999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2000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2002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2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45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sz="3200" dirty="0"/>
              <a:t>(Primary Key)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Step 3: Look for any pairs of columns which when concatenated produce a unique value.</a:t>
            </a:r>
          </a:p>
          <a:p>
            <a:pPr marL="0" indent="0">
              <a:buNone/>
            </a:pPr>
            <a:endParaRPr lang="en-CA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592989"/>
              </p:ext>
            </p:extLst>
          </p:nvPr>
        </p:nvGraphicFramePr>
        <p:xfrm>
          <a:off x="1986455" y="2816771"/>
          <a:ext cx="6621517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5823">
                  <a:extLst>
                    <a:ext uri="{9D8B030D-6E8A-4147-A177-3AD203B41FA5}">
                      <a16:colId xmlns:a16="http://schemas.microsoft.com/office/drawing/2014/main" val="2720165887"/>
                    </a:ext>
                  </a:extLst>
                </a:gridCol>
                <a:gridCol w="3405694">
                  <a:extLst>
                    <a:ext uri="{9D8B030D-6E8A-4147-A177-3AD203B41FA5}">
                      <a16:colId xmlns:a16="http://schemas.microsoft.com/office/drawing/2014/main" val="1254187794"/>
                    </a:ext>
                  </a:extLst>
                </a:gridCol>
              </a:tblGrid>
              <a:tr h="3360191">
                <a:tc>
                  <a:txBody>
                    <a:bodyPr/>
                    <a:lstStyle/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Team + Year…………</a:t>
                      </a:r>
                      <a:endParaRPr lang="en-CA" sz="2000" dirty="0">
                        <a:effectLst/>
                      </a:endParaRPr>
                    </a:p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	</a:t>
                      </a:r>
                      <a:endParaRPr lang="en-CA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Position + Team……..</a:t>
                      </a:r>
                      <a:endParaRPr lang="en-CA" sz="2000" dirty="0">
                        <a:effectLst/>
                      </a:endParaRPr>
                    </a:p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Position + Year………</a:t>
                      </a:r>
                      <a:endParaRPr lang="en-CA" sz="2000" dirty="0">
                        <a:effectLst/>
                      </a:endParaRPr>
                    </a:p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	</a:t>
                      </a:r>
                      <a:endParaRPr lang="en-CA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PNumber</a:t>
                      </a:r>
                      <a:r>
                        <a:rPr lang="en-US" sz="2000" dirty="0">
                          <a:effectLst/>
                        </a:rPr>
                        <a:t> + Position….</a:t>
                      </a:r>
                      <a:endParaRPr lang="en-CA" sz="2000" dirty="0">
                        <a:effectLst/>
                      </a:endParaRPr>
                    </a:p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PNumber</a:t>
                      </a:r>
                      <a:r>
                        <a:rPr lang="en-US" sz="2000" dirty="0">
                          <a:effectLst/>
                        </a:rPr>
                        <a:t> + Team…….</a:t>
                      </a:r>
                      <a:endParaRPr lang="en-CA" sz="2000" dirty="0">
                        <a:effectLst/>
                      </a:endParaRPr>
                    </a:p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PNumber</a:t>
                      </a:r>
                      <a:r>
                        <a:rPr lang="en-US" sz="2000" dirty="0">
                          <a:effectLst/>
                        </a:rPr>
                        <a:t> + Year……..</a:t>
                      </a:r>
                      <a:endParaRPr lang="en-CA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	</a:t>
                      </a:r>
                      <a:endParaRPr lang="en-CA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PlayerName</a:t>
                      </a:r>
                      <a:r>
                        <a:rPr lang="en-US" sz="2000" dirty="0">
                          <a:effectLst/>
                        </a:rPr>
                        <a:t> + </a:t>
                      </a:r>
                      <a:r>
                        <a:rPr lang="en-US" sz="2000" dirty="0" err="1">
                          <a:effectLst/>
                        </a:rPr>
                        <a:t>PNumber</a:t>
                      </a:r>
                      <a:r>
                        <a:rPr lang="en-US" sz="2000" dirty="0">
                          <a:effectLst/>
                        </a:rPr>
                        <a:t> …</a:t>
                      </a:r>
                      <a:endParaRPr lang="en-CA" sz="2000" dirty="0">
                        <a:effectLst/>
                      </a:endParaRPr>
                    </a:p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PlayerName</a:t>
                      </a:r>
                      <a:r>
                        <a:rPr lang="en-US" sz="2000" dirty="0">
                          <a:effectLst/>
                        </a:rPr>
                        <a:t> + Position……</a:t>
                      </a:r>
                      <a:endParaRPr lang="en-CA" sz="2000" dirty="0">
                        <a:effectLst/>
                      </a:endParaRPr>
                    </a:p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PlayerName</a:t>
                      </a:r>
                      <a:r>
                        <a:rPr lang="en-US" sz="2000" dirty="0">
                          <a:effectLst/>
                        </a:rPr>
                        <a:t> + Team………	</a:t>
                      </a:r>
                      <a:endParaRPr lang="en-CA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PlayerName</a:t>
                      </a:r>
                      <a:r>
                        <a:rPr lang="en-US" sz="2000" dirty="0">
                          <a:effectLst/>
                        </a:rPr>
                        <a:t> + Year……….</a:t>
                      </a:r>
                      <a:endParaRPr lang="en-CA" sz="2000" dirty="0">
                        <a:effectLst/>
                      </a:endParaRPr>
                    </a:p>
                    <a:p>
                      <a:pPr marL="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CA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Award + </a:t>
                      </a:r>
                      <a:r>
                        <a:rPr lang="en-US" sz="2000" dirty="0" err="1">
                          <a:effectLst/>
                        </a:rPr>
                        <a:t>PlayerName</a:t>
                      </a:r>
                      <a:r>
                        <a:rPr lang="en-US" sz="2000" dirty="0">
                          <a:effectLst/>
                        </a:rPr>
                        <a:t>……..</a:t>
                      </a:r>
                      <a:endParaRPr lang="en-CA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Award + </a:t>
                      </a:r>
                      <a:r>
                        <a:rPr lang="en-US" sz="2000" dirty="0" err="1">
                          <a:effectLst/>
                        </a:rPr>
                        <a:t>PNumber</a:t>
                      </a:r>
                      <a:r>
                        <a:rPr lang="en-US" sz="2000" dirty="0">
                          <a:effectLst/>
                        </a:rPr>
                        <a:t>………...</a:t>
                      </a:r>
                      <a:endParaRPr lang="en-CA" sz="2000" dirty="0">
                        <a:effectLst/>
                      </a:endParaRPr>
                    </a:p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Award + Position………….</a:t>
                      </a:r>
                      <a:endParaRPr lang="en-CA" sz="2000" dirty="0">
                        <a:effectLst/>
                      </a:endParaRPr>
                    </a:p>
                    <a:p>
                      <a:pPr marL="457200" indent="-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Award + Team…………….</a:t>
                      </a:r>
                      <a:endParaRPr lang="en-CA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Award + Year……………..</a:t>
                      </a:r>
                      <a:endParaRPr lang="en-CA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	</a:t>
                      </a:r>
                      <a:endParaRPr lang="en-CA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8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943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sz="3200" dirty="0"/>
              <a:t>(Primary Key)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Concatenated primary key:</a:t>
            </a:r>
          </a:p>
          <a:p>
            <a:endParaRPr lang="en-US" dirty="0"/>
          </a:p>
          <a:p>
            <a:pPr lvl="1"/>
            <a:r>
              <a:rPr lang="en-US" dirty="0"/>
              <a:t>So </a:t>
            </a:r>
            <a:r>
              <a:rPr lang="en-US" u="sng" dirty="0"/>
              <a:t>Award + Year</a:t>
            </a:r>
            <a:r>
              <a:rPr lang="en-US" dirty="0"/>
              <a:t> will be selected as the PK.</a:t>
            </a:r>
          </a:p>
          <a:p>
            <a:pPr marL="457200" lvl="1" indent="0">
              <a:buNone/>
            </a:pPr>
            <a:endParaRPr lang="en-CA" b="1" i="1" dirty="0"/>
          </a:p>
          <a:p>
            <a:r>
              <a:rPr lang="en-US" dirty="0"/>
              <a:t>and the relation will be:</a:t>
            </a:r>
            <a:endParaRPr lang="en-CA" i="1" dirty="0"/>
          </a:p>
          <a:p>
            <a:pPr marL="0" indent="0">
              <a:buNone/>
            </a:pPr>
            <a:endParaRPr lang="en-CA" b="1" i="1" dirty="0"/>
          </a:p>
          <a:p>
            <a:pPr marL="0" indent="0">
              <a:buNone/>
            </a:pPr>
            <a:r>
              <a:rPr lang="en-US" i="1" dirty="0"/>
              <a:t>	(</a:t>
            </a:r>
            <a:r>
              <a:rPr lang="en-US" b="1" i="1" u="sng" dirty="0"/>
              <a:t>Award, Year</a:t>
            </a:r>
            <a:r>
              <a:rPr lang="en-US" i="1" dirty="0"/>
              <a:t>, </a:t>
            </a:r>
            <a:r>
              <a:rPr lang="en-US" i="1" dirty="0" err="1"/>
              <a:t>PlayerName</a:t>
            </a:r>
            <a:r>
              <a:rPr lang="en-US" i="1" dirty="0"/>
              <a:t>, </a:t>
            </a:r>
            <a:r>
              <a:rPr lang="en-US" i="1" dirty="0" err="1"/>
              <a:t>PNumber</a:t>
            </a:r>
            <a:r>
              <a:rPr lang="en-US" i="1" dirty="0"/>
              <a:t>, Position, Team) 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282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Review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7957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Forms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US" dirty="0"/>
              <a:t>1NF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>
                <a:latin typeface="Lucida Sans" pitchFamily="34" charset="0"/>
                <a:cs typeface="Times New Roman" charset="0"/>
              </a:rPr>
              <a:t>2NF</a:t>
            </a:r>
            <a:endParaRPr lang="en-US" dirty="0">
              <a:latin typeface="Lucida Sans" pitchFamily="34" charset="0"/>
            </a:endParaRPr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3NF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>
                <a:latin typeface="Lucida Sans" pitchFamily="34" charset="0"/>
                <a:cs typeface="Times New Roman" charset="0"/>
              </a:rPr>
              <a:t>Why is this done?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64055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sz="2400" dirty="0"/>
              <a:t>(Normalization/Userview1)</a:t>
            </a:r>
            <a:endParaRPr lang="en-CA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198007" y="1680737"/>
            <a:ext cx="1141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/>
              <a:t>CLASSLIST</a:t>
            </a:r>
            <a:endParaRPr lang="en-CA" b="1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64524" y="2194559"/>
            <a:ext cx="10489276" cy="39824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CA" sz="1900" dirty="0"/>
              <a:t>CLASSLIST in </a:t>
            </a:r>
            <a:r>
              <a:rPr lang="en-CA" sz="1900" b="1" dirty="0"/>
              <a:t>UNF</a:t>
            </a:r>
          </a:p>
          <a:p>
            <a:pPr marL="457200" lvl="1" indent="0">
              <a:buNone/>
            </a:pPr>
            <a:r>
              <a:rPr lang="en-US" sz="1300" dirty="0"/>
              <a:t>CLASSLIST [ </a:t>
            </a:r>
            <a:r>
              <a:rPr lang="en-US" sz="1300" b="1" u="sng" dirty="0" err="1">
                <a:solidFill>
                  <a:srgbClr val="FF0000"/>
                </a:solidFill>
              </a:rPr>
              <a:t>SubjectCode</a:t>
            </a:r>
            <a:r>
              <a:rPr lang="en-US" sz="1300" b="1" u="sng" dirty="0">
                <a:solidFill>
                  <a:srgbClr val="FF0000"/>
                </a:solidFill>
              </a:rPr>
              <a:t>, </a:t>
            </a:r>
            <a:r>
              <a:rPr lang="en-US" sz="1300" b="1" u="sng" dirty="0" err="1">
                <a:solidFill>
                  <a:srgbClr val="FF0000"/>
                </a:solidFill>
              </a:rPr>
              <a:t>SectionCode</a:t>
            </a:r>
            <a:r>
              <a:rPr lang="en-US" sz="1300" u="sng" dirty="0"/>
              <a:t>,</a:t>
            </a:r>
            <a:r>
              <a:rPr lang="en-US" sz="1300" dirty="0"/>
              <a:t> </a:t>
            </a:r>
            <a:r>
              <a:rPr lang="en-US" sz="1300" dirty="0" err="1"/>
              <a:t>InstructorNo</a:t>
            </a:r>
            <a:r>
              <a:rPr lang="en-US" sz="1300" dirty="0"/>
              <a:t>, </a:t>
            </a:r>
            <a:r>
              <a:rPr lang="en-US" sz="1300" dirty="0" err="1"/>
              <a:t>InstructorName</a:t>
            </a:r>
            <a:r>
              <a:rPr lang="en-US" sz="1300" dirty="0"/>
              <a:t>, </a:t>
            </a:r>
            <a:r>
              <a:rPr lang="en-US" sz="1300" dirty="0" err="1"/>
              <a:t>SubjectName</a:t>
            </a:r>
            <a:r>
              <a:rPr lang="en-US" sz="1300" dirty="0"/>
              <a:t>, </a:t>
            </a:r>
            <a:r>
              <a:rPr lang="en-US" sz="1300" dirty="0">
                <a:solidFill>
                  <a:srgbClr val="00B050"/>
                </a:solidFill>
              </a:rPr>
              <a:t>(</a:t>
            </a:r>
            <a:r>
              <a:rPr lang="en-US" sz="1300" dirty="0" err="1">
                <a:solidFill>
                  <a:srgbClr val="00B050"/>
                </a:solidFill>
              </a:rPr>
              <a:t>StudentNumber</a:t>
            </a:r>
            <a:r>
              <a:rPr lang="en-US" sz="1300" dirty="0">
                <a:solidFill>
                  <a:srgbClr val="00B050"/>
                </a:solidFill>
              </a:rPr>
              <a:t>, </a:t>
            </a:r>
            <a:r>
              <a:rPr lang="en-US" sz="1300" dirty="0" err="1">
                <a:solidFill>
                  <a:srgbClr val="00B050"/>
                </a:solidFill>
              </a:rPr>
              <a:t>StudentName</a:t>
            </a:r>
            <a:r>
              <a:rPr lang="en-US" sz="1300" dirty="0">
                <a:solidFill>
                  <a:srgbClr val="00B050"/>
                </a:solidFill>
              </a:rPr>
              <a:t>) </a:t>
            </a:r>
            <a:r>
              <a:rPr lang="en-US" sz="1300" dirty="0"/>
              <a:t>]</a:t>
            </a:r>
          </a:p>
          <a:p>
            <a:r>
              <a:rPr lang="en-US" sz="1900" dirty="0"/>
              <a:t>A relation is in 1</a:t>
            </a:r>
            <a:r>
              <a:rPr lang="en-US" sz="1900" baseline="30000" dirty="0"/>
              <a:t>st</a:t>
            </a:r>
            <a:r>
              <a:rPr lang="en-US" sz="1900" dirty="0"/>
              <a:t> normal form when the primary key determines a single value of each attribute for all attributes in the relation (i.e. the relation contains no repeating groups)</a:t>
            </a:r>
          </a:p>
          <a:p>
            <a:r>
              <a:rPr lang="en-US" sz="1900" dirty="0"/>
              <a:t>Two ways to get to 1NF – how did we do it last week?</a:t>
            </a:r>
          </a:p>
          <a:p>
            <a:pPr marL="0" indent="0">
              <a:buNone/>
            </a:pPr>
            <a:endParaRPr lang="en-CA" sz="2000" dirty="0"/>
          </a:p>
          <a:p>
            <a:pPr marL="285750" indent="-285750"/>
            <a:endParaRPr lang="en-CA" dirty="0"/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4495793"/>
              </p:ext>
            </p:extLst>
          </p:nvPr>
        </p:nvGraphicFramePr>
        <p:xfrm>
          <a:off x="1198007" y="2070708"/>
          <a:ext cx="7787026" cy="20845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5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4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2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0" u="sng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SubjectCode</a:t>
                      </a:r>
                      <a:endParaRPr lang="en-CA" sz="1200" b="0" u="sng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0" u="sng" dirty="0">
                          <a:effectLst/>
                          <a:latin typeface="+mn-lt"/>
                          <a:ea typeface="+mn-ea"/>
                          <a:cs typeface="+mn-cs"/>
                        </a:rPr>
                        <a:t>Section</a:t>
                      </a:r>
                      <a:endParaRPr lang="en-CA" sz="1200" b="0" u="sng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 err="1">
                          <a:effectLst/>
                        </a:rPr>
                        <a:t>InstNo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InstName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 err="1">
                          <a:effectLst/>
                        </a:rPr>
                        <a:t>SubjectName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 err="1">
                          <a:effectLst/>
                        </a:rPr>
                        <a:t>StudentNo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 err="1">
                          <a:effectLst/>
                        </a:rPr>
                        <a:t>StudentName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DBS201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</a:rPr>
                        <a:t>122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</a:rPr>
                        <a:t>Russ</a:t>
                      </a:r>
                      <a:r>
                        <a:rPr lang="en-CA" sz="1200" baseline="0" dirty="0">
                          <a:effectLst/>
                        </a:rPr>
                        <a:t> Pangborn</a:t>
                      </a:r>
                      <a:endParaRPr lang="en-CA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</a:rPr>
                        <a:t>Intro</a:t>
                      </a:r>
                      <a:r>
                        <a:rPr lang="en-CA" sz="1200" baseline="0" dirty="0">
                          <a:effectLst/>
                        </a:rPr>
                        <a:t> to DB</a:t>
                      </a:r>
                      <a:endParaRPr lang="en-CA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</a:rPr>
                        <a:t>111111111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222222222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</a:rPr>
                        <a:t>Terry</a:t>
                      </a:r>
                      <a:r>
                        <a:rPr lang="en-CA" sz="1200" baseline="0" dirty="0">
                          <a:effectLst/>
                        </a:rPr>
                        <a:t> Adams</a:t>
                      </a:r>
                      <a:endParaRPr lang="en-CA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Jack</a:t>
                      </a:r>
                      <a:r>
                        <a:rPr lang="en-CA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Chan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DBS201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323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Bill</a:t>
                      </a:r>
                      <a:r>
                        <a:rPr lang="en-CA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Gates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Intro</a:t>
                      </a:r>
                      <a:r>
                        <a:rPr lang="en-CA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to DB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121212121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323233232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Frank</a:t>
                      </a:r>
                      <a:r>
                        <a:rPr lang="en-CA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Brown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Mary Wong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6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RPG544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</a:rPr>
                        <a:t>A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122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Russ</a:t>
                      </a:r>
                      <a:r>
                        <a:rPr lang="en-CA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Pangborn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RPGIV</a:t>
                      </a:r>
                      <a:r>
                        <a:rPr lang="en-CA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CA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444444444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143211222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Wendy</a:t>
                      </a:r>
                      <a:r>
                        <a:rPr lang="en-CA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Clark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Peter Lind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771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1NF </a:t>
            </a:r>
            <a:br>
              <a:rPr lang="en-US" sz="3200" dirty="0"/>
            </a:b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193" y="1825625"/>
            <a:ext cx="10649607" cy="4351338"/>
          </a:xfrm>
        </p:spPr>
        <p:txBody>
          <a:bodyPr>
            <a:normAutofit/>
          </a:bodyPr>
          <a:lstStyle/>
          <a:p>
            <a:pPr marL="285750" indent="-285750"/>
            <a:r>
              <a:rPr lang="en-US" dirty="0"/>
              <a:t>Restate the original un-normalized relation without the repeating group</a:t>
            </a:r>
          </a:p>
          <a:p>
            <a:pPr marL="285750" indent="-285750"/>
            <a:endParaRPr lang="en-US" dirty="0"/>
          </a:p>
          <a:p>
            <a:pPr marL="0" indent="0">
              <a:buNone/>
            </a:pPr>
            <a:r>
              <a:rPr lang="en-US" sz="2200" dirty="0">
                <a:latin typeface="Lucida Sans" pitchFamily="34" charset="0"/>
                <a:cs typeface="Times New Roman" charset="0"/>
              </a:rPr>
              <a:t>CLASSLIST</a:t>
            </a:r>
            <a:r>
              <a:rPr lang="en-US" sz="2200" dirty="0">
                <a:latin typeface="Lucida Sans" pitchFamily="34" charset="0"/>
              </a:rPr>
              <a:t> [ </a:t>
            </a:r>
            <a:r>
              <a:rPr lang="en-US" sz="2200" b="1" u="sng" dirty="0" err="1">
                <a:highlight>
                  <a:srgbClr val="FF0000"/>
                </a:highlight>
                <a:latin typeface="Lucida Sans" pitchFamily="34" charset="0"/>
              </a:rPr>
              <a:t>SubjectCode</a:t>
            </a:r>
            <a:r>
              <a:rPr lang="en-US" sz="2200" b="1" u="sng" dirty="0">
                <a:highlight>
                  <a:srgbClr val="FF0000"/>
                </a:highlight>
                <a:latin typeface="Lucida Sans" pitchFamily="34" charset="0"/>
              </a:rPr>
              <a:t>, </a:t>
            </a:r>
            <a:r>
              <a:rPr lang="en-US" sz="2200" b="1" u="sng" dirty="0" err="1">
                <a:highlight>
                  <a:srgbClr val="FF0000"/>
                </a:highlight>
                <a:latin typeface="Lucida Sans" pitchFamily="34" charset="0"/>
              </a:rPr>
              <a:t>SectionCode</a:t>
            </a:r>
            <a:r>
              <a:rPr lang="en-US" sz="2200" u="sng" dirty="0">
                <a:highlight>
                  <a:srgbClr val="FF0000"/>
                </a:highlight>
                <a:latin typeface="Lucida Sans" pitchFamily="34" charset="0"/>
              </a:rPr>
              <a:t>,</a:t>
            </a:r>
            <a:r>
              <a:rPr lang="en-US" sz="2200" dirty="0">
                <a:highlight>
                  <a:srgbClr val="FF0000"/>
                </a:highlight>
                <a:latin typeface="Lucida Sans" pitchFamily="34" charset="0"/>
              </a:rPr>
              <a:t> </a:t>
            </a:r>
            <a:r>
              <a:rPr lang="en-US" sz="2200" dirty="0" err="1">
                <a:latin typeface="Lucida Sans" pitchFamily="34" charset="0"/>
              </a:rPr>
              <a:t>InstructorNo</a:t>
            </a:r>
            <a:r>
              <a:rPr lang="en-US" sz="2200" dirty="0">
                <a:latin typeface="Lucida Sans" pitchFamily="34" charset="0"/>
              </a:rPr>
              <a:t>, </a:t>
            </a:r>
            <a:r>
              <a:rPr lang="en-US" sz="2200" dirty="0" err="1">
                <a:latin typeface="Lucida Sans" pitchFamily="34" charset="0"/>
              </a:rPr>
              <a:t>InstructorName</a:t>
            </a:r>
            <a:r>
              <a:rPr lang="en-US" sz="2200" dirty="0">
                <a:latin typeface="Lucida Sans" pitchFamily="34" charset="0"/>
              </a:rPr>
              <a:t>, </a:t>
            </a:r>
            <a:r>
              <a:rPr lang="en-US" sz="2200" dirty="0" err="1">
                <a:latin typeface="Lucida Sans" pitchFamily="34" charset="0"/>
              </a:rPr>
              <a:t>SubjectName</a:t>
            </a:r>
            <a:r>
              <a:rPr lang="en-US" sz="2200" dirty="0">
                <a:latin typeface="Lucida Sans" pitchFamily="34" charset="0"/>
              </a:rPr>
              <a:t> ]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Create a new relation consisting of key of original relation and attributes within repeating group and add to key to ensure uniqueness </a:t>
            </a:r>
          </a:p>
          <a:p>
            <a:pPr marL="285750" indent="-285750"/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Lucida Sans" pitchFamily="34" charset="0"/>
                <a:cs typeface="Times New Roman" charset="0"/>
              </a:rPr>
              <a:t>CLASSLISTSTUDENT</a:t>
            </a:r>
            <a:r>
              <a:rPr lang="en-US" sz="2000" dirty="0">
                <a:latin typeface="Lucida Sans" pitchFamily="34" charset="0"/>
              </a:rPr>
              <a:t>[ </a:t>
            </a:r>
            <a:r>
              <a:rPr lang="en-US" sz="2000" b="1" u="sng" dirty="0" err="1">
                <a:highlight>
                  <a:srgbClr val="FF0000"/>
                </a:highlight>
                <a:latin typeface="Lucida Sans" pitchFamily="34" charset="0"/>
              </a:rPr>
              <a:t>SubjectCode</a:t>
            </a:r>
            <a:r>
              <a:rPr lang="en-US" sz="2000" b="1" u="sng" dirty="0">
                <a:highlight>
                  <a:srgbClr val="FF0000"/>
                </a:highlight>
                <a:latin typeface="Lucida Sans" pitchFamily="34" charset="0"/>
              </a:rPr>
              <a:t>, </a:t>
            </a:r>
            <a:r>
              <a:rPr lang="en-US" sz="2000" b="1" u="sng" dirty="0" err="1">
                <a:highlight>
                  <a:srgbClr val="FF0000"/>
                </a:highlight>
                <a:latin typeface="Lucida Sans" pitchFamily="34" charset="0"/>
              </a:rPr>
              <a:t>SectionCode,StudentNumber</a:t>
            </a:r>
            <a:r>
              <a:rPr lang="en-US" sz="2000" u="sng" dirty="0">
                <a:latin typeface="Lucida Sans" pitchFamily="34" charset="0"/>
              </a:rPr>
              <a:t>,</a:t>
            </a:r>
            <a:r>
              <a:rPr lang="en-US" sz="2000" dirty="0">
                <a:latin typeface="Lucida Sans" pitchFamily="34" charset="0"/>
              </a:rPr>
              <a:t> </a:t>
            </a:r>
            <a:r>
              <a:rPr lang="en-US" sz="2000" dirty="0" err="1">
                <a:latin typeface="Lucida Sans" pitchFamily="34" charset="0"/>
              </a:rPr>
              <a:t>StudentName</a:t>
            </a:r>
            <a:r>
              <a:rPr lang="en-US" sz="2000" dirty="0">
                <a:latin typeface="Lucida Sans" pitchFamily="34" charset="0"/>
              </a:rPr>
              <a:t>]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75707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Normal Form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1NF relation is in 2NF when the entire primary key is needed to determine the value of each non-key attribute </a:t>
            </a:r>
          </a:p>
          <a:p>
            <a:pPr lvl="1"/>
            <a:r>
              <a:rPr lang="en-US" dirty="0"/>
              <a:t>(i.e. relation has the partial dependencies – attributes whose values can be determined by knowing only one part of the key)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07527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1NF to 2NF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285750" indent="-285750"/>
            <a:r>
              <a:rPr lang="en-US" sz="4000" dirty="0"/>
              <a:t>1NF:</a:t>
            </a:r>
            <a:br>
              <a:rPr lang="en-US" sz="4000" dirty="0"/>
            </a:br>
            <a:endParaRPr lang="en-US" sz="4000" dirty="0"/>
          </a:p>
          <a:p>
            <a:pPr marL="457200" lvl="1" indent="0">
              <a:buNone/>
            </a:pPr>
            <a:r>
              <a:rPr lang="en-US" b="1" dirty="0">
                <a:latin typeface="Lucida Sans" pitchFamily="34" charset="0"/>
                <a:cs typeface="Times New Roman" charset="0"/>
              </a:rPr>
              <a:t>CLASSLIST</a:t>
            </a:r>
            <a:r>
              <a:rPr lang="en-US" dirty="0">
                <a:latin typeface="Lucida Sans" pitchFamily="34" charset="0"/>
              </a:rPr>
              <a:t> [ </a:t>
            </a:r>
            <a:r>
              <a:rPr lang="en-US" u="sng" dirty="0" err="1">
                <a:latin typeface="Lucida Sans" pitchFamily="34" charset="0"/>
              </a:rPr>
              <a:t>SubjectCode</a:t>
            </a:r>
            <a:r>
              <a:rPr lang="en-US" u="sng" dirty="0">
                <a:latin typeface="Lucida Sans" pitchFamily="34" charset="0"/>
              </a:rPr>
              <a:t>, </a:t>
            </a:r>
            <a:r>
              <a:rPr lang="en-US" u="sng" dirty="0" err="1">
                <a:latin typeface="Lucida Sans" pitchFamily="34" charset="0"/>
              </a:rPr>
              <a:t>SectionCode</a:t>
            </a:r>
            <a:r>
              <a:rPr lang="en-US" u="sng" dirty="0">
                <a:latin typeface="Lucida Sans" pitchFamily="34" charset="0"/>
              </a:rPr>
              <a:t>,</a:t>
            </a:r>
            <a:r>
              <a:rPr lang="en-US" dirty="0">
                <a:latin typeface="Lucida Sans" pitchFamily="34" charset="0"/>
              </a:rPr>
              <a:t> </a:t>
            </a:r>
            <a:r>
              <a:rPr lang="en-US" dirty="0" err="1">
                <a:latin typeface="Lucida Sans" pitchFamily="34" charset="0"/>
              </a:rPr>
              <a:t>InstructorNo</a:t>
            </a:r>
            <a:r>
              <a:rPr lang="en-US" dirty="0">
                <a:latin typeface="Lucida Sans" pitchFamily="34" charset="0"/>
              </a:rPr>
              <a:t>, </a:t>
            </a:r>
            <a:r>
              <a:rPr lang="en-US" dirty="0" err="1">
                <a:latin typeface="Lucida Sans" pitchFamily="34" charset="0"/>
              </a:rPr>
              <a:t>InstructorName</a:t>
            </a:r>
            <a:r>
              <a:rPr lang="en-US" dirty="0">
                <a:latin typeface="Lucida Sans" pitchFamily="34" charset="0"/>
              </a:rPr>
              <a:t>, </a:t>
            </a:r>
            <a:r>
              <a:rPr lang="en-US" dirty="0" err="1">
                <a:latin typeface="Lucida Sans" pitchFamily="34" charset="0"/>
              </a:rPr>
              <a:t>SubjectName</a:t>
            </a:r>
            <a:r>
              <a:rPr lang="en-US" dirty="0">
                <a:latin typeface="Lucida Sans" pitchFamily="34" charset="0"/>
              </a:rPr>
              <a:t> ] </a:t>
            </a:r>
          </a:p>
          <a:p>
            <a:pPr marL="285750" indent="-285750"/>
            <a:endParaRPr lang="en-CA" dirty="0"/>
          </a:p>
          <a:p>
            <a:pPr marL="285750" indent="-285750"/>
            <a:r>
              <a:rPr lang="en-US" dirty="0"/>
              <a:t>Relation CLASSLIST contains the partial dependency </a:t>
            </a:r>
          </a:p>
          <a:p>
            <a:pPr marL="742950" lvl="1" indent="-285750"/>
            <a:r>
              <a:rPr lang="en-US" b="1" dirty="0" err="1"/>
              <a:t>SubjectCode</a:t>
            </a:r>
            <a:r>
              <a:rPr lang="en-US" dirty="0"/>
              <a:t> -&gt; </a:t>
            </a:r>
            <a:r>
              <a:rPr lang="en-US" dirty="0" err="1"/>
              <a:t>SubjectName</a:t>
            </a:r>
            <a:r>
              <a:rPr lang="en-US" sz="2800" dirty="0"/>
              <a:t> 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b="1" dirty="0">
                <a:latin typeface="Lucida Sans" pitchFamily="34" charset="0"/>
                <a:cs typeface="Times New Roman" charset="0"/>
              </a:rPr>
              <a:t>  </a:t>
            </a:r>
            <a:r>
              <a:rPr lang="en-US" sz="1900" b="1" dirty="0">
                <a:latin typeface="Lucida Sans" pitchFamily="34" charset="0"/>
                <a:cs typeface="Times New Roman" charset="0"/>
              </a:rPr>
              <a:t>CLASSLISTSTUDENT</a:t>
            </a:r>
            <a:r>
              <a:rPr lang="en-US" sz="1900" dirty="0">
                <a:latin typeface="Lucida Sans" pitchFamily="34" charset="0"/>
              </a:rPr>
              <a:t> [ </a:t>
            </a:r>
            <a:r>
              <a:rPr lang="en-US" sz="1900" u="sng" dirty="0" err="1">
                <a:latin typeface="Lucida Sans" pitchFamily="34" charset="0"/>
              </a:rPr>
              <a:t>SubjectCode</a:t>
            </a:r>
            <a:r>
              <a:rPr lang="en-US" sz="1900" u="sng" dirty="0">
                <a:latin typeface="Lucida Sans" pitchFamily="34" charset="0"/>
              </a:rPr>
              <a:t>, </a:t>
            </a:r>
            <a:r>
              <a:rPr lang="en-US" sz="1900" u="sng" dirty="0" err="1">
                <a:latin typeface="Lucida Sans" pitchFamily="34" charset="0"/>
              </a:rPr>
              <a:t>SectionCode</a:t>
            </a:r>
            <a:r>
              <a:rPr lang="en-US" sz="1900" u="sng" dirty="0">
                <a:latin typeface="Lucida Sans" pitchFamily="34" charset="0"/>
              </a:rPr>
              <a:t>, </a:t>
            </a:r>
            <a:r>
              <a:rPr lang="en-US" sz="1900" u="sng" dirty="0" err="1">
                <a:latin typeface="Lucida Sans" pitchFamily="34" charset="0"/>
              </a:rPr>
              <a:t>StudentNumber</a:t>
            </a:r>
            <a:r>
              <a:rPr lang="en-US" sz="1900" u="sng" dirty="0">
                <a:latin typeface="Lucida Sans" pitchFamily="34" charset="0"/>
              </a:rPr>
              <a:t>,</a:t>
            </a:r>
            <a:r>
              <a:rPr lang="en-US" sz="1900" dirty="0">
                <a:latin typeface="Lucida Sans" pitchFamily="34" charset="0"/>
              </a:rPr>
              <a:t> </a:t>
            </a:r>
            <a:r>
              <a:rPr lang="en-US" sz="1900" dirty="0" err="1">
                <a:latin typeface="Lucida Sans" pitchFamily="34" charset="0"/>
              </a:rPr>
              <a:t>StudentName</a:t>
            </a:r>
            <a:r>
              <a:rPr lang="en-US" sz="1900" dirty="0">
                <a:latin typeface="Lucida Sans" pitchFamily="34" charset="0"/>
              </a:rPr>
              <a:t> ] </a:t>
            </a:r>
            <a:endParaRPr lang="en-US" sz="1900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contains the partial dependency </a:t>
            </a:r>
          </a:p>
          <a:p>
            <a:pPr marL="742950" lvl="1" indent="-285750"/>
            <a:r>
              <a:rPr lang="en-US" b="1" dirty="0" err="1"/>
              <a:t>StudentNumber</a:t>
            </a:r>
            <a:r>
              <a:rPr lang="en-US" dirty="0"/>
              <a:t>-&gt; </a:t>
            </a:r>
            <a:r>
              <a:rPr lang="en-US" dirty="0" err="1"/>
              <a:t>StudentName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76676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2NF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new relation(s) consisting of part of the primary key and all attributes whose values are determined by this part of the primary key: 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200" b="1" dirty="0">
                <a:latin typeface="Lucida Sans" pitchFamily="34" charset="0"/>
              </a:rPr>
              <a:t>SUBJECT</a:t>
            </a:r>
            <a:r>
              <a:rPr lang="en-US" sz="2200" dirty="0">
                <a:latin typeface="Lucida Sans" pitchFamily="34" charset="0"/>
              </a:rPr>
              <a:t> [</a:t>
            </a:r>
            <a:r>
              <a:rPr lang="en-US" sz="2200" u="sng" dirty="0" err="1">
                <a:latin typeface="Lucida Sans" pitchFamily="34" charset="0"/>
              </a:rPr>
              <a:t>SubjectCode</a:t>
            </a:r>
            <a:r>
              <a:rPr lang="en-US" sz="2200" dirty="0">
                <a:latin typeface="Lucida Sans" pitchFamily="34" charset="0"/>
              </a:rPr>
              <a:t>, </a:t>
            </a:r>
            <a:r>
              <a:rPr lang="en-US" sz="2200" dirty="0" err="1">
                <a:latin typeface="Lucida Sans" pitchFamily="34" charset="0"/>
              </a:rPr>
              <a:t>SubjectName</a:t>
            </a:r>
            <a:r>
              <a:rPr lang="en-US" sz="2200" dirty="0">
                <a:latin typeface="Lucida Sans" pitchFamily="34" charset="0"/>
              </a:rPr>
              <a:t> ] </a:t>
            </a:r>
          </a:p>
          <a:p>
            <a:pPr marL="0" indent="0">
              <a:buNone/>
            </a:pPr>
            <a:endParaRPr lang="en-US" sz="2600" dirty="0">
              <a:latin typeface="Lucida Sans" pitchFamily="34" charset="0"/>
            </a:endParaRPr>
          </a:p>
          <a:p>
            <a:pPr marL="457200" lvl="1" indent="0">
              <a:buNone/>
            </a:pPr>
            <a:r>
              <a:rPr lang="en-US" sz="2200" b="1" dirty="0">
                <a:latin typeface="Lucida Sans" pitchFamily="34" charset="0"/>
                <a:cs typeface="Times New Roman" charset="0"/>
              </a:rPr>
              <a:t>STUDENT</a:t>
            </a:r>
            <a:r>
              <a:rPr lang="en-US" sz="2200" dirty="0">
                <a:latin typeface="Lucida Sans" pitchFamily="34" charset="0"/>
              </a:rPr>
              <a:t> [</a:t>
            </a:r>
            <a:r>
              <a:rPr lang="en-US" sz="2200" u="sng" dirty="0" err="1">
                <a:latin typeface="Lucida Sans" pitchFamily="34" charset="0"/>
              </a:rPr>
              <a:t>StudentNumber</a:t>
            </a:r>
            <a:r>
              <a:rPr lang="en-US" sz="2200" u="sng" dirty="0">
                <a:latin typeface="Lucida Sans" pitchFamily="34" charset="0"/>
              </a:rPr>
              <a:t>,</a:t>
            </a:r>
            <a:r>
              <a:rPr lang="en-US" sz="2200" dirty="0">
                <a:latin typeface="Lucida Sans" pitchFamily="34" charset="0"/>
              </a:rPr>
              <a:t> </a:t>
            </a:r>
            <a:r>
              <a:rPr lang="en-US" sz="2200" dirty="0" err="1">
                <a:latin typeface="Lucida Sans" pitchFamily="34" charset="0"/>
              </a:rPr>
              <a:t>StudentName</a:t>
            </a:r>
            <a:r>
              <a:rPr lang="en-US" sz="2200" dirty="0">
                <a:latin typeface="Lucida Sans" pitchFamily="34" charset="0"/>
              </a:rPr>
              <a:t> ] </a:t>
            </a:r>
          </a:p>
          <a:p>
            <a:endParaRPr lang="en-US" dirty="0">
              <a:latin typeface="Lucida Sans" pitchFamily="34" charset="0"/>
            </a:endParaRPr>
          </a:p>
          <a:p>
            <a:r>
              <a:rPr lang="en-US" dirty="0"/>
              <a:t>Restate original relation(s) without partially dependent attributes: 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1700" b="1" dirty="0">
                <a:latin typeface="Lucida Sans" pitchFamily="34" charset="0"/>
                <a:cs typeface="Times New Roman" charset="0"/>
              </a:rPr>
              <a:t>CLASSLISTSTUDENT</a:t>
            </a:r>
            <a:r>
              <a:rPr lang="en-US" sz="1700" dirty="0">
                <a:latin typeface="Lucida Sans" pitchFamily="34" charset="0"/>
              </a:rPr>
              <a:t> [ </a:t>
            </a:r>
            <a:r>
              <a:rPr lang="en-US" sz="1700" u="sng" dirty="0" err="1">
                <a:latin typeface="Lucida Sans" pitchFamily="34" charset="0"/>
              </a:rPr>
              <a:t>SubjectCodeFK</a:t>
            </a:r>
            <a:r>
              <a:rPr lang="en-US" sz="1700" u="sng" dirty="0">
                <a:latin typeface="Lucida Sans" pitchFamily="34" charset="0"/>
              </a:rPr>
              <a:t>, </a:t>
            </a:r>
            <a:r>
              <a:rPr lang="en-US" sz="1700" u="sng" dirty="0" err="1">
                <a:latin typeface="Lucida Sans" pitchFamily="34" charset="0"/>
              </a:rPr>
              <a:t>SectionCodeFK</a:t>
            </a:r>
            <a:r>
              <a:rPr lang="en-US" sz="1700" u="sng" dirty="0">
                <a:latin typeface="Lucida Sans" pitchFamily="34" charset="0"/>
              </a:rPr>
              <a:t>, </a:t>
            </a:r>
            <a:r>
              <a:rPr lang="en-US" sz="1700" u="sng" dirty="0" err="1">
                <a:latin typeface="Lucida Sans" pitchFamily="34" charset="0"/>
              </a:rPr>
              <a:t>StudentNumberFK</a:t>
            </a:r>
            <a:r>
              <a:rPr lang="en-US" sz="1700" dirty="0">
                <a:latin typeface="Lucida Sans" pitchFamily="34" charset="0"/>
              </a:rPr>
              <a:t> ] </a:t>
            </a:r>
          </a:p>
          <a:p>
            <a:endParaRPr lang="en-US" sz="2300" dirty="0">
              <a:latin typeface="Lucida Sans" pitchFamily="34" charset="0"/>
            </a:endParaRPr>
          </a:p>
          <a:p>
            <a:pPr marL="457200" lvl="1" indent="0">
              <a:buNone/>
            </a:pPr>
            <a:r>
              <a:rPr lang="en-US" sz="1900" b="1" dirty="0">
                <a:latin typeface="Lucida Sans" pitchFamily="34" charset="0"/>
                <a:cs typeface="Times New Roman" charset="0"/>
              </a:rPr>
              <a:t>CLASSLIST</a:t>
            </a:r>
            <a:r>
              <a:rPr lang="en-US" sz="1900" dirty="0">
                <a:latin typeface="Lucida Sans" pitchFamily="34" charset="0"/>
              </a:rPr>
              <a:t> [ </a:t>
            </a:r>
            <a:r>
              <a:rPr lang="en-US" sz="1900" u="sng" dirty="0" err="1">
                <a:latin typeface="Lucida Sans" pitchFamily="34" charset="0"/>
              </a:rPr>
              <a:t>SubjectCode</a:t>
            </a:r>
            <a:r>
              <a:rPr lang="en-US" sz="1900" u="sng" dirty="0">
                <a:latin typeface="Lucida Sans" pitchFamily="34" charset="0"/>
              </a:rPr>
              <a:t>, </a:t>
            </a:r>
            <a:r>
              <a:rPr lang="en-US" sz="1900" u="sng" dirty="0" err="1">
                <a:latin typeface="Lucida Sans" pitchFamily="34" charset="0"/>
              </a:rPr>
              <a:t>SectionCode</a:t>
            </a:r>
            <a:r>
              <a:rPr lang="en-US" sz="1900" u="sng" dirty="0">
                <a:latin typeface="Lucida Sans" pitchFamily="34" charset="0"/>
              </a:rPr>
              <a:t>,</a:t>
            </a:r>
            <a:r>
              <a:rPr lang="en-US" sz="1900" dirty="0">
                <a:latin typeface="Lucida Sans" pitchFamily="34" charset="0"/>
              </a:rPr>
              <a:t> </a:t>
            </a:r>
            <a:r>
              <a:rPr lang="en-US" sz="1900" dirty="0" err="1">
                <a:latin typeface="Lucida Sans" pitchFamily="34" charset="0"/>
              </a:rPr>
              <a:t>InstructorNo</a:t>
            </a:r>
            <a:r>
              <a:rPr lang="en-US" sz="1900" dirty="0">
                <a:latin typeface="Lucida Sans" pitchFamily="34" charset="0"/>
              </a:rPr>
              <a:t>, </a:t>
            </a:r>
            <a:r>
              <a:rPr lang="en-US" sz="1900" dirty="0" err="1">
                <a:latin typeface="Lucida Sans" pitchFamily="34" charset="0"/>
              </a:rPr>
              <a:t>InstructorName</a:t>
            </a:r>
            <a:r>
              <a:rPr lang="en-US" sz="1900" dirty="0">
                <a:latin typeface="Lucida Sans" pitchFamily="34" charset="0"/>
              </a:rPr>
              <a:t> ]</a:t>
            </a:r>
            <a:endParaRPr lang="en-CA" sz="1900" dirty="0"/>
          </a:p>
        </p:txBody>
      </p:sp>
    </p:spTree>
    <p:extLst>
      <p:ext uri="{BB962C8B-B14F-4D97-AF65-F5344CB8AC3E}">
        <p14:creationId xmlns:p14="http://schemas.microsoft.com/office/powerpoint/2010/main" val="3820845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3NF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2NF relation is in 3NF when </a:t>
            </a:r>
          </a:p>
          <a:p>
            <a:pPr lvl="1"/>
            <a:r>
              <a:rPr lang="en-US" dirty="0"/>
              <a:t>the primary key and nothing but the primary key can be used to determine the value of each non-key attribute </a:t>
            </a:r>
          </a:p>
          <a:p>
            <a:pPr lvl="1"/>
            <a:r>
              <a:rPr lang="en-US" dirty="0"/>
              <a:t>(i.e. relation has transitive dependencies – attributes whose values can be determined by knowing something other than the key)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88960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2NF to 3NF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600" dirty="0">
                <a:latin typeface="Lucida Sans" pitchFamily="34" charset="0"/>
              </a:rPr>
              <a:t>2NF Relations: </a:t>
            </a:r>
            <a:br>
              <a:rPr lang="en-US" sz="2600" dirty="0">
                <a:latin typeface="Lucida Sans" pitchFamily="34" charset="0"/>
              </a:rPr>
            </a:br>
            <a:endParaRPr lang="en-US" sz="2600" dirty="0">
              <a:latin typeface="Lucida Sans" pitchFamily="34" charset="0"/>
            </a:endParaRPr>
          </a:p>
          <a:p>
            <a:pPr marL="457200" lvl="1" indent="0">
              <a:buNone/>
            </a:pPr>
            <a:r>
              <a:rPr lang="en-US" sz="1900" b="1" dirty="0">
                <a:latin typeface="Lucida Sans" pitchFamily="34" charset="0"/>
                <a:cs typeface="Times New Roman" charset="0"/>
              </a:rPr>
              <a:t>CLASSLISTSTUDENT</a:t>
            </a:r>
            <a:r>
              <a:rPr lang="en-US" sz="1900" dirty="0">
                <a:latin typeface="Lucida Sans" pitchFamily="34" charset="0"/>
              </a:rPr>
              <a:t> [ </a:t>
            </a:r>
            <a:r>
              <a:rPr lang="en-US" sz="1900" u="sng" dirty="0" err="1">
                <a:latin typeface="Lucida Sans" pitchFamily="34" charset="0"/>
              </a:rPr>
              <a:t>SubjectCodeFK</a:t>
            </a:r>
            <a:r>
              <a:rPr lang="en-US" sz="1900" u="sng" dirty="0">
                <a:latin typeface="Lucida Sans" pitchFamily="34" charset="0"/>
              </a:rPr>
              <a:t>, </a:t>
            </a:r>
            <a:r>
              <a:rPr lang="en-US" sz="1900" u="sng" dirty="0" err="1">
                <a:latin typeface="Lucida Sans" pitchFamily="34" charset="0"/>
              </a:rPr>
              <a:t>SectionCodeFK</a:t>
            </a:r>
            <a:r>
              <a:rPr lang="en-US" sz="1900" u="sng" dirty="0">
                <a:latin typeface="Lucida Sans" pitchFamily="34" charset="0"/>
              </a:rPr>
              <a:t>, </a:t>
            </a:r>
            <a:r>
              <a:rPr lang="en-US" sz="1900" u="sng" dirty="0" err="1">
                <a:latin typeface="Lucida Sans" pitchFamily="34" charset="0"/>
              </a:rPr>
              <a:t>StudentNumberFK</a:t>
            </a:r>
            <a:r>
              <a:rPr lang="en-US" sz="1900" dirty="0">
                <a:latin typeface="Lucida Sans" pitchFamily="34" charset="0"/>
              </a:rPr>
              <a:t> ]  </a:t>
            </a:r>
          </a:p>
          <a:p>
            <a:pPr marL="457200" lvl="1" indent="0">
              <a:buNone/>
            </a:pPr>
            <a:r>
              <a:rPr lang="en-US" sz="1900" b="1" dirty="0">
                <a:latin typeface="Lucida Sans" pitchFamily="34" charset="0"/>
                <a:cs typeface="Times New Roman" charset="0"/>
              </a:rPr>
              <a:t>CLASSLIST</a:t>
            </a:r>
            <a:r>
              <a:rPr lang="en-US" sz="1900" dirty="0">
                <a:latin typeface="Lucida Sans" pitchFamily="34" charset="0"/>
              </a:rPr>
              <a:t> [ </a:t>
            </a:r>
            <a:r>
              <a:rPr lang="en-US" sz="1900" u="sng" dirty="0" err="1">
                <a:latin typeface="Lucida Sans" pitchFamily="34" charset="0"/>
              </a:rPr>
              <a:t>SubjectCodeFK</a:t>
            </a:r>
            <a:r>
              <a:rPr lang="en-US" sz="1900" u="sng" dirty="0">
                <a:latin typeface="Lucida Sans" pitchFamily="34" charset="0"/>
              </a:rPr>
              <a:t>, </a:t>
            </a:r>
            <a:r>
              <a:rPr lang="en-US" sz="1900" u="sng" dirty="0" err="1">
                <a:latin typeface="Lucida Sans" pitchFamily="34" charset="0"/>
              </a:rPr>
              <a:t>SectionCode</a:t>
            </a:r>
            <a:r>
              <a:rPr lang="en-US" sz="1900" u="sng" dirty="0">
                <a:latin typeface="Lucida Sans" pitchFamily="34" charset="0"/>
              </a:rPr>
              <a:t>,</a:t>
            </a:r>
            <a:r>
              <a:rPr lang="en-US" sz="1900" dirty="0">
                <a:latin typeface="Lucida Sans" pitchFamily="34" charset="0"/>
              </a:rPr>
              <a:t> </a:t>
            </a:r>
            <a:r>
              <a:rPr lang="en-US" sz="1900" dirty="0" err="1">
                <a:latin typeface="Lucida Sans" pitchFamily="34" charset="0"/>
              </a:rPr>
              <a:t>InstructorNo</a:t>
            </a:r>
            <a:r>
              <a:rPr lang="en-US" sz="1900" dirty="0">
                <a:latin typeface="Lucida Sans" pitchFamily="34" charset="0"/>
              </a:rPr>
              <a:t>, </a:t>
            </a:r>
            <a:r>
              <a:rPr lang="en-US" sz="1900" dirty="0" err="1">
                <a:latin typeface="Lucida Sans" pitchFamily="34" charset="0"/>
              </a:rPr>
              <a:t>InstructorName</a:t>
            </a:r>
            <a:r>
              <a:rPr lang="en-US" sz="1900" dirty="0">
                <a:latin typeface="Lucida Sans" pitchFamily="34" charset="0"/>
              </a:rPr>
              <a:t> ] </a:t>
            </a:r>
          </a:p>
          <a:p>
            <a:pPr marL="457200" lvl="1" indent="0">
              <a:buNone/>
            </a:pPr>
            <a:r>
              <a:rPr lang="en-US" sz="1900" b="1" dirty="0">
                <a:latin typeface="Lucida Sans" pitchFamily="34" charset="0"/>
              </a:rPr>
              <a:t>SUBJECT</a:t>
            </a:r>
            <a:r>
              <a:rPr lang="en-US" sz="1900" dirty="0">
                <a:latin typeface="Lucida Sans" pitchFamily="34" charset="0"/>
              </a:rPr>
              <a:t> [</a:t>
            </a:r>
            <a:r>
              <a:rPr lang="en-US" sz="1900" u="sng" dirty="0" err="1">
                <a:latin typeface="Lucida Sans" pitchFamily="34" charset="0"/>
              </a:rPr>
              <a:t>SubjectCode</a:t>
            </a:r>
            <a:r>
              <a:rPr lang="en-US" sz="1900" dirty="0">
                <a:latin typeface="Lucida Sans" pitchFamily="34" charset="0"/>
              </a:rPr>
              <a:t>, </a:t>
            </a:r>
            <a:r>
              <a:rPr lang="en-US" sz="1900" dirty="0" err="1">
                <a:latin typeface="Lucida Sans" pitchFamily="34" charset="0"/>
              </a:rPr>
              <a:t>SubjectName</a:t>
            </a:r>
            <a:r>
              <a:rPr lang="en-US" sz="1900" dirty="0">
                <a:latin typeface="Lucida Sans" pitchFamily="34" charset="0"/>
              </a:rPr>
              <a:t> ]</a:t>
            </a:r>
          </a:p>
          <a:p>
            <a:pPr marL="457200" lvl="1" indent="0">
              <a:buNone/>
            </a:pPr>
            <a:r>
              <a:rPr lang="en-US" sz="1900" b="1" dirty="0">
                <a:latin typeface="Lucida Sans" pitchFamily="34" charset="0"/>
                <a:cs typeface="Times New Roman" charset="0"/>
              </a:rPr>
              <a:t>STUDENT</a:t>
            </a:r>
            <a:r>
              <a:rPr lang="en-US" sz="1900" dirty="0">
                <a:latin typeface="Lucida Sans" pitchFamily="34" charset="0"/>
              </a:rPr>
              <a:t> [</a:t>
            </a:r>
            <a:r>
              <a:rPr lang="en-US" sz="1900" u="sng" dirty="0" err="1">
                <a:latin typeface="Lucida Sans" pitchFamily="34" charset="0"/>
              </a:rPr>
              <a:t>StudentNumber</a:t>
            </a:r>
            <a:r>
              <a:rPr lang="en-US" sz="1900" u="sng" dirty="0">
                <a:latin typeface="Lucida Sans" pitchFamily="34" charset="0"/>
              </a:rPr>
              <a:t>,</a:t>
            </a:r>
            <a:r>
              <a:rPr lang="en-US" sz="1900" dirty="0">
                <a:latin typeface="Lucida Sans" pitchFamily="34" charset="0"/>
              </a:rPr>
              <a:t> </a:t>
            </a:r>
            <a:r>
              <a:rPr lang="en-US" sz="1900" dirty="0" err="1">
                <a:latin typeface="Lucida Sans" pitchFamily="34" charset="0"/>
              </a:rPr>
              <a:t>StudentName</a:t>
            </a:r>
            <a:r>
              <a:rPr lang="en-US" sz="1900" dirty="0">
                <a:latin typeface="Lucida Sans" pitchFamily="34" charset="0"/>
              </a:rPr>
              <a:t> ]</a:t>
            </a:r>
            <a:br>
              <a:rPr lang="en-US" sz="1900" dirty="0">
                <a:latin typeface="Lucida Sans" pitchFamily="34" charset="0"/>
              </a:rPr>
            </a:br>
            <a:endParaRPr lang="en-US" sz="1900" dirty="0">
              <a:latin typeface="Lucida Sans" pitchFamily="34" charset="0"/>
            </a:endParaRPr>
          </a:p>
          <a:p>
            <a:r>
              <a:rPr lang="en-US" sz="2400" dirty="0">
                <a:latin typeface="Lucida Sans" pitchFamily="34" charset="0"/>
              </a:rPr>
              <a:t>In CLASSLIST the Instructor Name is determined by </a:t>
            </a:r>
            <a:r>
              <a:rPr lang="en-US" sz="2400" dirty="0" err="1">
                <a:latin typeface="Lucida Sans" pitchFamily="34" charset="0"/>
              </a:rPr>
              <a:t>InstructorNo</a:t>
            </a:r>
            <a:r>
              <a:rPr lang="en-US" sz="2400" dirty="0">
                <a:latin typeface="Lucida Sans" pitchFamily="34" charset="0"/>
              </a:rPr>
              <a:t> so create the new relation:  </a:t>
            </a:r>
            <a:br>
              <a:rPr lang="en-US" sz="2400" dirty="0">
                <a:latin typeface="Lucida Sans" pitchFamily="34" charset="0"/>
              </a:rPr>
            </a:br>
            <a:endParaRPr lang="en-US" sz="2400" dirty="0">
              <a:latin typeface="Lucida Sans" pitchFamily="34" charset="0"/>
            </a:endParaRPr>
          </a:p>
          <a:p>
            <a:pPr marL="457200" lvl="1" indent="0">
              <a:buNone/>
            </a:pPr>
            <a:r>
              <a:rPr lang="en-US" sz="1900" b="1" dirty="0">
                <a:latin typeface="Lucida Sans" pitchFamily="34" charset="0"/>
              </a:rPr>
              <a:t>INSTRUCTOR</a:t>
            </a:r>
            <a:r>
              <a:rPr lang="en-US" sz="1900" dirty="0">
                <a:latin typeface="Lucida Sans" pitchFamily="34" charset="0"/>
              </a:rPr>
              <a:t> [</a:t>
            </a:r>
            <a:r>
              <a:rPr lang="en-US" sz="1900" dirty="0" err="1">
                <a:latin typeface="Lucida Sans" pitchFamily="34" charset="0"/>
              </a:rPr>
              <a:t>InstructorNo</a:t>
            </a:r>
            <a:r>
              <a:rPr lang="en-US" sz="1900" dirty="0">
                <a:latin typeface="Lucida Sans" pitchFamily="34" charset="0"/>
              </a:rPr>
              <a:t>, </a:t>
            </a:r>
            <a:r>
              <a:rPr lang="en-US" sz="1900" dirty="0" err="1">
                <a:latin typeface="Lucida Sans" pitchFamily="34" charset="0"/>
              </a:rPr>
              <a:t>InstructorName</a:t>
            </a:r>
            <a:r>
              <a:rPr lang="en-US" sz="1900" dirty="0">
                <a:latin typeface="Lucida Sans" pitchFamily="34" charset="0"/>
              </a:rPr>
              <a:t> ]</a:t>
            </a:r>
            <a:br>
              <a:rPr lang="en-US" sz="1900" dirty="0">
                <a:latin typeface="Lucida Sans" pitchFamily="34" charset="0"/>
              </a:rPr>
            </a:br>
            <a:endParaRPr lang="en-US" sz="1900" dirty="0">
              <a:latin typeface="Lucida Sans" pitchFamily="34" charset="0"/>
            </a:endParaRPr>
          </a:p>
          <a:p>
            <a:r>
              <a:rPr lang="en-US" sz="2600" dirty="0">
                <a:latin typeface="Lucida Sans" pitchFamily="34" charset="0"/>
              </a:rPr>
              <a:t>Remove the transitive dependency</a:t>
            </a:r>
            <a:br>
              <a:rPr lang="en-US" sz="2600" dirty="0">
                <a:latin typeface="Lucida Sans" pitchFamily="34" charset="0"/>
              </a:rPr>
            </a:br>
            <a:endParaRPr lang="en-US" sz="2600" dirty="0">
              <a:latin typeface="Lucida Sans" pitchFamily="34" charset="0"/>
            </a:endParaRPr>
          </a:p>
          <a:p>
            <a:pPr marL="457200" lvl="1" indent="0">
              <a:buNone/>
            </a:pPr>
            <a:r>
              <a:rPr lang="en-US" sz="1900" b="1" dirty="0">
                <a:latin typeface="Lucida Sans" pitchFamily="34" charset="0"/>
              </a:rPr>
              <a:t>CLASSLIST</a:t>
            </a:r>
            <a:r>
              <a:rPr lang="en-US" sz="1900" dirty="0">
                <a:latin typeface="Lucida Sans" pitchFamily="34" charset="0"/>
              </a:rPr>
              <a:t> [ </a:t>
            </a:r>
            <a:r>
              <a:rPr lang="en-US" sz="1900" dirty="0" err="1">
                <a:latin typeface="Lucida Sans" pitchFamily="34" charset="0"/>
              </a:rPr>
              <a:t>SubjectCodeFK</a:t>
            </a:r>
            <a:r>
              <a:rPr lang="en-US" sz="1900" dirty="0">
                <a:latin typeface="Lucida Sans" pitchFamily="34" charset="0"/>
              </a:rPr>
              <a:t>, </a:t>
            </a:r>
            <a:r>
              <a:rPr lang="en-US" sz="1900" dirty="0" err="1">
                <a:latin typeface="Lucida Sans" pitchFamily="34" charset="0"/>
              </a:rPr>
              <a:t>SectionCode</a:t>
            </a:r>
            <a:r>
              <a:rPr lang="en-US" sz="1900" dirty="0">
                <a:latin typeface="Lucida Sans" pitchFamily="34" charset="0"/>
              </a:rPr>
              <a:t>, </a:t>
            </a:r>
            <a:r>
              <a:rPr lang="en-US" sz="1900" dirty="0" err="1">
                <a:latin typeface="Lucida Sans" pitchFamily="34" charset="0"/>
              </a:rPr>
              <a:t>InstructorNoFK</a:t>
            </a:r>
            <a:r>
              <a:rPr lang="en-US" sz="1900" dirty="0">
                <a:latin typeface="Lucida Sans" pitchFamily="34" charset="0"/>
              </a:rPr>
              <a:t> ]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73314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3NF Relations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Set of 3NF Relations for the Class List </a:t>
            </a:r>
            <a:r>
              <a:rPr lang="en-US" sz="4000" dirty="0" err="1"/>
              <a:t>Userview</a:t>
            </a:r>
            <a:r>
              <a:rPr lang="en-US" sz="4000" dirty="0"/>
              <a:t>:</a:t>
            </a:r>
          </a:p>
          <a:p>
            <a:pPr>
              <a:buNone/>
            </a:pPr>
            <a:r>
              <a:rPr lang="en-US" sz="3600" dirty="0">
                <a:latin typeface="Lucida Sans" pitchFamily="34" charset="0"/>
              </a:rPr>
              <a:t>  </a:t>
            </a:r>
            <a:r>
              <a:rPr lang="en-US" sz="2400" b="1" dirty="0">
                <a:latin typeface="Lucida Sans" pitchFamily="34" charset="0"/>
                <a:cs typeface="Times New Roman" charset="0"/>
              </a:rPr>
              <a:t>CLASSLIST</a:t>
            </a:r>
            <a:r>
              <a:rPr lang="en-US" sz="2400" dirty="0">
                <a:latin typeface="Lucida Sans" pitchFamily="34" charset="0"/>
              </a:rPr>
              <a:t> [ </a:t>
            </a:r>
            <a:r>
              <a:rPr lang="en-US" sz="2400" u="sng" dirty="0" err="1">
                <a:latin typeface="Lucida Sans" pitchFamily="34" charset="0"/>
              </a:rPr>
              <a:t>SubjectCode</a:t>
            </a:r>
            <a:r>
              <a:rPr lang="en-US" sz="2400" u="sng" dirty="0">
                <a:latin typeface="Lucida Sans" pitchFamily="34" charset="0"/>
              </a:rPr>
              <a:t>(FK), </a:t>
            </a:r>
            <a:r>
              <a:rPr lang="en-US" sz="2400" u="sng" dirty="0" err="1">
                <a:latin typeface="Lucida Sans" pitchFamily="34" charset="0"/>
              </a:rPr>
              <a:t>SectionCode</a:t>
            </a:r>
            <a:r>
              <a:rPr lang="en-US" sz="2400" u="sng" dirty="0">
                <a:latin typeface="Lucida Sans" pitchFamily="34" charset="0"/>
              </a:rPr>
              <a:t>(FK),</a:t>
            </a:r>
            <a:r>
              <a:rPr lang="en-US" sz="2400" dirty="0">
                <a:latin typeface="Lucida Sans" pitchFamily="34" charset="0"/>
              </a:rPr>
              <a:t> </a:t>
            </a:r>
            <a:r>
              <a:rPr lang="en-US" sz="2400" dirty="0" err="1">
                <a:latin typeface="Lucida Sans" pitchFamily="34" charset="0"/>
              </a:rPr>
              <a:t>InstructorNo</a:t>
            </a:r>
            <a:r>
              <a:rPr lang="en-US" sz="2400" dirty="0">
                <a:latin typeface="Lucida Sans" pitchFamily="34" charset="0"/>
              </a:rPr>
              <a:t>(FK) ]</a:t>
            </a:r>
            <a:endParaRPr lang="en-US" sz="2400" dirty="0">
              <a:latin typeface="Lucida Sans" pitchFamily="34" charset="0"/>
              <a:cs typeface="Times New Roman" charset="0"/>
            </a:endParaRPr>
          </a:p>
          <a:p>
            <a:pPr>
              <a:buNone/>
            </a:pPr>
            <a:r>
              <a:rPr lang="en-US" sz="2400" dirty="0">
                <a:latin typeface="Lucida Sans" pitchFamily="34" charset="0"/>
                <a:cs typeface="Times New Roman" charset="0"/>
              </a:rPr>
              <a:t>   </a:t>
            </a:r>
            <a:r>
              <a:rPr lang="en-US" sz="2400" b="1" dirty="0">
                <a:latin typeface="Lucida Sans" pitchFamily="34" charset="0"/>
                <a:cs typeface="Times New Roman" charset="0"/>
              </a:rPr>
              <a:t>CLASSLISTSTUDENT</a:t>
            </a:r>
            <a:r>
              <a:rPr lang="en-US" sz="2400" dirty="0">
                <a:latin typeface="Lucida Sans" pitchFamily="34" charset="0"/>
              </a:rPr>
              <a:t> [ </a:t>
            </a:r>
            <a:r>
              <a:rPr lang="en-US" sz="2400" u="sng" dirty="0" err="1">
                <a:latin typeface="Lucida Sans" pitchFamily="34" charset="0"/>
              </a:rPr>
              <a:t>SubjectCode</a:t>
            </a:r>
            <a:r>
              <a:rPr lang="en-US" sz="2400" u="sng" dirty="0">
                <a:latin typeface="Lucida Sans" pitchFamily="34" charset="0"/>
              </a:rPr>
              <a:t>, </a:t>
            </a:r>
            <a:r>
              <a:rPr lang="en-US" sz="2400" u="sng" dirty="0" err="1">
                <a:latin typeface="Lucida Sans" pitchFamily="34" charset="0"/>
              </a:rPr>
              <a:t>SectionCode</a:t>
            </a:r>
            <a:r>
              <a:rPr lang="en-US" sz="2400" u="sng" dirty="0">
                <a:latin typeface="Lucida Sans" pitchFamily="34" charset="0"/>
              </a:rPr>
              <a:t>, </a:t>
            </a:r>
            <a:r>
              <a:rPr lang="en-US" sz="2400" u="sng" dirty="0" err="1">
                <a:latin typeface="Lucida Sans" pitchFamily="34" charset="0"/>
              </a:rPr>
              <a:t>StudentNumber</a:t>
            </a:r>
            <a:r>
              <a:rPr lang="en-US" sz="2400" u="sng" dirty="0">
                <a:latin typeface="Lucida Sans" pitchFamily="34" charset="0"/>
              </a:rPr>
              <a:t>(FK)</a:t>
            </a:r>
            <a:r>
              <a:rPr lang="en-US" sz="2400" dirty="0">
                <a:latin typeface="Lucida Sans" pitchFamily="34" charset="0"/>
              </a:rPr>
              <a:t> ] </a:t>
            </a:r>
          </a:p>
          <a:p>
            <a:pPr>
              <a:buNone/>
            </a:pPr>
            <a:r>
              <a:rPr lang="en-US" sz="2400" dirty="0">
                <a:latin typeface="Lucida Sans" pitchFamily="34" charset="0"/>
              </a:rPr>
              <a:t>   </a:t>
            </a:r>
            <a:r>
              <a:rPr lang="en-US" sz="2400" b="1" dirty="0">
                <a:latin typeface="Lucida Sans" pitchFamily="34" charset="0"/>
              </a:rPr>
              <a:t>SUBJECT</a:t>
            </a:r>
            <a:r>
              <a:rPr lang="en-US" sz="2400" dirty="0">
                <a:latin typeface="Lucida Sans" pitchFamily="34" charset="0"/>
              </a:rPr>
              <a:t> [</a:t>
            </a:r>
            <a:r>
              <a:rPr lang="en-US" sz="2400" u="sng" dirty="0" err="1">
                <a:latin typeface="Lucida Sans" pitchFamily="34" charset="0"/>
              </a:rPr>
              <a:t>SubjectCode</a:t>
            </a:r>
            <a:r>
              <a:rPr lang="en-US" sz="2400" dirty="0">
                <a:latin typeface="Lucida Sans" pitchFamily="34" charset="0"/>
              </a:rPr>
              <a:t>, </a:t>
            </a:r>
            <a:r>
              <a:rPr lang="en-US" sz="2400" dirty="0" err="1">
                <a:latin typeface="Lucida Sans" pitchFamily="34" charset="0"/>
              </a:rPr>
              <a:t>SubjectName</a:t>
            </a:r>
            <a:r>
              <a:rPr lang="en-US" sz="2400" dirty="0">
                <a:latin typeface="Lucida Sans" pitchFamily="34" charset="0"/>
              </a:rPr>
              <a:t> ] </a:t>
            </a:r>
          </a:p>
          <a:p>
            <a:pPr>
              <a:buNone/>
            </a:pPr>
            <a:r>
              <a:rPr lang="en-US" sz="2400" dirty="0">
                <a:latin typeface="Lucida Sans" pitchFamily="34" charset="0"/>
              </a:rPr>
              <a:t>   </a:t>
            </a:r>
            <a:r>
              <a:rPr lang="en-US" sz="2400" b="1" dirty="0">
                <a:latin typeface="Lucida Sans" pitchFamily="34" charset="0"/>
                <a:cs typeface="Times New Roman" charset="0"/>
              </a:rPr>
              <a:t>STUDENT</a:t>
            </a:r>
            <a:r>
              <a:rPr lang="en-US" sz="2400" dirty="0">
                <a:latin typeface="Lucida Sans" pitchFamily="34" charset="0"/>
              </a:rPr>
              <a:t> [</a:t>
            </a:r>
            <a:r>
              <a:rPr lang="en-US" sz="2400" u="sng" dirty="0" err="1">
                <a:latin typeface="Lucida Sans" pitchFamily="34" charset="0"/>
              </a:rPr>
              <a:t>StudentNumber</a:t>
            </a:r>
            <a:r>
              <a:rPr lang="en-US" sz="2400" u="sng" dirty="0">
                <a:latin typeface="Lucida Sans" pitchFamily="34" charset="0"/>
              </a:rPr>
              <a:t>,</a:t>
            </a:r>
            <a:r>
              <a:rPr lang="en-US" sz="2400" dirty="0">
                <a:latin typeface="Lucida Sans" pitchFamily="34" charset="0"/>
              </a:rPr>
              <a:t> </a:t>
            </a:r>
            <a:r>
              <a:rPr lang="en-US" sz="2400" dirty="0" err="1">
                <a:latin typeface="Lucida Sans" pitchFamily="34" charset="0"/>
              </a:rPr>
              <a:t>StudentName</a:t>
            </a:r>
            <a:r>
              <a:rPr lang="en-US" sz="2400" dirty="0">
                <a:latin typeface="Lucida Sans" pitchFamily="34" charset="0"/>
              </a:rPr>
              <a:t> ]</a:t>
            </a:r>
          </a:p>
          <a:p>
            <a:pPr>
              <a:buNone/>
            </a:pPr>
            <a:r>
              <a:rPr lang="en-US" sz="2400" dirty="0">
                <a:latin typeface="Lucida Sans" pitchFamily="34" charset="0"/>
              </a:rPr>
              <a:t>   </a:t>
            </a:r>
            <a:r>
              <a:rPr lang="en-US" sz="2400" b="1" dirty="0">
                <a:latin typeface="Lucida Sans" pitchFamily="34" charset="0"/>
                <a:cs typeface="Times New Roman" charset="0"/>
              </a:rPr>
              <a:t>INSTRUCTOR</a:t>
            </a:r>
            <a:r>
              <a:rPr lang="en-US" sz="2400" dirty="0">
                <a:latin typeface="Lucida Sans" pitchFamily="34" charset="0"/>
              </a:rPr>
              <a:t> [</a:t>
            </a:r>
            <a:r>
              <a:rPr lang="en-US" sz="2400" u="sng" dirty="0" err="1">
                <a:latin typeface="Lucida Sans" pitchFamily="34" charset="0"/>
              </a:rPr>
              <a:t>InstructorNo</a:t>
            </a:r>
            <a:r>
              <a:rPr lang="en-US" sz="2400" dirty="0">
                <a:latin typeface="Lucida Sans" pitchFamily="34" charset="0"/>
              </a:rPr>
              <a:t>, </a:t>
            </a:r>
            <a:r>
              <a:rPr lang="en-US" sz="2400" dirty="0" err="1">
                <a:latin typeface="Lucida Sans" pitchFamily="34" charset="0"/>
              </a:rPr>
              <a:t>InstructorName</a:t>
            </a:r>
            <a:r>
              <a:rPr lang="en-US" sz="2400" dirty="0">
                <a:latin typeface="Lucida Sans" pitchFamily="34" charset="0"/>
              </a:rPr>
              <a:t> ]</a:t>
            </a:r>
            <a:endParaRPr lang="en-US" sz="2400" dirty="0">
              <a:latin typeface="Lucida Sans" pitchFamily="34" charset="0"/>
              <a:cs typeface="Times New Roman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7472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B227-34C8-C8E0-10E9-CC9E2C16F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F62AA-AFED-D7C9-4464-4796B8F15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10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5FDE-3FB2-CA80-C0AC-637CF4CC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4D142-0216-285E-FA26-000116970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62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69CFC-22FE-93D5-DAFB-2F910BA8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941C-0B15-4543-B339-9B57077F7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73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1NF/2NF/3NF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 err="1"/>
              <a:t>unnormalized</a:t>
            </a:r>
            <a:r>
              <a:rPr lang="en-US" dirty="0"/>
              <a:t> </a:t>
            </a:r>
            <a:r>
              <a:rPr lang="en-US" dirty="0" err="1"/>
              <a:t>userview</a:t>
            </a:r>
            <a:r>
              <a:rPr lang="en-US" dirty="0"/>
              <a:t> will always result in one or more relations in 1NF.</a:t>
            </a:r>
          </a:p>
          <a:p>
            <a:r>
              <a:rPr lang="en-US" dirty="0"/>
              <a:t>Each 1NF relation will result in one or more 2NF relations.</a:t>
            </a:r>
          </a:p>
          <a:p>
            <a:r>
              <a:rPr lang="en-US" dirty="0"/>
              <a:t>Each 2NF relation will result in one or more 3NF relations.</a:t>
            </a:r>
          </a:p>
          <a:p>
            <a:r>
              <a:rPr lang="en-US" dirty="0"/>
              <a:t>You can never lose (</a:t>
            </a:r>
            <a:r>
              <a:rPr lang="en-US" dirty="0" err="1"/>
              <a:t>ie</a:t>
            </a:r>
            <a:r>
              <a:rPr lang="en-US" dirty="0"/>
              <a:t> not include) an attribute – it must always be found in one of the relations at each step .</a:t>
            </a:r>
          </a:p>
          <a:p>
            <a:r>
              <a:rPr lang="en-US" dirty="0"/>
              <a:t>You can never lose a relation.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36702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DBDL </a:t>
            </a:r>
            <a:r>
              <a:rPr lang="en-US" sz="2400" dirty="0"/>
              <a:t>(</a:t>
            </a:r>
            <a:r>
              <a:rPr lang="en-CA" sz="2400" dirty="0"/>
              <a:t>Database Designation Language</a:t>
            </a:r>
            <a:r>
              <a:rPr lang="en-US" sz="2400" dirty="0"/>
              <a:t>)</a:t>
            </a:r>
            <a:endParaRPr lang="en-CA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scenario: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2299992" y="2541144"/>
            <a:ext cx="7592016" cy="2920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Each dentist’s office has a unique identifier for insurance companies.  There is a mailing address for the office as well as the name of the head dentist.  There are many patients and each patient has a unique identifier number.</a:t>
            </a:r>
            <a:endParaRPr lang="en-CA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048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DBDL </a:t>
            </a:r>
            <a:r>
              <a:rPr lang="en-US" sz="2400" dirty="0"/>
              <a:t>(Example 1)</a:t>
            </a:r>
            <a:endParaRPr lang="en-CA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the DBDL for the given description: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List Attributes</a:t>
            </a:r>
          </a:p>
          <a:p>
            <a:pPr lvl="1"/>
            <a:r>
              <a:rPr lang="en-US" dirty="0" err="1"/>
              <a:t>OfficeNo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 err="1"/>
              <a:t>MailAddress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HeadDentist</a:t>
            </a:r>
            <a:endParaRPr lang="en-US" dirty="0"/>
          </a:p>
          <a:p>
            <a:pPr lvl="1"/>
            <a:r>
              <a:rPr lang="en-US" dirty="0" err="1"/>
              <a:t>PatientNo</a:t>
            </a:r>
            <a:endParaRPr lang="en-US" dirty="0"/>
          </a:p>
          <a:p>
            <a:pPr lvl="1"/>
            <a:r>
              <a:rPr lang="en-US" dirty="0" err="1"/>
              <a:t>PatientName</a:t>
            </a:r>
            <a:endParaRPr lang="en-US" dirty="0"/>
          </a:p>
          <a:p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4624854" y="2559849"/>
            <a:ext cx="5232378" cy="17679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Each dentist’s office has a unique identifier for insurance companies.  There is a mailing address for the office as well as the name of the head dentist.  There are many patients and each patient has a unique identifier number.</a:t>
            </a:r>
            <a:endParaRPr lang="en-CA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193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DBDL </a:t>
            </a:r>
            <a:r>
              <a:rPr lang="en-US" sz="2400" dirty="0"/>
              <a:t>(Example 1)</a:t>
            </a:r>
            <a:endParaRPr lang="en-CA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Select Primary Key (unique identifier for each row)</a:t>
            </a:r>
          </a:p>
          <a:p>
            <a:pPr marL="457200" lvl="1" indent="0">
              <a:buNone/>
            </a:pPr>
            <a:r>
              <a:rPr lang="en-US" b="1" u="sng" dirty="0" err="1"/>
              <a:t>OfficeNo</a:t>
            </a:r>
            <a:r>
              <a:rPr lang="en-US" dirty="0"/>
              <a:t>, </a:t>
            </a:r>
            <a:r>
              <a:rPr lang="en-US" dirty="0" err="1"/>
              <a:t>MailAddress</a:t>
            </a:r>
            <a:r>
              <a:rPr lang="en-US" dirty="0"/>
              <a:t>, </a:t>
            </a:r>
            <a:r>
              <a:rPr lang="en-US" dirty="0" err="1"/>
              <a:t>HeadDentist,PatientNo</a:t>
            </a:r>
            <a:r>
              <a:rPr lang="en-US" dirty="0"/>
              <a:t>, </a:t>
            </a:r>
            <a:r>
              <a:rPr lang="en-US" dirty="0" err="1"/>
              <a:t>PatientName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Show </a:t>
            </a:r>
            <a:r>
              <a:rPr lang="en-US" dirty="0" err="1"/>
              <a:t>mulit</a:t>
            </a:r>
            <a:r>
              <a:rPr lang="en-US" dirty="0"/>
              <a:t>-valued dependencies</a:t>
            </a:r>
          </a:p>
          <a:p>
            <a:pPr marL="457200" lvl="1" indent="0">
              <a:buNone/>
            </a:pPr>
            <a:r>
              <a:rPr lang="en-US" b="1" u="sng" dirty="0" err="1"/>
              <a:t>OfficeNo</a:t>
            </a:r>
            <a:r>
              <a:rPr lang="en-US" dirty="0" err="1"/>
              <a:t>,MailAddress,HeadDentist</a:t>
            </a:r>
            <a:r>
              <a:rPr lang="en-US" dirty="0"/>
              <a:t>,(</a:t>
            </a:r>
            <a:r>
              <a:rPr lang="en-US" i="1" dirty="0" err="1"/>
              <a:t>PatientNo</a:t>
            </a:r>
            <a:r>
              <a:rPr lang="en-US" i="1" dirty="0"/>
              <a:t>, </a:t>
            </a:r>
            <a:r>
              <a:rPr lang="en-US" i="1" dirty="0" err="1"/>
              <a:t>PatientName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r>
              <a:rPr lang="en-CA" dirty="0"/>
              <a:t>Give the relation a name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200" b="1" dirty="0" err="1"/>
              <a:t>DentistsOffice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FF0000"/>
                </a:solidFill>
              </a:rPr>
              <a:t>[</a:t>
            </a:r>
            <a:r>
              <a:rPr lang="en-US" sz="2200" b="1" u="sng" dirty="0" err="1">
                <a:solidFill>
                  <a:srgbClr val="FF0000"/>
                </a:solidFill>
              </a:rPr>
              <a:t>OfficeNo</a:t>
            </a:r>
            <a:r>
              <a:rPr lang="en-US" sz="2200" dirty="0"/>
              <a:t>, </a:t>
            </a:r>
            <a:r>
              <a:rPr lang="en-US" sz="2200" dirty="0" err="1"/>
              <a:t>MailAddress</a:t>
            </a:r>
            <a:r>
              <a:rPr lang="en-US" sz="2200" dirty="0"/>
              <a:t>, </a:t>
            </a:r>
            <a:r>
              <a:rPr lang="en-US" sz="2200" dirty="0" err="1"/>
              <a:t>HeadDentist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0070C0"/>
                </a:solidFill>
              </a:rPr>
              <a:t>(</a:t>
            </a:r>
            <a:r>
              <a:rPr lang="en-US" sz="2200" dirty="0" err="1">
                <a:solidFill>
                  <a:srgbClr val="0070C0"/>
                </a:solidFill>
              </a:rPr>
              <a:t>PatientNo</a:t>
            </a:r>
            <a:r>
              <a:rPr lang="en-US" sz="2200" dirty="0">
                <a:solidFill>
                  <a:srgbClr val="0070C0"/>
                </a:solidFill>
              </a:rPr>
              <a:t>, </a:t>
            </a:r>
            <a:r>
              <a:rPr lang="en-US" sz="2200" dirty="0" err="1">
                <a:solidFill>
                  <a:srgbClr val="0070C0"/>
                </a:solidFill>
              </a:rPr>
              <a:t>PatientName</a:t>
            </a:r>
            <a:r>
              <a:rPr lang="en-US" sz="2200" dirty="0">
                <a:solidFill>
                  <a:srgbClr val="0070C0"/>
                </a:solidFill>
              </a:rPr>
              <a:t>) </a:t>
            </a:r>
            <a:r>
              <a:rPr lang="en-US" sz="2200" dirty="0"/>
              <a:t>]</a:t>
            </a:r>
          </a:p>
          <a:p>
            <a:r>
              <a:rPr lang="en-US" sz="2400" b="1" dirty="0"/>
              <a:t>We call this 0NF or UNF (</a:t>
            </a:r>
            <a:r>
              <a:rPr lang="en-US" sz="2400" b="1" dirty="0" err="1"/>
              <a:t>Unnormalized</a:t>
            </a:r>
            <a:r>
              <a:rPr lang="en-US" sz="2400" b="1" dirty="0"/>
              <a:t> Form) because there is a multi-valued dependency.</a:t>
            </a:r>
            <a:endParaRPr lang="en-US" sz="2400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83129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UNF to 1NF </a:t>
            </a:r>
            <a:r>
              <a:rPr lang="en-US" sz="3200" dirty="0"/>
              <a:t>(Example 1)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UNF</a:t>
            </a:r>
            <a:r>
              <a:rPr lang="en-US" dirty="0"/>
              <a:t>:</a:t>
            </a:r>
            <a:br>
              <a:rPr lang="en-US" dirty="0"/>
            </a:br>
            <a:r>
              <a:rPr lang="en-US" sz="1600" b="1" dirty="0" err="1"/>
              <a:t>DentistsOffice</a:t>
            </a:r>
            <a:r>
              <a:rPr lang="en-US" sz="1600" dirty="0"/>
              <a:t> [</a:t>
            </a:r>
            <a:r>
              <a:rPr lang="en-US" sz="1600" u="sng" dirty="0" err="1"/>
              <a:t>OfficeNo</a:t>
            </a:r>
            <a:r>
              <a:rPr lang="en-US" sz="1600" dirty="0"/>
              <a:t>, </a:t>
            </a:r>
            <a:r>
              <a:rPr lang="en-US" sz="1600" dirty="0" err="1"/>
              <a:t>MailAddress</a:t>
            </a:r>
            <a:r>
              <a:rPr lang="en-US" sz="1600" dirty="0"/>
              <a:t>, </a:t>
            </a:r>
            <a:r>
              <a:rPr lang="en-US" sz="1600" dirty="0" err="1"/>
              <a:t>HeadDentist</a:t>
            </a:r>
            <a:r>
              <a:rPr lang="en-US" sz="1600" dirty="0"/>
              <a:t>, (</a:t>
            </a:r>
            <a:r>
              <a:rPr lang="en-US" sz="1600" dirty="0" err="1"/>
              <a:t>PatientNo</a:t>
            </a:r>
            <a:r>
              <a:rPr lang="en-US" sz="1600" dirty="0"/>
              <a:t>, </a:t>
            </a:r>
            <a:r>
              <a:rPr lang="en-US" sz="1600" dirty="0" err="1"/>
              <a:t>PatientName</a:t>
            </a:r>
            <a:r>
              <a:rPr lang="en-US" sz="1600" dirty="0"/>
              <a:t>) ]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 Select the Primary Key for the multi-valued dependency.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Create a two-part primary key by concatenating the original PK with the PK of the multi-valued dependency:</a:t>
            </a:r>
          </a:p>
          <a:p>
            <a:r>
              <a:rPr lang="en-US" b="1" dirty="0"/>
              <a:t>1NF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b="1" dirty="0" err="1"/>
              <a:t>DentistsOffice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u="sng" dirty="0" err="1">
                <a:solidFill>
                  <a:srgbClr val="FF0000"/>
                </a:solidFill>
              </a:rPr>
              <a:t>OfficeNo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MailAddress</a:t>
            </a:r>
            <a:r>
              <a:rPr lang="en-US" dirty="0"/>
              <a:t>, </a:t>
            </a:r>
            <a:r>
              <a:rPr lang="en-US" dirty="0" err="1"/>
              <a:t>HeadDentist</a:t>
            </a:r>
            <a:r>
              <a:rPr lang="en-US" dirty="0"/>
              <a:t>,)</a:t>
            </a:r>
          </a:p>
          <a:p>
            <a:pPr marL="0" indent="0">
              <a:buNone/>
            </a:pPr>
            <a:r>
              <a:rPr lang="en-US" dirty="0"/>
              <a:t>       Patient</a:t>
            </a:r>
            <a:r>
              <a:rPr lang="en-US" u="sng" dirty="0"/>
              <a:t>(</a:t>
            </a:r>
            <a:r>
              <a:rPr lang="en-US" u="sng" dirty="0" err="1">
                <a:solidFill>
                  <a:srgbClr val="FF0000"/>
                </a:solidFill>
              </a:rPr>
              <a:t>PatientNo,OfficeNo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/>
              <a:t>PatientName</a:t>
            </a:r>
            <a:r>
              <a:rPr lang="en-US" dirty="0"/>
              <a:t> )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57615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1NF to 2NF </a:t>
            </a:r>
            <a:r>
              <a:rPr lang="en-US" sz="3200" dirty="0"/>
              <a:t>(Example 1)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Look for partial dependencies</a:t>
            </a:r>
          </a:p>
          <a:p>
            <a:r>
              <a:rPr lang="en-US" dirty="0" err="1"/>
              <a:t>MailAddress</a:t>
            </a:r>
            <a:r>
              <a:rPr lang="en-US" dirty="0"/>
              <a:t> is dependent on </a:t>
            </a:r>
            <a:r>
              <a:rPr lang="en-US" dirty="0" err="1"/>
              <a:t>OfficeNo</a:t>
            </a:r>
            <a:endParaRPr lang="en-US" dirty="0"/>
          </a:p>
          <a:p>
            <a:pPr marL="457200" lvl="1" indent="0">
              <a:buNone/>
            </a:pPr>
            <a:r>
              <a:rPr lang="en-US" b="1" dirty="0" err="1"/>
              <a:t>OfficeNo</a:t>
            </a:r>
            <a:r>
              <a:rPr lang="en-US" dirty="0"/>
              <a:t> -&gt; </a:t>
            </a:r>
            <a:r>
              <a:rPr lang="en-US" dirty="0" err="1"/>
              <a:t>MailAddress</a:t>
            </a:r>
            <a:endParaRPr lang="en-US" dirty="0"/>
          </a:p>
          <a:p>
            <a:r>
              <a:rPr lang="en-US" dirty="0" err="1"/>
              <a:t>PatientName</a:t>
            </a:r>
            <a:r>
              <a:rPr lang="en-US" dirty="0"/>
              <a:t> is dependent on </a:t>
            </a:r>
            <a:r>
              <a:rPr lang="en-US" dirty="0" err="1"/>
              <a:t>PatientNo</a:t>
            </a:r>
            <a:endParaRPr lang="en-US" dirty="0"/>
          </a:p>
          <a:p>
            <a:pPr marL="457200" lvl="1" indent="0">
              <a:buNone/>
            </a:pPr>
            <a:r>
              <a:rPr lang="en-US" b="1" dirty="0" err="1"/>
              <a:t>PatientNo</a:t>
            </a:r>
            <a:r>
              <a:rPr lang="en-US" dirty="0"/>
              <a:t> -&gt; </a:t>
            </a:r>
            <a:r>
              <a:rPr lang="en-US" dirty="0" err="1"/>
              <a:t>PatientName</a:t>
            </a:r>
            <a:endParaRPr lang="en-US" dirty="0"/>
          </a:p>
          <a:p>
            <a:r>
              <a:rPr lang="en-US" dirty="0"/>
              <a:t>2NF: Create new relations</a:t>
            </a:r>
          </a:p>
          <a:p>
            <a:pPr marL="457200" lvl="1" indent="0">
              <a:buNone/>
            </a:pPr>
            <a:r>
              <a:rPr lang="en-US" b="1" dirty="0" err="1"/>
              <a:t>OfficePatient</a:t>
            </a:r>
            <a:r>
              <a:rPr lang="en-US" dirty="0"/>
              <a:t>[</a:t>
            </a:r>
            <a:r>
              <a:rPr lang="en-US" u="sng" dirty="0" err="1">
                <a:solidFill>
                  <a:srgbClr val="FF0000"/>
                </a:solidFill>
              </a:rPr>
              <a:t>OfficeNo</a:t>
            </a:r>
            <a:r>
              <a:rPr lang="en-US" u="sng" dirty="0">
                <a:solidFill>
                  <a:srgbClr val="FF0000"/>
                </a:solidFill>
              </a:rPr>
              <a:t>(FK)</a:t>
            </a:r>
            <a:r>
              <a:rPr lang="en-US" dirty="0">
                <a:solidFill>
                  <a:srgbClr val="FF0000"/>
                </a:solidFill>
              </a:rPr>
              <a:t>,</a:t>
            </a:r>
            <a:r>
              <a:rPr lang="en-US" u="sng" dirty="0" err="1">
                <a:solidFill>
                  <a:srgbClr val="FF0000"/>
                </a:solidFill>
              </a:rPr>
              <a:t>PatientNo</a:t>
            </a:r>
            <a:r>
              <a:rPr lang="en-US" u="sng" dirty="0">
                <a:solidFill>
                  <a:srgbClr val="FF0000"/>
                </a:solidFill>
              </a:rPr>
              <a:t>(FK</a:t>
            </a:r>
            <a:r>
              <a:rPr lang="en-US" u="sng" dirty="0"/>
              <a:t>)]</a:t>
            </a:r>
            <a:endParaRPr lang="en-US" dirty="0"/>
          </a:p>
          <a:p>
            <a:pPr marL="457200" lvl="1" indent="0">
              <a:buNone/>
            </a:pPr>
            <a:r>
              <a:rPr lang="en-US" b="1" dirty="0" err="1"/>
              <a:t>DentistsOffice</a:t>
            </a:r>
            <a:r>
              <a:rPr lang="en-US" dirty="0"/>
              <a:t>[ </a:t>
            </a:r>
            <a:r>
              <a:rPr lang="en-US" u="sng" dirty="0" err="1">
                <a:solidFill>
                  <a:srgbClr val="FF0000"/>
                </a:solidFill>
              </a:rPr>
              <a:t>OfficeNo</a:t>
            </a:r>
            <a:r>
              <a:rPr lang="en-US" dirty="0"/>
              <a:t>, </a:t>
            </a:r>
            <a:r>
              <a:rPr lang="en-US" dirty="0" err="1"/>
              <a:t>MailAddress,HeadDentist</a:t>
            </a:r>
            <a:r>
              <a:rPr lang="en-US" dirty="0"/>
              <a:t>]</a:t>
            </a:r>
          </a:p>
          <a:p>
            <a:pPr marL="457200" lvl="1" indent="0">
              <a:buNone/>
            </a:pPr>
            <a:r>
              <a:rPr lang="en-US" b="1" dirty="0"/>
              <a:t>Patient</a:t>
            </a:r>
            <a:r>
              <a:rPr lang="en-US" dirty="0"/>
              <a:t>[</a:t>
            </a:r>
            <a:r>
              <a:rPr lang="en-US" u="sng" dirty="0" err="1">
                <a:solidFill>
                  <a:srgbClr val="FF0000"/>
                </a:solidFill>
              </a:rPr>
              <a:t>PatientNo</a:t>
            </a:r>
            <a:r>
              <a:rPr lang="en-US" dirty="0" err="1">
                <a:solidFill>
                  <a:srgbClr val="FF0000"/>
                </a:solidFill>
              </a:rPr>
              <a:t>,</a:t>
            </a:r>
            <a:r>
              <a:rPr lang="en-US" dirty="0" err="1"/>
              <a:t>PatientName</a:t>
            </a:r>
            <a:r>
              <a:rPr lang="en-US" dirty="0"/>
              <a:t>]</a:t>
            </a:r>
          </a:p>
          <a:p>
            <a:r>
              <a:rPr lang="en-US" dirty="0"/>
              <a:t>Already in 3NF=2NF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3609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UNF to 1NF </a:t>
            </a:r>
            <a:r>
              <a:rPr lang="en-US" sz="3200" dirty="0"/>
              <a:t>(Example 2)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28527"/>
            <a:ext cx="10515600" cy="2448435"/>
          </a:xfrm>
        </p:spPr>
        <p:txBody>
          <a:bodyPr>
            <a:normAutofit/>
          </a:bodyPr>
          <a:lstStyle/>
          <a:p>
            <a:r>
              <a:rPr lang="en-US" dirty="0"/>
              <a:t>UNF</a:t>
            </a:r>
          </a:p>
          <a:p>
            <a:pPr marL="457200" lvl="1" indent="0">
              <a:buNone/>
            </a:pPr>
            <a:r>
              <a:rPr lang="en-US" dirty="0"/>
              <a:t>[</a:t>
            </a:r>
            <a:r>
              <a:rPr lang="en-US" b="1" u="sng" dirty="0"/>
              <a:t>Purchase#</a:t>
            </a:r>
            <a:r>
              <a:rPr lang="en-US" dirty="0"/>
              <a:t>, date, </a:t>
            </a:r>
            <a:r>
              <a:rPr lang="en-US" dirty="0">
                <a:solidFill>
                  <a:srgbClr val="0070C0"/>
                </a:solidFill>
              </a:rPr>
              <a:t>(item#, quantity, unit_ price,  tax code</a:t>
            </a:r>
            <a:r>
              <a:rPr lang="en-US" dirty="0"/>
              <a:t>)]	</a:t>
            </a:r>
          </a:p>
          <a:p>
            <a:r>
              <a:rPr lang="en-US" dirty="0"/>
              <a:t>1NF</a:t>
            </a:r>
          </a:p>
          <a:p>
            <a:pPr marL="27432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dirty="0"/>
              <a:t>( </a:t>
            </a:r>
            <a:r>
              <a:rPr lang="en-CA" b="1" u="sng" dirty="0"/>
              <a:t>Purchase#</a:t>
            </a:r>
            <a:r>
              <a:rPr lang="en-CA" b="1" dirty="0"/>
              <a:t>, </a:t>
            </a:r>
            <a:r>
              <a:rPr lang="en-CA" dirty="0"/>
              <a:t> date)</a:t>
            </a:r>
          </a:p>
          <a:p>
            <a:pPr lvl="1" indent="0">
              <a:buNone/>
            </a:pPr>
            <a:r>
              <a:rPr lang="en-CA" b="1" u="sng" dirty="0"/>
              <a:t>(Purchase#, item#</a:t>
            </a:r>
            <a:r>
              <a:rPr lang="en-CA" u="sng" dirty="0"/>
              <a:t>,</a:t>
            </a:r>
            <a:r>
              <a:rPr lang="en-CA" dirty="0"/>
              <a:t> quantity, unit_ price,  tax code)</a:t>
            </a:r>
          </a:p>
          <a:p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438275" y="1825625"/>
            <a:ext cx="9315450" cy="17679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>
                <a:solidFill>
                  <a:schemeClr val="tx1"/>
                </a:solidFill>
              </a:rPr>
              <a:t>Purchases at Shoppers Drug Mart-1111 Young Street Toronto are identified by a unique purchase # and a date on the bill.  There can be several items and the purchase must record the item #, the quantity, the unit price,  a tax code for each item, and the total price. </a:t>
            </a:r>
            <a:endParaRPr lang="en-CA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229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1NF to 2NF </a:t>
            </a:r>
            <a:r>
              <a:rPr lang="en-US" sz="3200" dirty="0"/>
              <a:t>(Example 2)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28527"/>
            <a:ext cx="10515600" cy="2448435"/>
          </a:xfrm>
        </p:spPr>
        <p:txBody>
          <a:bodyPr>
            <a:normAutofit/>
          </a:bodyPr>
          <a:lstStyle/>
          <a:p>
            <a:r>
              <a:rPr lang="en-CA" dirty="0"/>
              <a:t>2NF</a:t>
            </a:r>
          </a:p>
          <a:p>
            <a:pPr marL="457200" lvl="1" indent="0">
              <a:buNone/>
            </a:pPr>
            <a:r>
              <a:rPr lang="en-CA" sz="2800" b="1" dirty="0" err="1"/>
              <a:t>PurchaseItem</a:t>
            </a:r>
            <a:r>
              <a:rPr lang="en-CA" sz="2800" dirty="0"/>
              <a:t>[ </a:t>
            </a:r>
            <a:r>
              <a:rPr lang="en-CA" sz="2800" u="sng"/>
              <a:t>Purchase#(FK)</a:t>
            </a:r>
            <a:r>
              <a:rPr lang="en-CA" sz="2800"/>
              <a:t>, </a:t>
            </a:r>
            <a:r>
              <a:rPr lang="en-CA" sz="2800" u="sng"/>
              <a:t>item#(FK)</a:t>
            </a:r>
            <a:r>
              <a:rPr lang="en-CA" sz="2800"/>
              <a:t>, </a:t>
            </a:r>
            <a:r>
              <a:rPr lang="en-CA" sz="2800" dirty="0"/>
              <a:t>quantity]</a:t>
            </a:r>
          </a:p>
          <a:p>
            <a:pPr marL="457200" lvl="1" indent="0">
              <a:buNone/>
            </a:pPr>
            <a:r>
              <a:rPr lang="en-CA" sz="2800" b="1" dirty="0"/>
              <a:t>Purchase</a:t>
            </a:r>
            <a:r>
              <a:rPr lang="en-CA" sz="2800" dirty="0"/>
              <a:t>[ </a:t>
            </a:r>
            <a:r>
              <a:rPr lang="en-CA" sz="2800" u="sng" dirty="0"/>
              <a:t>Purchase#</a:t>
            </a:r>
            <a:r>
              <a:rPr lang="en-CA" sz="2800" dirty="0"/>
              <a:t>, date ]</a:t>
            </a:r>
          </a:p>
          <a:p>
            <a:pPr marL="457200" lvl="1" indent="0">
              <a:buNone/>
            </a:pPr>
            <a:r>
              <a:rPr lang="en-CA" sz="2800" b="1" dirty="0"/>
              <a:t>Item</a:t>
            </a:r>
            <a:r>
              <a:rPr lang="en-CA" sz="2800" dirty="0"/>
              <a:t>[ </a:t>
            </a:r>
            <a:r>
              <a:rPr lang="en-CA" sz="2800" u="sng" dirty="0"/>
              <a:t>item#</a:t>
            </a:r>
            <a:r>
              <a:rPr lang="en-CA" sz="2800" dirty="0"/>
              <a:t>,  unit_ price,  tax code]</a:t>
            </a:r>
          </a:p>
          <a:p>
            <a:pPr lvl="1"/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438275" y="1825625"/>
            <a:ext cx="9315450" cy="17679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>
                <a:solidFill>
                  <a:schemeClr val="tx1"/>
                </a:solidFill>
              </a:rPr>
              <a:t>Purchases at Shoppers Drug Mart-1111 Young Street Toronto are identified by a unique purchase # and a date on the bill.  There can be several items and the purchase must record the item #, the quantity, the unit price,  a tax code for each item, and the total price. </a:t>
            </a:r>
            <a:endParaRPr lang="en-CA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82768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Custom 7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FF0000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259</TotalTime>
  <Words>1712</Words>
  <Application>Microsoft Office PowerPoint</Application>
  <PresentationFormat>Widescreen</PresentationFormat>
  <Paragraphs>336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Century Schoolbook</vt:lpstr>
      <vt:lpstr>Lucida Sans</vt:lpstr>
      <vt:lpstr>Times New Roman</vt:lpstr>
      <vt:lpstr>Wingdings 2</vt:lpstr>
      <vt:lpstr>View</vt:lpstr>
      <vt:lpstr>Relations, Keys, &amp; Normalization</vt:lpstr>
      <vt:lpstr>Relational Model Review</vt:lpstr>
      <vt:lpstr>What is a relation?</vt:lpstr>
      <vt:lpstr>Keys</vt:lpstr>
      <vt:lpstr>Keys</vt:lpstr>
      <vt:lpstr>Surrogate Keys</vt:lpstr>
      <vt:lpstr>Example (Primary Key)</vt:lpstr>
      <vt:lpstr>Example (Primary Key)</vt:lpstr>
      <vt:lpstr>Example (Primary Key)</vt:lpstr>
      <vt:lpstr>Example (Primary Key)</vt:lpstr>
      <vt:lpstr>Normalization Review</vt:lpstr>
      <vt:lpstr>Normal Forms</vt:lpstr>
      <vt:lpstr>Example (Normalization/Userview1)</vt:lpstr>
      <vt:lpstr>1NF  </vt:lpstr>
      <vt:lpstr>2nd Normal Form</vt:lpstr>
      <vt:lpstr>1NF to 2NF</vt:lpstr>
      <vt:lpstr>2NF</vt:lpstr>
      <vt:lpstr>3NF</vt:lpstr>
      <vt:lpstr>2NF to 3NF</vt:lpstr>
      <vt:lpstr>3NF Relations</vt:lpstr>
      <vt:lpstr>PowerPoint Presentation</vt:lpstr>
      <vt:lpstr>PowerPoint Presentation</vt:lpstr>
      <vt:lpstr>PowerPoint Presentation</vt:lpstr>
      <vt:lpstr>1NF/2NF/3NF </vt:lpstr>
      <vt:lpstr>DBDL (Database Designation Language)</vt:lpstr>
      <vt:lpstr>DBDL (Example 1)</vt:lpstr>
      <vt:lpstr>DBDL (Example 1)</vt:lpstr>
      <vt:lpstr>UNF to 1NF (Example 1)</vt:lpstr>
      <vt:lpstr>1NF to 2NF (Example 1)</vt:lpstr>
      <vt:lpstr>UNF to 1NF (Example 2)</vt:lpstr>
      <vt:lpstr>1NF to 2NF (Example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Relations, Keys, &amp; Normalization</dc:title>
  <dc:creator>Nasim</dc:creator>
  <cp:lastModifiedBy>Lydia Li</cp:lastModifiedBy>
  <cp:revision>61</cp:revision>
  <dcterms:created xsi:type="dcterms:W3CDTF">2019-07-16T23:12:37Z</dcterms:created>
  <dcterms:modified xsi:type="dcterms:W3CDTF">2025-11-04T22:14:06Z</dcterms:modified>
</cp:coreProperties>
</file>