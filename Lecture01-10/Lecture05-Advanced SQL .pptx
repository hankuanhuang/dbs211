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70" r:id="rId10"/>
    <p:sldId id="275" r:id="rId11"/>
    <p:sldId id="271" r:id="rId12"/>
    <p:sldId id="272" r:id="rId13"/>
    <p:sldId id="273" r:id="rId14"/>
    <p:sldId id="274" r:id="rId15"/>
    <p:sldId id="278" r:id="rId16"/>
    <p:sldId id="276" r:id="rId17"/>
    <p:sldId id="264" r:id="rId18"/>
    <p:sldId id="265" r:id="rId19"/>
    <p:sldId id="266" r:id="rId20"/>
    <p:sldId id="268" r:id="rId21"/>
    <p:sldId id="26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dia Li" userId="ea0578a6-1f9b-4b91-a2cb-da76beaf9494" providerId="ADAL" clId="{3F252656-3008-4F88-8D60-E29A5F906B8D}"/>
    <pc:docChg chg="custSel modSld">
      <pc:chgData name="Lydia Li" userId="ea0578a6-1f9b-4b91-a2cb-da76beaf9494" providerId="ADAL" clId="{3F252656-3008-4F88-8D60-E29A5F906B8D}" dt="2024-02-05T16:13:08.372" v="40" actId="20577"/>
      <pc:docMkLst>
        <pc:docMk/>
      </pc:docMkLst>
      <pc:sldChg chg="modSp mod">
        <pc:chgData name="Lydia Li" userId="ea0578a6-1f9b-4b91-a2cb-da76beaf9494" providerId="ADAL" clId="{3F252656-3008-4F88-8D60-E29A5F906B8D}" dt="2024-02-05T16:03:12.374" v="1" actId="27636"/>
        <pc:sldMkLst>
          <pc:docMk/>
          <pc:sldMk cId="4045681374" sldId="273"/>
        </pc:sldMkLst>
        <pc:spChg chg="mod">
          <ac:chgData name="Lydia Li" userId="ea0578a6-1f9b-4b91-a2cb-da76beaf9494" providerId="ADAL" clId="{3F252656-3008-4F88-8D60-E29A5F906B8D}" dt="2024-02-05T16:03:12.374" v="1" actId="27636"/>
          <ac:spMkLst>
            <pc:docMk/>
            <pc:sldMk cId="4045681374" sldId="273"/>
            <ac:spMk id="2" creationId="{00000000-0000-0000-0000-000000000000}"/>
          </ac:spMkLst>
        </pc:spChg>
      </pc:sldChg>
      <pc:sldChg chg="modSp mod">
        <pc:chgData name="Lydia Li" userId="ea0578a6-1f9b-4b91-a2cb-da76beaf9494" providerId="ADAL" clId="{3F252656-3008-4F88-8D60-E29A5F906B8D}" dt="2024-02-05T16:13:08.372" v="40" actId="20577"/>
        <pc:sldMkLst>
          <pc:docMk/>
          <pc:sldMk cId="4290485994" sldId="276"/>
        </pc:sldMkLst>
        <pc:spChg chg="mod">
          <ac:chgData name="Lydia Li" userId="ea0578a6-1f9b-4b91-a2cb-da76beaf9494" providerId="ADAL" clId="{3F252656-3008-4F88-8D60-E29A5F906B8D}" dt="2024-02-05T16:13:08.372" v="40" actId="20577"/>
          <ac:spMkLst>
            <pc:docMk/>
            <pc:sldMk cId="4290485994" sldId="276"/>
            <ac:spMk id="4" creationId="{00000000-0000-0000-0000-000000000000}"/>
          </ac:spMkLst>
        </pc:spChg>
      </pc:sldChg>
    </pc:docChg>
  </pc:docChgLst>
  <pc:docChgLst>
    <pc:chgData name="Lydia Li" userId="ea0578a6-1f9b-4b91-a2cb-da76beaf9494" providerId="ADAL" clId="{2B5C471A-9288-446B-A1EA-14D508A0B785}"/>
    <pc:docChg chg="undo custSel modSld">
      <pc:chgData name="Lydia Li" userId="ea0578a6-1f9b-4b91-a2cb-da76beaf9494" providerId="ADAL" clId="{2B5C471A-9288-446B-A1EA-14D508A0B785}" dt="2023-10-03T20:31:09.190" v="35" actId="20577"/>
      <pc:docMkLst>
        <pc:docMk/>
      </pc:docMkLst>
      <pc:sldChg chg="modSp mod">
        <pc:chgData name="Lydia Li" userId="ea0578a6-1f9b-4b91-a2cb-da76beaf9494" providerId="ADAL" clId="{2B5C471A-9288-446B-A1EA-14D508A0B785}" dt="2023-10-03T18:37:15.117" v="3" actId="20577"/>
        <pc:sldMkLst>
          <pc:docMk/>
          <pc:sldMk cId="1628903453" sldId="270"/>
        </pc:sldMkLst>
        <pc:spChg chg="mod">
          <ac:chgData name="Lydia Li" userId="ea0578a6-1f9b-4b91-a2cb-da76beaf9494" providerId="ADAL" clId="{2B5C471A-9288-446B-A1EA-14D508A0B785}" dt="2023-10-03T18:37:15.117" v="3" actId="20577"/>
          <ac:spMkLst>
            <pc:docMk/>
            <pc:sldMk cId="1628903453" sldId="270"/>
            <ac:spMk id="3" creationId="{00000000-0000-0000-0000-000000000000}"/>
          </ac:spMkLst>
        </pc:spChg>
      </pc:sldChg>
      <pc:sldChg chg="addSp modSp mod">
        <pc:chgData name="Lydia Li" userId="ea0578a6-1f9b-4b91-a2cb-da76beaf9494" providerId="ADAL" clId="{2B5C471A-9288-446B-A1EA-14D508A0B785}" dt="2023-10-03T20:31:09.190" v="35" actId="20577"/>
        <pc:sldMkLst>
          <pc:docMk/>
          <pc:sldMk cId="4045681374" sldId="273"/>
        </pc:sldMkLst>
        <pc:spChg chg="mod">
          <ac:chgData name="Lydia Li" userId="ea0578a6-1f9b-4b91-a2cb-da76beaf9494" providerId="ADAL" clId="{2B5C471A-9288-446B-A1EA-14D508A0B785}" dt="2023-10-03T18:47:58.233" v="8" actId="14100"/>
          <ac:spMkLst>
            <pc:docMk/>
            <pc:sldMk cId="4045681374" sldId="273"/>
            <ac:spMk id="2" creationId="{00000000-0000-0000-0000-000000000000}"/>
          </ac:spMkLst>
        </pc:spChg>
        <pc:spChg chg="add mod">
          <ac:chgData name="Lydia Li" userId="ea0578a6-1f9b-4b91-a2cb-da76beaf9494" providerId="ADAL" clId="{2B5C471A-9288-446B-A1EA-14D508A0B785}" dt="2023-10-03T20:31:09.190" v="35" actId="20577"/>
          <ac:spMkLst>
            <pc:docMk/>
            <pc:sldMk cId="4045681374" sldId="273"/>
            <ac:spMk id="8" creationId="{647E9D7B-A561-6BE8-C48B-B7AA0993154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FCCB430F-A71A-452D-8EFA-96F7332549CB}" type="datetimeFigureOut">
              <a:rPr lang="en-CA" smtClean="0"/>
              <a:t>2024-02-05</a:t>
            </a:fld>
            <a:endParaRPr lang="en-CA"/>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CA"/>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B5DA526B-5795-492D-9809-1F1A34957533}" type="slidenum">
              <a:rPr lang="en-CA" smtClean="0"/>
              <a:t>‹#›</a:t>
            </a:fld>
            <a:endParaRPr lang="en-CA"/>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7642523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CB430F-A71A-452D-8EFA-96F7332549CB}" type="datetimeFigureOut">
              <a:rPr lang="en-CA" smtClean="0"/>
              <a:t>2024-02-05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B5DA526B-5795-492D-9809-1F1A34957533}" type="slidenum">
              <a:rPr lang="en-CA" smtClean="0"/>
              <a:t>‹#›</a:t>
            </a:fld>
            <a:endParaRPr lang="en-CA"/>
          </a:p>
        </p:txBody>
      </p:sp>
    </p:spTree>
    <p:extLst>
      <p:ext uri="{BB962C8B-B14F-4D97-AF65-F5344CB8AC3E}">
        <p14:creationId xmlns:p14="http://schemas.microsoft.com/office/powerpoint/2010/main" val="2643512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CCB430F-A71A-452D-8EFA-96F7332549CB}" type="datetimeFigureOut">
              <a:rPr lang="en-CA" smtClean="0"/>
              <a:t>2024-02-05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B5DA526B-5795-492D-9809-1F1A34957533}" type="slidenum">
              <a:rPr lang="en-CA" smtClean="0"/>
              <a:t>‹#›</a:t>
            </a:fld>
            <a:endParaRPr lang="en-CA"/>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66276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CB430F-A71A-452D-8EFA-96F7332549CB}" type="datetimeFigureOut">
              <a:rPr lang="en-CA" smtClean="0"/>
              <a:t>2024-02-05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B5DA526B-5795-492D-9809-1F1A34957533}" type="slidenum">
              <a:rPr lang="en-CA" smtClean="0"/>
              <a:t>‹#›</a:t>
            </a:fld>
            <a:endParaRPr lang="en-CA"/>
          </a:p>
        </p:txBody>
      </p:sp>
    </p:spTree>
    <p:extLst>
      <p:ext uri="{BB962C8B-B14F-4D97-AF65-F5344CB8AC3E}">
        <p14:creationId xmlns:p14="http://schemas.microsoft.com/office/powerpoint/2010/main" val="3884794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CB430F-A71A-452D-8EFA-96F7332549CB}" type="datetimeFigureOut">
              <a:rPr lang="en-CA" smtClean="0"/>
              <a:t>2024-02-05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B5DA526B-5795-492D-9809-1F1A34957533}" type="slidenum">
              <a:rPr lang="en-CA" smtClean="0"/>
              <a:t>‹#›</a:t>
            </a:fld>
            <a:endParaRPr lang="en-CA"/>
          </a:p>
        </p:txBody>
      </p:sp>
    </p:spTree>
    <p:extLst>
      <p:ext uri="{BB962C8B-B14F-4D97-AF65-F5344CB8AC3E}">
        <p14:creationId xmlns:p14="http://schemas.microsoft.com/office/powerpoint/2010/main" val="915921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CB430F-A71A-452D-8EFA-96F7332549CB}" type="datetimeFigureOut">
              <a:rPr lang="en-CA" smtClean="0"/>
              <a:t>2024-02-05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B5DA526B-5795-492D-9809-1F1A34957533}" type="slidenum">
              <a:rPr lang="en-CA" smtClean="0"/>
              <a:t>‹#›</a:t>
            </a:fld>
            <a:endParaRPr lang="en-CA"/>
          </a:p>
        </p:txBody>
      </p:sp>
    </p:spTree>
    <p:extLst>
      <p:ext uri="{BB962C8B-B14F-4D97-AF65-F5344CB8AC3E}">
        <p14:creationId xmlns:p14="http://schemas.microsoft.com/office/powerpoint/2010/main" val="3437182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CB430F-A71A-452D-8EFA-96F7332549CB}" type="datetimeFigureOut">
              <a:rPr lang="en-CA" smtClean="0"/>
              <a:t>2024-02-05</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B5DA526B-5795-492D-9809-1F1A34957533}" type="slidenum">
              <a:rPr lang="en-CA" smtClean="0"/>
              <a:t>‹#›</a:t>
            </a:fld>
            <a:endParaRPr lang="en-CA"/>
          </a:p>
        </p:txBody>
      </p:sp>
    </p:spTree>
    <p:extLst>
      <p:ext uri="{BB962C8B-B14F-4D97-AF65-F5344CB8AC3E}">
        <p14:creationId xmlns:p14="http://schemas.microsoft.com/office/powerpoint/2010/main" val="191075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CCB430F-A71A-452D-8EFA-96F7332549CB}" type="datetimeFigureOut">
              <a:rPr lang="en-CA" smtClean="0"/>
              <a:t>2024-02-05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B5DA526B-5795-492D-9809-1F1A34957533}" type="slidenum">
              <a:rPr lang="en-CA" smtClean="0"/>
              <a:t>‹#›</a:t>
            </a:fld>
            <a:endParaRPr lang="en-CA"/>
          </a:p>
        </p:txBody>
      </p:sp>
    </p:spTree>
    <p:extLst>
      <p:ext uri="{BB962C8B-B14F-4D97-AF65-F5344CB8AC3E}">
        <p14:creationId xmlns:p14="http://schemas.microsoft.com/office/powerpoint/2010/main" val="3047878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CCB430F-A71A-452D-8EFA-96F7332549CB}" type="datetimeFigureOut">
              <a:rPr lang="en-CA" smtClean="0"/>
              <a:t>2024-02-05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B5DA526B-5795-492D-9809-1F1A34957533}" type="slidenum">
              <a:rPr lang="en-CA" smtClean="0"/>
              <a:t>‹#›</a:t>
            </a:fld>
            <a:endParaRPr lang="en-CA"/>
          </a:p>
        </p:txBody>
      </p:sp>
    </p:spTree>
    <p:extLst>
      <p:ext uri="{BB962C8B-B14F-4D97-AF65-F5344CB8AC3E}">
        <p14:creationId xmlns:p14="http://schemas.microsoft.com/office/powerpoint/2010/main" val="2362441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CB430F-A71A-452D-8EFA-96F7332549CB}" type="datetimeFigureOut">
              <a:rPr lang="en-CA" smtClean="0"/>
              <a:t>2024-02-05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B5DA526B-5795-492D-9809-1F1A34957533}" type="slidenum">
              <a:rPr lang="en-CA" smtClean="0"/>
              <a:t>‹#›</a:t>
            </a:fld>
            <a:endParaRPr lang="en-CA"/>
          </a:p>
        </p:txBody>
      </p:sp>
    </p:spTree>
    <p:extLst>
      <p:ext uri="{BB962C8B-B14F-4D97-AF65-F5344CB8AC3E}">
        <p14:creationId xmlns:p14="http://schemas.microsoft.com/office/powerpoint/2010/main" val="2172680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CB430F-A71A-452D-8EFA-96F7332549CB}" type="datetimeFigureOut">
              <a:rPr lang="en-CA" smtClean="0"/>
              <a:t>2024-02-05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B5DA526B-5795-492D-9809-1F1A34957533}" type="slidenum">
              <a:rPr lang="en-CA" smtClean="0"/>
              <a:t>‹#›</a:t>
            </a:fld>
            <a:endParaRPr lang="en-CA"/>
          </a:p>
        </p:txBody>
      </p:sp>
    </p:spTree>
    <p:extLst>
      <p:ext uri="{BB962C8B-B14F-4D97-AF65-F5344CB8AC3E}">
        <p14:creationId xmlns:p14="http://schemas.microsoft.com/office/powerpoint/2010/main" val="3216717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FCCB430F-A71A-452D-8EFA-96F7332549CB}" type="datetimeFigureOut">
              <a:rPr lang="en-CA" smtClean="0"/>
              <a:t>2024-02-05</a:t>
            </a:fld>
            <a:endParaRPr lang="en-CA"/>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CA"/>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B5DA526B-5795-492D-9809-1F1A34957533}" type="slidenum">
              <a:rPr lang="en-CA" smtClean="0"/>
              <a:t>‹#›</a:t>
            </a:fld>
            <a:endParaRPr lang="en-CA"/>
          </a:p>
        </p:txBody>
      </p:sp>
    </p:spTree>
    <p:extLst>
      <p:ext uri="{BB962C8B-B14F-4D97-AF65-F5344CB8AC3E}">
        <p14:creationId xmlns:p14="http://schemas.microsoft.com/office/powerpoint/2010/main" val="18210941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Advanced SQL</a:t>
            </a:r>
            <a:endParaRPr lang="en-CA" dirty="0"/>
          </a:p>
        </p:txBody>
      </p:sp>
      <p:sp>
        <p:nvSpPr>
          <p:cNvPr id="3" name="Subtitle 2"/>
          <p:cNvSpPr>
            <a:spLocks noGrp="1"/>
          </p:cNvSpPr>
          <p:nvPr>
            <p:ph type="subTitle" idx="1"/>
          </p:nvPr>
        </p:nvSpPr>
        <p:spPr/>
        <p:txBody>
          <a:bodyPr/>
          <a:lstStyle/>
          <a:p>
            <a:r>
              <a:rPr lang="en-US" dirty="0"/>
              <a:t>Lecture 05</a:t>
            </a:r>
          </a:p>
          <a:p>
            <a:r>
              <a:rPr lang="en-US" dirty="0"/>
              <a:t>DBS211</a:t>
            </a:r>
            <a:endParaRPr lang="en-CA" dirty="0"/>
          </a:p>
        </p:txBody>
      </p:sp>
    </p:spTree>
    <p:extLst>
      <p:ext uri="{BB962C8B-B14F-4D97-AF65-F5344CB8AC3E}">
        <p14:creationId xmlns:p14="http://schemas.microsoft.com/office/powerpoint/2010/main" val="2935495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7200" dirty="0">
                <a:solidFill>
                  <a:srgbClr val="C00000"/>
                </a:solidFill>
              </a:rPr>
              <a:t>Agenda</a:t>
            </a:r>
            <a:endParaRPr lang="en-CA" sz="7200" dirty="0">
              <a:solidFill>
                <a:srgbClr val="C00000"/>
              </a:solidFill>
            </a:endParaRPr>
          </a:p>
        </p:txBody>
      </p:sp>
      <p:sp>
        <p:nvSpPr>
          <p:cNvPr id="3" name="Content Placeholder 2"/>
          <p:cNvSpPr>
            <a:spLocks noGrp="1"/>
          </p:cNvSpPr>
          <p:nvPr>
            <p:ph idx="1"/>
          </p:nvPr>
        </p:nvSpPr>
        <p:spPr/>
        <p:txBody>
          <a:bodyPr/>
          <a:lstStyle/>
          <a:p>
            <a:pPr>
              <a:spcBef>
                <a:spcPct val="0"/>
              </a:spcBef>
              <a:defRPr/>
            </a:pPr>
            <a:r>
              <a:rPr lang="en-US" altLang="en-US" sz="6000" dirty="0"/>
              <a:t>Join</a:t>
            </a:r>
          </a:p>
          <a:p>
            <a:pPr>
              <a:spcBef>
                <a:spcPct val="0"/>
              </a:spcBef>
              <a:defRPr/>
            </a:pPr>
            <a:r>
              <a:rPr lang="en-US" altLang="en-US" sz="6000" dirty="0"/>
              <a:t>View  </a:t>
            </a:r>
          </a:p>
          <a:p>
            <a:pPr>
              <a:spcBef>
                <a:spcPct val="0"/>
              </a:spcBef>
              <a:defRPr/>
            </a:pPr>
            <a:endParaRPr lang="en-US" altLang="en-US" dirty="0"/>
          </a:p>
          <a:p>
            <a:pPr>
              <a:spcBef>
                <a:spcPct val="0"/>
              </a:spcBef>
              <a:defRPr/>
            </a:pPr>
            <a:endParaRPr lang="en-US" altLang="en-US" dirty="0"/>
          </a:p>
        </p:txBody>
      </p:sp>
    </p:spTree>
    <p:extLst>
      <p:ext uri="{BB962C8B-B14F-4D97-AF65-F5344CB8AC3E}">
        <p14:creationId xmlns:p14="http://schemas.microsoft.com/office/powerpoint/2010/main" val="2611840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Join</a:t>
            </a:r>
            <a:endParaRPr lang="en-CA" dirty="0">
              <a:solidFill>
                <a:srgbClr val="C00000"/>
              </a:solidFill>
            </a:endParaRPr>
          </a:p>
        </p:txBody>
      </p:sp>
      <p:sp>
        <p:nvSpPr>
          <p:cNvPr id="3" name="Content Placeholder 2"/>
          <p:cNvSpPr>
            <a:spLocks noGrp="1"/>
          </p:cNvSpPr>
          <p:nvPr>
            <p:ph idx="1"/>
          </p:nvPr>
        </p:nvSpPr>
        <p:spPr/>
        <p:txBody>
          <a:bodyPr>
            <a:normAutofit/>
          </a:bodyPr>
          <a:lstStyle/>
          <a:p>
            <a:r>
              <a:rPr lang="en-US" altLang="en-US" dirty="0"/>
              <a:t>Selecting data from more than one table</a:t>
            </a:r>
          </a:p>
          <a:p>
            <a:r>
              <a:rPr lang="en-US" dirty="0"/>
              <a:t>To join tables, the tables are mutually related using primary key (in parent tables) and foreign keys (child tables).</a:t>
            </a:r>
            <a:br>
              <a:rPr lang="en-US" altLang="en-US" dirty="0"/>
            </a:br>
            <a:endParaRPr lang="en-US" altLang="en-US" dirty="0"/>
          </a:p>
          <a:p>
            <a:pPr>
              <a:spcBef>
                <a:spcPct val="0"/>
              </a:spcBef>
              <a:spcAft>
                <a:spcPct val="60000"/>
              </a:spcAft>
            </a:pPr>
            <a:r>
              <a:rPr lang="en-US" altLang="en-US" dirty="0"/>
              <a:t>To create a join, specify the name of tables that you want to be included in the select statement</a:t>
            </a:r>
          </a:p>
          <a:p>
            <a:pPr>
              <a:spcBef>
                <a:spcPct val="0"/>
              </a:spcBef>
            </a:pPr>
            <a:r>
              <a:rPr lang="en-US" altLang="en-US" dirty="0"/>
              <a:t>Include the full name of the columns in the select statement:</a:t>
            </a:r>
          </a:p>
          <a:p>
            <a:pPr lvl="1">
              <a:spcBef>
                <a:spcPct val="0"/>
              </a:spcBef>
            </a:pPr>
            <a:r>
              <a:rPr lang="en-US" altLang="en-US" i="1" dirty="0" err="1">
                <a:solidFill>
                  <a:srgbClr val="C00000"/>
                </a:solidFill>
              </a:rPr>
              <a:t>table_name.column_name</a:t>
            </a:r>
            <a:endParaRPr lang="en-US" altLang="en-US" i="1" dirty="0">
              <a:solidFill>
                <a:srgbClr val="C00000"/>
              </a:solidFill>
            </a:endParaRPr>
          </a:p>
          <a:p>
            <a:pPr lvl="1">
              <a:spcBef>
                <a:spcPct val="0"/>
              </a:spcBef>
            </a:pPr>
            <a:r>
              <a:rPr lang="en-US" altLang="en-US" dirty="0"/>
              <a:t>You need to determine the origin of selected columns by adding the table name to the column name. </a:t>
            </a:r>
          </a:p>
          <a:p>
            <a:pPr lvl="1">
              <a:spcBef>
                <a:spcPct val="0"/>
              </a:spcBef>
              <a:spcAft>
                <a:spcPct val="60000"/>
              </a:spcAft>
            </a:pPr>
            <a:r>
              <a:rPr lang="en-US" altLang="en-US" dirty="0"/>
              <a:t>We can use table aliases for readability.</a:t>
            </a:r>
          </a:p>
          <a:p>
            <a:pPr>
              <a:spcBef>
                <a:spcPct val="30000"/>
              </a:spcBef>
            </a:pPr>
            <a:endParaRPr lang="en-US" altLang="en-US" dirty="0"/>
          </a:p>
          <a:p>
            <a:pPr marL="0" indent="0">
              <a:spcBef>
                <a:spcPct val="30000"/>
              </a:spcBef>
              <a:buNone/>
            </a:pPr>
            <a:endParaRPr lang="en-US" altLang="en-US" dirty="0"/>
          </a:p>
          <a:p>
            <a:endParaRPr lang="en-CA" dirty="0"/>
          </a:p>
        </p:txBody>
      </p:sp>
    </p:spTree>
    <p:extLst>
      <p:ext uri="{BB962C8B-B14F-4D97-AF65-F5344CB8AC3E}">
        <p14:creationId xmlns:p14="http://schemas.microsoft.com/office/powerpoint/2010/main" val="2186726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Alias</a:t>
            </a:r>
            <a:endParaRPr lang="en-CA" dirty="0">
              <a:solidFill>
                <a:srgbClr val="C00000"/>
              </a:solidFill>
            </a:endParaRPr>
          </a:p>
        </p:txBody>
      </p:sp>
      <p:sp>
        <p:nvSpPr>
          <p:cNvPr id="3" name="Content Placeholder 2"/>
          <p:cNvSpPr>
            <a:spLocks noGrp="1"/>
          </p:cNvSpPr>
          <p:nvPr>
            <p:ph idx="1"/>
          </p:nvPr>
        </p:nvSpPr>
        <p:spPr/>
        <p:txBody>
          <a:bodyPr/>
          <a:lstStyle/>
          <a:p>
            <a:r>
              <a:rPr lang="en-US" dirty="0"/>
              <a:t>An ALIAS can be used to as a temporary name for a column or a table.</a:t>
            </a:r>
          </a:p>
          <a:p>
            <a:r>
              <a:rPr lang="en-US" dirty="0"/>
              <a:t>EMPLOYEES </a:t>
            </a:r>
            <a:r>
              <a:rPr lang="en-US" dirty="0">
                <a:solidFill>
                  <a:srgbClr val="C00000"/>
                </a:solidFill>
              </a:rPr>
              <a:t>EMP                	</a:t>
            </a:r>
            <a:r>
              <a:rPr lang="en-US" dirty="0"/>
              <a:t>EMP is the alias for table EMPLOYEES</a:t>
            </a:r>
          </a:p>
          <a:p>
            <a:r>
              <a:rPr lang="en-US" dirty="0"/>
              <a:t>PROJECTS</a:t>
            </a:r>
            <a:r>
              <a:rPr lang="en-US" dirty="0">
                <a:solidFill>
                  <a:srgbClr val="C00000"/>
                </a:solidFill>
              </a:rPr>
              <a:t> PRJ               	</a:t>
            </a:r>
            <a:r>
              <a:rPr lang="en-US" dirty="0"/>
              <a:t>PRJ is the alias for table PROJECTS</a:t>
            </a:r>
          </a:p>
          <a:p>
            <a:r>
              <a:rPr lang="en-US" sz="1400" dirty="0"/>
              <a:t>EMPLOYEES.EMPLOYEE_ID 	    is the full name of </a:t>
            </a:r>
            <a:r>
              <a:rPr lang="en-US" sz="1400" dirty="0" err="1"/>
              <a:t>employee_ID</a:t>
            </a:r>
            <a:r>
              <a:rPr lang="en-US" sz="1400" dirty="0"/>
              <a:t> in table EMPLOYEES </a:t>
            </a:r>
          </a:p>
          <a:p>
            <a:r>
              <a:rPr lang="en-US" dirty="0"/>
              <a:t>The alias can also be used</a:t>
            </a:r>
          </a:p>
          <a:p>
            <a:pPr lvl="1"/>
            <a:r>
              <a:rPr lang="en-US" dirty="0"/>
              <a:t>EMP.EMPLOYEE_ID</a:t>
            </a:r>
          </a:p>
          <a:p>
            <a:pPr marL="0" indent="0">
              <a:buNone/>
            </a:pPr>
            <a:endParaRPr lang="en-CA" dirty="0"/>
          </a:p>
        </p:txBody>
      </p:sp>
      <p:cxnSp>
        <p:nvCxnSpPr>
          <p:cNvPr id="5" name="Straight Arrow Connector 4"/>
          <p:cNvCxnSpPr/>
          <p:nvPr/>
        </p:nvCxnSpPr>
        <p:spPr>
          <a:xfrm>
            <a:off x="3879552" y="2966115"/>
            <a:ext cx="861848"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235568" y="3357291"/>
            <a:ext cx="861848"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034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Joining Two Tables</a:t>
            </a:r>
            <a:endParaRPr lang="en-CA" dirty="0">
              <a:solidFill>
                <a:srgbClr val="C00000"/>
              </a:solidFill>
            </a:endParaRPr>
          </a:p>
        </p:txBody>
      </p:sp>
      <p:sp>
        <p:nvSpPr>
          <p:cNvPr id="3" name="Content Placeholder 2"/>
          <p:cNvSpPr>
            <a:spLocks noGrp="1"/>
          </p:cNvSpPr>
          <p:nvPr>
            <p:ph idx="1"/>
          </p:nvPr>
        </p:nvSpPr>
        <p:spPr/>
        <p:txBody>
          <a:bodyPr>
            <a:normAutofit/>
          </a:bodyPr>
          <a:lstStyle/>
          <a:p>
            <a:pPr marL="0" indent="0">
              <a:spcBef>
                <a:spcPct val="40000"/>
              </a:spcBef>
              <a:spcAft>
                <a:spcPct val="40000"/>
              </a:spcAft>
              <a:buNone/>
            </a:pPr>
            <a:r>
              <a:rPr lang="en-US" altLang="en-US" dirty="0"/>
              <a:t>To join two tables, you need to find a column that both tables share (</a:t>
            </a:r>
            <a:r>
              <a:rPr lang="en-US" altLang="en-US" i="1" dirty="0"/>
              <a:t>common colu</a:t>
            </a:r>
            <a:r>
              <a:rPr lang="en-US" altLang="en-US" dirty="0"/>
              <a:t>mn) and use it as your join condition.</a:t>
            </a:r>
          </a:p>
          <a:p>
            <a:pPr marL="0" indent="0">
              <a:spcBef>
                <a:spcPct val="40000"/>
              </a:spcBef>
              <a:spcAft>
                <a:spcPct val="40000"/>
              </a:spcAft>
              <a:buNone/>
            </a:pPr>
            <a:r>
              <a:rPr lang="en-US" altLang="en-US" dirty="0"/>
              <a:t>CUSTOMER and SALESREP are related by a FOREIGN KEY</a:t>
            </a:r>
            <a:r>
              <a:rPr lang="en-US" altLang="en-US" sz="3200" dirty="0"/>
              <a:t> </a:t>
            </a:r>
          </a:p>
          <a:p>
            <a:pPr marL="0" indent="0">
              <a:spcBef>
                <a:spcPct val="40000"/>
              </a:spcBef>
              <a:spcAft>
                <a:spcPct val="40000"/>
              </a:spcAft>
              <a:buNone/>
            </a:pPr>
            <a:r>
              <a:rPr lang="en-US" altLang="en-US" sz="2400" i="1" dirty="0" err="1">
                <a:latin typeface="Times New Roman" panose="02020603050405020304" pitchFamily="18" charset="0"/>
              </a:rPr>
              <a:t>Sales_Rep_Number</a:t>
            </a:r>
            <a:r>
              <a:rPr lang="en-US" altLang="en-US" sz="3200" dirty="0"/>
              <a:t> </a:t>
            </a:r>
            <a:r>
              <a:rPr lang="en-US" altLang="en-US" dirty="0">
                <a:latin typeface="Calibri" panose="020F0502020204030204" pitchFamily="34" charset="0"/>
              </a:rPr>
              <a:t>is the field common to both tables</a:t>
            </a:r>
            <a:r>
              <a:rPr lang="en-US" altLang="en-US" dirty="0">
                <a:latin typeface="Times New Roman" panose="02020603050405020304" pitchFamily="18" charset="0"/>
              </a:rPr>
              <a:t>.</a:t>
            </a:r>
            <a:r>
              <a:rPr lang="en-US" altLang="en-US" sz="3200" dirty="0"/>
              <a:t> </a:t>
            </a:r>
          </a:p>
          <a:p>
            <a:pPr marL="0" indent="0">
              <a:spcBef>
                <a:spcPct val="0"/>
              </a:spcBef>
              <a:spcAft>
                <a:spcPct val="35000"/>
              </a:spcAft>
              <a:buNone/>
            </a:pPr>
            <a:r>
              <a:rPr lang="en-US" altLang="en-US" dirty="0">
                <a:latin typeface="Calibri" panose="020F0502020204030204" pitchFamily="34" charset="0"/>
              </a:rPr>
              <a:t>The</a:t>
            </a:r>
            <a:r>
              <a:rPr lang="en-US" altLang="en-US" sz="3200" dirty="0"/>
              <a:t> </a:t>
            </a:r>
            <a:r>
              <a:rPr lang="en-US" altLang="en-US" sz="2400" i="1" dirty="0" err="1">
                <a:latin typeface="Times New Roman" panose="02020603050405020304" pitchFamily="18" charset="0"/>
              </a:rPr>
              <a:t>Sales_Rep_Number</a:t>
            </a:r>
            <a:r>
              <a:rPr lang="en-US" altLang="en-US" sz="3200" dirty="0"/>
              <a:t> </a:t>
            </a:r>
            <a:r>
              <a:rPr lang="en-US" altLang="en-US" dirty="0">
                <a:latin typeface="Calibri" panose="020F0502020204030204" pitchFamily="34" charset="0"/>
              </a:rPr>
              <a:t>on CUSTOMER points to the  </a:t>
            </a:r>
            <a:r>
              <a:rPr lang="en-US" altLang="en-US" sz="2400" i="1" dirty="0" err="1">
                <a:latin typeface="Times New Roman" panose="02020603050405020304" pitchFamily="18" charset="0"/>
              </a:rPr>
              <a:t>Sales_Rep_Number</a:t>
            </a:r>
            <a:r>
              <a:rPr lang="en-US" altLang="en-US" sz="3200" dirty="0"/>
              <a:t> </a:t>
            </a:r>
            <a:r>
              <a:rPr lang="en-US" altLang="en-US" dirty="0">
                <a:latin typeface="Calibri" panose="020F0502020204030204" pitchFamily="34" charset="0"/>
              </a:rPr>
              <a:t>on SALESREP</a:t>
            </a:r>
          </a:p>
          <a:p>
            <a:endParaRPr lang="en-CA" dirty="0"/>
          </a:p>
        </p:txBody>
      </p:sp>
    </p:spTree>
    <p:extLst>
      <p:ext uri="{BB962C8B-B14F-4D97-AF65-F5344CB8AC3E}">
        <p14:creationId xmlns:p14="http://schemas.microsoft.com/office/powerpoint/2010/main" val="2045277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Joining Two Tables</a:t>
            </a:r>
            <a:endParaRPr lang="en-CA" dirty="0"/>
          </a:p>
        </p:txBody>
      </p:sp>
      <p:sp>
        <p:nvSpPr>
          <p:cNvPr id="3" name="Content Placeholder 2"/>
          <p:cNvSpPr>
            <a:spLocks noGrp="1"/>
          </p:cNvSpPr>
          <p:nvPr>
            <p:ph idx="1"/>
          </p:nvPr>
        </p:nvSpPr>
        <p:spPr/>
        <p:txBody>
          <a:bodyPr>
            <a:normAutofit/>
          </a:bodyPr>
          <a:lstStyle/>
          <a:p>
            <a:pPr>
              <a:lnSpc>
                <a:spcPct val="120000"/>
              </a:lnSpc>
              <a:spcBef>
                <a:spcPct val="0"/>
              </a:spcBef>
            </a:pPr>
            <a:r>
              <a:rPr lang="en-US" sz="3200" dirty="0"/>
              <a:t>Join syntax:</a:t>
            </a:r>
          </a:p>
          <a:p>
            <a:pPr>
              <a:lnSpc>
                <a:spcPct val="120000"/>
              </a:lnSpc>
              <a:spcBef>
                <a:spcPct val="0"/>
              </a:spcBef>
              <a:buNone/>
            </a:pPr>
            <a:endParaRPr lang="en-US" sz="2200" dirty="0">
              <a:latin typeface="Courier New" panose="02070309020205020404" pitchFamily="49" charset="0"/>
              <a:cs typeface="Courier New" panose="02070309020205020404" pitchFamily="49" charset="0"/>
            </a:endParaRPr>
          </a:p>
          <a:p>
            <a:pPr>
              <a:lnSpc>
                <a:spcPct val="120000"/>
              </a:lnSpc>
              <a:spcBef>
                <a:spcPct val="0"/>
              </a:spcBef>
              <a:buNone/>
            </a:pPr>
            <a:r>
              <a:rPr lang="en-US" sz="2200" dirty="0">
                <a:solidFill>
                  <a:srgbClr val="FF0000"/>
                </a:solidFill>
                <a:latin typeface="Courier New" panose="02070309020205020404" pitchFamily="49" charset="0"/>
                <a:cs typeface="Courier New" panose="02070309020205020404" pitchFamily="49" charset="0"/>
              </a:rPr>
              <a:t>SELECT</a:t>
            </a:r>
            <a:r>
              <a:rPr lang="en-US" sz="2200" dirty="0">
                <a:latin typeface="Courier New" panose="02070309020205020404" pitchFamily="49" charset="0"/>
                <a:cs typeface="Courier New" panose="02070309020205020404" pitchFamily="49" charset="0"/>
              </a:rPr>
              <a:t> table1_name.column, table2_names.column </a:t>
            </a:r>
          </a:p>
          <a:p>
            <a:pPr>
              <a:lnSpc>
                <a:spcPct val="120000"/>
              </a:lnSpc>
              <a:spcBef>
                <a:spcPct val="0"/>
              </a:spcBef>
              <a:buNone/>
            </a:pPr>
            <a:r>
              <a:rPr lang="en-US" sz="2200" dirty="0">
                <a:solidFill>
                  <a:srgbClr val="FF0000"/>
                </a:solidFill>
                <a:latin typeface="Courier New" panose="02070309020205020404" pitchFamily="49" charset="0"/>
                <a:cs typeface="Courier New" panose="02070309020205020404" pitchFamily="49" charset="0"/>
              </a:rPr>
              <a:t>FROM</a:t>
            </a:r>
            <a:r>
              <a:rPr lang="en-US" sz="2200" dirty="0">
                <a:latin typeface="Courier New" panose="02070309020205020404" pitchFamily="49" charset="0"/>
                <a:cs typeface="Courier New" panose="02070309020205020404" pitchFamily="49" charset="0"/>
              </a:rPr>
              <a:t> table1_name </a:t>
            </a:r>
          </a:p>
          <a:p>
            <a:pPr>
              <a:lnSpc>
                <a:spcPct val="120000"/>
              </a:lnSpc>
              <a:spcBef>
                <a:spcPct val="0"/>
              </a:spcBef>
              <a:buNone/>
            </a:pPr>
            <a:r>
              <a:rPr lang="en-US" sz="2200" dirty="0">
                <a:solidFill>
                  <a:srgbClr val="FF0000"/>
                </a:solidFill>
                <a:latin typeface="Courier New" panose="02070309020205020404" pitchFamily="49" charset="0"/>
                <a:cs typeface="Courier New" panose="02070309020205020404" pitchFamily="49" charset="0"/>
              </a:rPr>
              <a:t>JOIN</a:t>
            </a:r>
            <a:r>
              <a:rPr lang="en-US" sz="2200" dirty="0">
                <a:latin typeface="Courier New" panose="02070309020205020404" pitchFamily="49" charset="0"/>
                <a:cs typeface="Courier New" panose="02070309020205020404" pitchFamily="49" charset="0"/>
              </a:rPr>
              <a:t> table2_name </a:t>
            </a:r>
          </a:p>
          <a:p>
            <a:pPr>
              <a:lnSpc>
                <a:spcPct val="120000"/>
              </a:lnSpc>
              <a:spcBef>
                <a:spcPct val="0"/>
              </a:spcBef>
              <a:buNone/>
            </a:pPr>
            <a:r>
              <a:rPr lang="en-US" sz="2200" dirty="0">
                <a:solidFill>
                  <a:srgbClr val="FF0000"/>
                </a:solidFill>
                <a:latin typeface="Courier New" panose="02070309020205020404" pitchFamily="49" charset="0"/>
                <a:cs typeface="Courier New" panose="02070309020205020404" pitchFamily="49" charset="0"/>
              </a:rPr>
              <a:t>ON</a:t>
            </a:r>
            <a:r>
              <a:rPr lang="en-US" sz="2200" dirty="0">
                <a:latin typeface="Courier New" panose="02070309020205020404" pitchFamily="49" charset="0"/>
                <a:cs typeface="Courier New" panose="02070309020205020404" pitchFamily="49" charset="0"/>
              </a:rPr>
              <a:t> table1_name.column = table2_name.column;</a:t>
            </a:r>
            <a:endParaRPr lang="en-US" altLang="en-US" sz="2200" dirty="0">
              <a:latin typeface="Courier New" panose="02070309020205020404" pitchFamily="49" charset="0"/>
              <a:cs typeface="Courier New" panose="02070309020205020404" pitchFamily="49" charset="0"/>
            </a:endParaRPr>
          </a:p>
          <a:p>
            <a:pPr>
              <a:spcBef>
                <a:spcPct val="0"/>
              </a:spcBef>
              <a:buNone/>
            </a:pPr>
            <a:endParaRPr lang="en-US" altLang="en-US" sz="2400" dirty="0"/>
          </a:p>
          <a:p>
            <a:pPr marL="0" indent="0">
              <a:buNone/>
            </a:pPr>
            <a:endParaRPr lang="en-CA" dirty="0">
              <a:solidFill>
                <a:srgbClr val="0070C0"/>
              </a:solidFill>
            </a:endParaRPr>
          </a:p>
        </p:txBody>
      </p:sp>
    </p:spTree>
    <p:extLst>
      <p:ext uri="{BB962C8B-B14F-4D97-AF65-F5344CB8AC3E}">
        <p14:creationId xmlns:p14="http://schemas.microsoft.com/office/powerpoint/2010/main" val="3116686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Joining Two Tables </a:t>
            </a:r>
            <a:r>
              <a:rPr lang="en-US" sz="3600" dirty="0">
                <a:solidFill>
                  <a:srgbClr val="C00000"/>
                </a:solidFill>
              </a:rPr>
              <a:t>(Example)</a:t>
            </a:r>
            <a:endParaRPr lang="en-CA" sz="3600" dirty="0"/>
          </a:p>
        </p:txBody>
      </p:sp>
      <p:sp>
        <p:nvSpPr>
          <p:cNvPr id="3" name="Content Placeholder 2"/>
          <p:cNvSpPr>
            <a:spLocks noGrp="1"/>
          </p:cNvSpPr>
          <p:nvPr>
            <p:ph idx="1"/>
          </p:nvPr>
        </p:nvSpPr>
        <p:spPr/>
        <p:txBody>
          <a:bodyPr/>
          <a:lstStyle/>
          <a:p>
            <a:r>
              <a:rPr lang="en-US" dirty="0"/>
              <a:t>Join tables PRODUCTS and SUPPLIERS</a:t>
            </a:r>
            <a:endParaRPr lang="en-CA" dirty="0"/>
          </a:p>
        </p:txBody>
      </p:sp>
      <p:graphicFrame>
        <p:nvGraphicFramePr>
          <p:cNvPr id="4" name="Group 321"/>
          <p:cNvGraphicFramePr>
            <a:graphicFrameLocks noGrp="1"/>
          </p:cNvGraphicFramePr>
          <p:nvPr>
            <p:extLst>
              <p:ext uri="{D42A27DB-BD31-4B8C-83A1-F6EECF244321}">
                <p14:modId xmlns:p14="http://schemas.microsoft.com/office/powerpoint/2010/main" val="2583469250"/>
              </p:ext>
            </p:extLst>
          </p:nvPr>
        </p:nvGraphicFramePr>
        <p:xfrm>
          <a:off x="6752897" y="2674381"/>
          <a:ext cx="2743200" cy="3733802"/>
        </p:xfrm>
        <a:graphic>
          <a:graphicData uri="http://schemas.openxmlformats.org/drawingml/2006/table">
            <a:tbl>
              <a:tblPr/>
              <a:tblGrid>
                <a:gridCol w="1233488">
                  <a:extLst>
                    <a:ext uri="{9D8B030D-6E8A-4147-A177-3AD203B41FA5}">
                      <a16:colId xmlns:a16="http://schemas.microsoft.com/office/drawing/2014/main" val="20000"/>
                    </a:ext>
                  </a:extLst>
                </a:gridCol>
                <a:gridCol w="1509712">
                  <a:extLst>
                    <a:ext uri="{9D8B030D-6E8A-4147-A177-3AD203B41FA5}">
                      <a16:colId xmlns:a16="http://schemas.microsoft.com/office/drawing/2014/main" val="20001"/>
                    </a:ext>
                  </a:extLst>
                </a:gridCol>
              </a:tblGrid>
              <a:tr h="430213">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rgbClr val="000000"/>
                          </a:solidFill>
                          <a:effectLst/>
                          <a:latin typeface="Arial" charset="0"/>
                          <a:cs typeface="Arial" charset="0"/>
                        </a:rPr>
                        <a:t>Supp_Id</a:t>
                      </a:r>
                      <a:endParaRPr kumimoji="0" lang="en-US" altLang="en-US" sz="1400" b="0" i="0" u="none" strike="noStrike" cap="none" normalizeH="0" baseline="0">
                        <a:ln>
                          <a:noFill/>
                        </a:ln>
                        <a:solidFill>
                          <a:schemeClr val="tx1"/>
                        </a:solidFill>
                        <a:effectLst/>
                        <a:latin typeface="Arial" charset="0"/>
                      </a:endParaRPr>
                    </a:p>
                  </a:txBody>
                  <a:tcPr marL="90488" marR="90488" marT="44450" marB="4445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rgbClr val="000000"/>
                          </a:solidFill>
                          <a:effectLst/>
                          <a:latin typeface="Arial" charset="0"/>
                          <a:cs typeface="Arial" charset="0"/>
                        </a:rPr>
                        <a:t>SupplierName</a:t>
                      </a:r>
                      <a:endParaRPr kumimoji="0" lang="en-US" altLang="en-US" sz="1400" b="0" i="0" u="none" strike="noStrike" cap="none" normalizeH="0" baseline="0">
                        <a:ln>
                          <a:noFill/>
                        </a:ln>
                        <a:solidFill>
                          <a:schemeClr val="tx1"/>
                        </a:solidFill>
                        <a:effectLst/>
                        <a:latin typeface="Arial" charset="0"/>
                      </a:endParaRPr>
                    </a:p>
                  </a:txBody>
                  <a:tcPr marL="90488" marR="90488" marT="44450" marB="4445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466725">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charset="0"/>
                          <a:cs typeface="Arial" charset="0"/>
                        </a:rPr>
                        <a:t>1</a:t>
                      </a:r>
                      <a:endParaRPr kumimoji="0" lang="en-US" altLang="en-US" sz="1400" b="0" i="0" u="none" strike="noStrike" cap="none" normalizeH="0" baseline="0">
                        <a:ln>
                          <a:noFill/>
                        </a:ln>
                        <a:solidFill>
                          <a:schemeClr val="tx1"/>
                        </a:solidFill>
                        <a:effectLst/>
                        <a:latin typeface="Arial" charset="0"/>
                      </a:endParaRPr>
                    </a:p>
                  </a:txBody>
                  <a:tcPr marL="90488" marR="90488" marT="44450" marB="4445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charset="0"/>
                          <a:cs typeface="Arial" charset="0"/>
                        </a:rPr>
                        <a:t>Nabisco</a:t>
                      </a:r>
                      <a:endParaRPr kumimoji="0" lang="en-US" altLang="en-US" sz="1400" b="0" i="0" u="none" strike="noStrike" cap="none" normalizeH="0" baseline="0">
                        <a:ln>
                          <a:noFill/>
                        </a:ln>
                        <a:solidFill>
                          <a:schemeClr val="tx1"/>
                        </a:solidFill>
                        <a:effectLst/>
                        <a:latin typeface="Arial" charset="0"/>
                      </a:endParaRPr>
                    </a:p>
                  </a:txBody>
                  <a:tcPr marL="90488" marR="90488" marT="44450" marB="4445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546100">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charset="0"/>
                          <a:cs typeface="Arial" charset="0"/>
                        </a:rPr>
                        <a:t>2</a:t>
                      </a:r>
                      <a:endParaRPr kumimoji="0" lang="en-US" altLang="en-US" sz="1400" b="0" i="0" u="none" strike="noStrike" cap="none" normalizeH="0" baseline="0">
                        <a:ln>
                          <a:noFill/>
                        </a:ln>
                        <a:solidFill>
                          <a:schemeClr val="tx1"/>
                        </a:solidFill>
                        <a:effectLst/>
                        <a:latin typeface="Arial" charset="0"/>
                      </a:endParaRPr>
                    </a:p>
                  </a:txBody>
                  <a:tcPr marL="90488" marR="90488" marT="44450" marB="4445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charset="0"/>
                          <a:cs typeface="Arial" charset="0"/>
                        </a:rPr>
                        <a:t>President's Choice</a:t>
                      </a:r>
                      <a:endParaRPr kumimoji="0" lang="en-US" altLang="en-US" sz="1400" b="0" i="0" u="none" strike="noStrike" cap="none" normalizeH="0" baseline="0">
                        <a:ln>
                          <a:noFill/>
                        </a:ln>
                        <a:solidFill>
                          <a:schemeClr val="tx1"/>
                        </a:solidFill>
                        <a:effectLst/>
                        <a:latin typeface="Arial" charset="0"/>
                      </a:endParaRPr>
                    </a:p>
                  </a:txBody>
                  <a:tcPr marL="90488" marR="90488" marT="44450" marB="4445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477838">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charset="0"/>
                          <a:cs typeface="Arial" charset="0"/>
                        </a:rPr>
                        <a:t>3</a:t>
                      </a:r>
                      <a:endParaRPr kumimoji="0" lang="en-US" altLang="en-US" sz="1400" b="0" i="0" u="none" strike="noStrike" cap="none" normalizeH="0" baseline="0">
                        <a:ln>
                          <a:noFill/>
                        </a:ln>
                        <a:solidFill>
                          <a:schemeClr val="tx1"/>
                        </a:solidFill>
                        <a:effectLst/>
                        <a:latin typeface="Arial" charset="0"/>
                      </a:endParaRPr>
                    </a:p>
                  </a:txBody>
                  <a:tcPr marL="90488" marR="90488" marT="44450" marB="4445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charset="0"/>
                          <a:cs typeface="Arial" charset="0"/>
                        </a:rPr>
                        <a:t>Noname</a:t>
                      </a:r>
                      <a:endParaRPr kumimoji="0" lang="en-US" altLang="en-US" sz="1400" b="0" i="0" u="none" strike="noStrike" cap="none" normalizeH="0" baseline="0">
                        <a:ln>
                          <a:noFill/>
                        </a:ln>
                        <a:solidFill>
                          <a:schemeClr val="tx1"/>
                        </a:solidFill>
                        <a:effectLst/>
                        <a:latin typeface="Arial" charset="0"/>
                      </a:endParaRPr>
                    </a:p>
                  </a:txBody>
                  <a:tcPr marL="90488" marR="90488" marT="44450" marB="4445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74663">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charset="0"/>
                          <a:cs typeface="Arial" charset="0"/>
                        </a:rPr>
                        <a:t>4</a:t>
                      </a:r>
                      <a:endParaRPr kumimoji="0" lang="en-US" altLang="en-US" sz="1400" b="0" i="0" u="none" strike="noStrike" cap="none" normalizeH="0" baseline="0">
                        <a:ln>
                          <a:noFill/>
                        </a:ln>
                        <a:solidFill>
                          <a:schemeClr val="tx1"/>
                        </a:solidFill>
                        <a:effectLst/>
                        <a:latin typeface="Arial" charset="0"/>
                      </a:endParaRPr>
                    </a:p>
                  </a:txBody>
                  <a:tcPr marL="90488" marR="90488" marT="44450" marB="4445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charset="0"/>
                          <a:cs typeface="Arial" charset="0"/>
                        </a:rPr>
                        <a:t>Kraft</a:t>
                      </a:r>
                      <a:endParaRPr kumimoji="0" lang="en-US" altLang="en-US" sz="1400" b="0" i="0" u="none" strike="noStrike" cap="none" normalizeH="0" baseline="0">
                        <a:ln>
                          <a:noFill/>
                        </a:ln>
                        <a:solidFill>
                          <a:schemeClr val="tx1"/>
                        </a:solidFill>
                        <a:effectLst/>
                        <a:latin typeface="Arial" charset="0"/>
                      </a:endParaRPr>
                    </a:p>
                  </a:txBody>
                  <a:tcPr marL="90488" marR="90488" marT="44450" marB="4445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644525">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charset="0"/>
                          <a:cs typeface="Arial" charset="0"/>
                        </a:rPr>
                        <a:t>5</a:t>
                      </a:r>
                      <a:endParaRPr kumimoji="0" lang="en-US" altLang="en-US" sz="1400" b="0" i="0" u="none" strike="noStrike" cap="none" normalizeH="0" baseline="0">
                        <a:ln>
                          <a:noFill/>
                        </a:ln>
                        <a:solidFill>
                          <a:schemeClr val="tx1"/>
                        </a:solidFill>
                        <a:effectLst/>
                        <a:latin typeface="Arial" charset="0"/>
                      </a:endParaRPr>
                    </a:p>
                  </a:txBody>
                  <a:tcPr marL="90488" marR="90488" marT="44450" marB="4445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charset="0"/>
                          <a:cs typeface="Arial" charset="0"/>
                        </a:rPr>
                        <a:t>General Mills</a:t>
                      </a:r>
                      <a:endParaRPr kumimoji="0" lang="en-US" altLang="en-US" sz="1400" b="0" i="0" u="none" strike="noStrike" cap="none" normalizeH="0" baseline="0">
                        <a:ln>
                          <a:noFill/>
                        </a:ln>
                        <a:solidFill>
                          <a:schemeClr val="tx1"/>
                        </a:solidFill>
                        <a:effectLst/>
                        <a:latin typeface="Arial" charset="0"/>
                      </a:endParaRPr>
                    </a:p>
                  </a:txBody>
                  <a:tcPr marL="90488" marR="90488" marT="44450" marB="4445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693738">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charset="0"/>
                          <a:cs typeface="Arial" charset="0"/>
                        </a:rPr>
                        <a:t>6</a:t>
                      </a:r>
                      <a:endParaRPr kumimoji="0" lang="en-US" altLang="en-US" sz="1400" b="0" i="0" u="none" strike="noStrike" cap="none" normalizeH="0" baseline="0">
                        <a:ln>
                          <a:noFill/>
                        </a:ln>
                        <a:solidFill>
                          <a:schemeClr val="tx1"/>
                        </a:solidFill>
                        <a:effectLst/>
                        <a:latin typeface="Arial" charset="0"/>
                      </a:endParaRPr>
                    </a:p>
                  </a:txBody>
                  <a:tcPr marL="90488" marR="90488" marT="44450" marB="4445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charset="0"/>
                          <a:cs typeface="Arial" charset="0"/>
                        </a:rPr>
                        <a:t>Christie</a:t>
                      </a:r>
                      <a:endParaRPr kumimoji="0" lang="en-US" altLang="en-US" sz="1400" b="0" i="0" u="none" strike="noStrike" cap="none" normalizeH="0" baseline="0">
                        <a:ln>
                          <a:noFill/>
                        </a:ln>
                        <a:solidFill>
                          <a:schemeClr val="tx1"/>
                        </a:solidFill>
                        <a:effectLst/>
                        <a:latin typeface="Arial" charset="0"/>
                      </a:endParaRPr>
                    </a:p>
                  </a:txBody>
                  <a:tcPr marL="90488" marR="90488" marT="44450" marB="4445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graphicFrame>
        <p:nvGraphicFramePr>
          <p:cNvPr id="5" name="Group 356"/>
          <p:cNvGraphicFramePr>
            <a:graphicFrameLocks noGrp="1"/>
          </p:cNvGraphicFramePr>
          <p:nvPr>
            <p:extLst>
              <p:ext uri="{D42A27DB-BD31-4B8C-83A1-F6EECF244321}">
                <p14:modId xmlns:p14="http://schemas.microsoft.com/office/powerpoint/2010/main" val="1872276396"/>
              </p:ext>
            </p:extLst>
          </p:nvPr>
        </p:nvGraphicFramePr>
        <p:xfrm>
          <a:off x="1647497" y="2826781"/>
          <a:ext cx="4267200" cy="3167094"/>
        </p:xfrm>
        <a:graphic>
          <a:graphicData uri="http://schemas.openxmlformats.org/drawingml/2006/table">
            <a:tbl>
              <a:tblPr/>
              <a:tblGrid>
                <a:gridCol w="998538">
                  <a:extLst>
                    <a:ext uri="{9D8B030D-6E8A-4147-A177-3AD203B41FA5}">
                      <a16:colId xmlns:a16="http://schemas.microsoft.com/office/drawing/2014/main" val="20000"/>
                    </a:ext>
                  </a:extLst>
                </a:gridCol>
                <a:gridCol w="2354262">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838026">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rgbClr val="000000"/>
                          </a:solidFill>
                          <a:effectLst/>
                          <a:latin typeface="Arial" charset="0"/>
                          <a:cs typeface="Arial" charset="0"/>
                        </a:rPr>
                        <a:t>ProductID</a:t>
                      </a:r>
                      <a:endParaRPr kumimoji="0" lang="en-US" altLang="en-US" sz="1600" b="0" i="0" u="none" strike="noStrike" cap="none" normalizeH="0" baseline="0">
                        <a:ln>
                          <a:noFill/>
                        </a:ln>
                        <a:solidFill>
                          <a:schemeClr val="tx1"/>
                        </a:solidFill>
                        <a:effectLst/>
                        <a:latin typeface="Arial" charset="0"/>
                      </a:endParaRPr>
                    </a:p>
                  </a:txBody>
                  <a:tcPr marL="90488" marR="90488" marT="44442" marB="4444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rgbClr val="000000"/>
                          </a:solidFill>
                          <a:effectLst/>
                          <a:latin typeface="Arial" charset="0"/>
                          <a:cs typeface="Arial" charset="0"/>
                        </a:rPr>
                        <a:t>ProductName</a:t>
                      </a:r>
                      <a:endParaRPr kumimoji="0" lang="en-US" altLang="en-US" sz="1600" b="0" i="0" u="none" strike="noStrike" cap="none" normalizeH="0" baseline="0">
                        <a:ln>
                          <a:noFill/>
                        </a:ln>
                        <a:solidFill>
                          <a:schemeClr val="tx1"/>
                        </a:solidFill>
                        <a:effectLst/>
                        <a:latin typeface="Arial" charset="0"/>
                      </a:endParaRPr>
                    </a:p>
                  </a:txBody>
                  <a:tcPr marL="90488" marR="90488" marT="44442" marB="4444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rgbClr val="000000"/>
                          </a:solidFill>
                          <a:effectLst/>
                          <a:latin typeface="Arial" charset="0"/>
                          <a:cs typeface="Arial" charset="0"/>
                        </a:rPr>
                        <a:t>    SID</a:t>
                      </a:r>
                      <a:endParaRPr kumimoji="0" lang="en-US" altLang="en-US" sz="1600" b="0" i="0" u="none" strike="noStrike" cap="none" normalizeH="0" baseline="0">
                        <a:ln>
                          <a:noFill/>
                        </a:ln>
                        <a:solidFill>
                          <a:schemeClr val="tx1"/>
                        </a:solidFill>
                        <a:effectLst/>
                        <a:latin typeface="Arial" charset="0"/>
                      </a:endParaRPr>
                    </a:p>
                  </a:txBody>
                  <a:tcPr marL="90488" marR="90488" marT="44442" marB="4444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332720">
                <a:tc gridSpan="3">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10001"/>
                  </a:ext>
                </a:extLst>
              </a:tr>
              <a:tr h="332720">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5</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Pesto</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2</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32720">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6</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Ginger Snap Cookies</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2</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32720">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7</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Triscuits Crackers</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2</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332720">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8</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Penne Pasta</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4</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332720">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9</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Horse radish</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charset="0"/>
                          <a:cs typeface="Arial" charset="0"/>
                        </a:rPr>
                        <a:t>4</a:t>
                      </a:r>
                      <a:endParaRPr kumimoji="0" lang="en-US" altLang="en-US" sz="1600" b="0" i="0" u="none" strike="noStrike" cap="none" normalizeH="0" baseline="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332720">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cs typeface="Arial" charset="0"/>
                        </a:rPr>
                        <a:t>10</a:t>
                      </a:r>
                      <a:endParaRPr kumimoji="0" lang="en-US" altLang="en-US" sz="1600" b="0" i="0" u="none" strike="noStrike" cap="none" normalizeH="0" baseline="0" dirty="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cs typeface="Arial" charset="0"/>
                        </a:rPr>
                        <a:t>Bread &amp; Butter Pickles</a:t>
                      </a:r>
                      <a:endParaRPr kumimoji="0" lang="en-US" altLang="en-US" sz="1600" b="0" i="0" u="none" strike="noStrike" cap="none" normalizeH="0" baseline="0" dirty="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hlink"/>
                        </a:buClr>
                        <a:buSzPct val="80000"/>
                        <a:buFont typeface="Wingdings" pitchFamily="2" charset="2"/>
                        <a:defRPr sz="2800">
                          <a:solidFill>
                            <a:schemeClr val="tx1"/>
                          </a:solidFill>
                          <a:latin typeface="Arial" charset="0"/>
                        </a:defRPr>
                      </a:lvl1pPr>
                      <a:lvl2pPr>
                        <a:spcBef>
                          <a:spcPct val="20000"/>
                        </a:spcBef>
                        <a:buClr>
                          <a:schemeClr val="accent1"/>
                        </a:buClr>
                        <a:buSzPct val="70000"/>
                        <a:buFont typeface="Wingdings" pitchFamily="2" charset="2"/>
                        <a:defRPr sz="2400">
                          <a:solidFill>
                            <a:schemeClr val="tx1"/>
                          </a:solidFill>
                          <a:latin typeface="Arial" charset="0"/>
                        </a:defRPr>
                      </a:lvl2pPr>
                      <a:lvl3pPr>
                        <a:spcBef>
                          <a:spcPct val="20000"/>
                        </a:spcBef>
                        <a:buClr>
                          <a:schemeClr val="bg2"/>
                        </a:buClr>
                        <a:buSzPct val="65000"/>
                        <a:buFont typeface="Wingdings" pitchFamily="2" charset="2"/>
                        <a:defRPr sz="2000">
                          <a:solidFill>
                            <a:schemeClr val="tx1"/>
                          </a:solidFill>
                          <a:latin typeface="Arial" charset="0"/>
                        </a:defRPr>
                      </a:lvl3pPr>
                      <a:lvl4pPr>
                        <a:spcBef>
                          <a:spcPct val="20000"/>
                        </a:spcBef>
                        <a:buClr>
                          <a:schemeClr val="hlink"/>
                        </a:buClr>
                        <a:buSzPct val="60000"/>
                        <a:buFont typeface="Wingdings" pitchFamily="2" charset="2"/>
                        <a:defRPr>
                          <a:solidFill>
                            <a:schemeClr val="tx1"/>
                          </a:solidFill>
                          <a:latin typeface="Arial" charset="0"/>
                        </a:defRPr>
                      </a:lvl4pPr>
                      <a:lvl5pPr>
                        <a:spcBef>
                          <a:spcPct val="20000"/>
                        </a:spcBef>
                        <a:buClr>
                          <a:schemeClr val="bg2"/>
                        </a:buClr>
                        <a:buSzPct val="40000"/>
                        <a:buFont typeface="Wingdings" pitchFamily="2" charset="2"/>
                        <a:defRPr>
                          <a:solidFill>
                            <a:schemeClr val="tx1"/>
                          </a:solidFill>
                          <a:latin typeface="Arial" charset="0"/>
                        </a:defRPr>
                      </a:lvl5pPr>
                      <a:lvl6pPr fontAlgn="base">
                        <a:spcBef>
                          <a:spcPct val="20000"/>
                        </a:spcBef>
                        <a:spcAft>
                          <a:spcPct val="0"/>
                        </a:spcAft>
                        <a:buClr>
                          <a:schemeClr val="bg2"/>
                        </a:buClr>
                        <a:buSzPct val="40000"/>
                        <a:buFont typeface="Wingdings" pitchFamily="2" charset="2"/>
                        <a:defRPr>
                          <a:solidFill>
                            <a:schemeClr val="tx1"/>
                          </a:solidFill>
                          <a:latin typeface="Arial" charset="0"/>
                        </a:defRPr>
                      </a:lvl6pPr>
                      <a:lvl7pPr fontAlgn="base">
                        <a:spcBef>
                          <a:spcPct val="20000"/>
                        </a:spcBef>
                        <a:spcAft>
                          <a:spcPct val="0"/>
                        </a:spcAft>
                        <a:buClr>
                          <a:schemeClr val="bg2"/>
                        </a:buClr>
                        <a:buSzPct val="40000"/>
                        <a:buFont typeface="Wingdings" pitchFamily="2" charset="2"/>
                        <a:defRPr>
                          <a:solidFill>
                            <a:schemeClr val="tx1"/>
                          </a:solidFill>
                          <a:latin typeface="Arial" charset="0"/>
                        </a:defRPr>
                      </a:lvl7pPr>
                      <a:lvl8pPr fontAlgn="base">
                        <a:spcBef>
                          <a:spcPct val="20000"/>
                        </a:spcBef>
                        <a:spcAft>
                          <a:spcPct val="0"/>
                        </a:spcAft>
                        <a:buClr>
                          <a:schemeClr val="bg2"/>
                        </a:buClr>
                        <a:buSzPct val="40000"/>
                        <a:buFont typeface="Wingdings" pitchFamily="2" charset="2"/>
                        <a:defRPr>
                          <a:solidFill>
                            <a:schemeClr val="tx1"/>
                          </a:solidFill>
                          <a:latin typeface="Arial" charset="0"/>
                        </a:defRPr>
                      </a:lvl8pPr>
                      <a:lvl9pPr fontAlgn="base">
                        <a:spcBef>
                          <a:spcPct val="20000"/>
                        </a:spcBef>
                        <a:spcAft>
                          <a:spcPct val="0"/>
                        </a:spcAft>
                        <a:buClr>
                          <a:schemeClr val="bg2"/>
                        </a:buClr>
                        <a:buSzPct val="4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cs typeface="Arial" charset="0"/>
                        </a:rPr>
                        <a:t>6</a:t>
                      </a:r>
                      <a:endParaRPr kumimoji="0" lang="en-US" altLang="en-US" sz="1600" b="0" i="0" u="none" strike="noStrike" cap="none" normalizeH="0" baseline="0" dirty="0">
                        <a:ln>
                          <a:noFill/>
                        </a:ln>
                        <a:solidFill>
                          <a:schemeClr val="tx1"/>
                        </a:solidFill>
                        <a:effectLst/>
                        <a:latin typeface="Arial" charset="0"/>
                      </a:endParaRPr>
                    </a:p>
                  </a:txBody>
                  <a:tcPr marL="90488" marR="90488" marT="44442" marB="44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bl>
          </a:graphicData>
        </a:graphic>
      </p:graphicFrame>
      <p:sp>
        <p:nvSpPr>
          <p:cNvPr id="6" name="Line 357"/>
          <p:cNvSpPr>
            <a:spLocks noChangeShapeType="1"/>
          </p:cNvSpPr>
          <p:nvPr/>
        </p:nvSpPr>
        <p:spPr bwMode="auto">
          <a:xfrm flipV="1">
            <a:off x="5914697" y="3741181"/>
            <a:ext cx="838200" cy="457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en-US"/>
          </a:p>
        </p:txBody>
      </p:sp>
      <p:sp>
        <p:nvSpPr>
          <p:cNvPr id="7" name="Line 358"/>
          <p:cNvSpPr>
            <a:spLocks noChangeShapeType="1"/>
          </p:cNvSpPr>
          <p:nvPr/>
        </p:nvSpPr>
        <p:spPr bwMode="auto">
          <a:xfrm flipV="1">
            <a:off x="5914697" y="3817381"/>
            <a:ext cx="838200" cy="685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en-US"/>
          </a:p>
        </p:txBody>
      </p:sp>
      <p:sp>
        <p:nvSpPr>
          <p:cNvPr id="8" name="Line 359"/>
          <p:cNvSpPr>
            <a:spLocks noChangeShapeType="1"/>
          </p:cNvSpPr>
          <p:nvPr/>
        </p:nvSpPr>
        <p:spPr bwMode="auto">
          <a:xfrm flipV="1">
            <a:off x="5914697" y="3969781"/>
            <a:ext cx="838200" cy="838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en-US"/>
          </a:p>
        </p:txBody>
      </p:sp>
      <p:sp>
        <p:nvSpPr>
          <p:cNvPr id="9" name="Line 360"/>
          <p:cNvSpPr>
            <a:spLocks noChangeShapeType="1"/>
          </p:cNvSpPr>
          <p:nvPr/>
        </p:nvSpPr>
        <p:spPr bwMode="auto">
          <a:xfrm flipV="1">
            <a:off x="5914697" y="4731781"/>
            <a:ext cx="838200" cy="457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en-US"/>
          </a:p>
        </p:txBody>
      </p:sp>
      <p:sp>
        <p:nvSpPr>
          <p:cNvPr id="10" name="Line 361"/>
          <p:cNvSpPr>
            <a:spLocks noChangeShapeType="1"/>
          </p:cNvSpPr>
          <p:nvPr/>
        </p:nvSpPr>
        <p:spPr bwMode="auto">
          <a:xfrm flipV="1">
            <a:off x="5914697" y="4884181"/>
            <a:ext cx="838200" cy="609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en-US"/>
          </a:p>
        </p:txBody>
      </p:sp>
      <p:sp>
        <p:nvSpPr>
          <p:cNvPr id="11" name="Line 362"/>
          <p:cNvSpPr>
            <a:spLocks noChangeShapeType="1"/>
          </p:cNvSpPr>
          <p:nvPr/>
        </p:nvSpPr>
        <p:spPr bwMode="auto">
          <a:xfrm>
            <a:off x="5914697" y="5798581"/>
            <a:ext cx="838200" cy="228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en-US"/>
          </a:p>
        </p:txBody>
      </p:sp>
      <p:sp>
        <p:nvSpPr>
          <p:cNvPr id="13" name="TextBox 12"/>
          <p:cNvSpPr txBox="1"/>
          <p:nvPr/>
        </p:nvSpPr>
        <p:spPr>
          <a:xfrm>
            <a:off x="2626823" y="2389981"/>
            <a:ext cx="1787522" cy="369332"/>
          </a:xfrm>
          <a:prstGeom prst="rect">
            <a:avLst/>
          </a:prstGeom>
          <a:noFill/>
        </p:spPr>
        <p:txBody>
          <a:bodyPr wrap="square" rtlCol="0">
            <a:spAutoFit/>
          </a:bodyPr>
          <a:lstStyle/>
          <a:p>
            <a:r>
              <a:rPr lang="en-US" b="1" dirty="0"/>
              <a:t>PRODUCTS</a:t>
            </a:r>
            <a:endParaRPr lang="en-CA" b="1" dirty="0"/>
          </a:p>
        </p:txBody>
      </p:sp>
      <p:sp>
        <p:nvSpPr>
          <p:cNvPr id="14" name="TextBox 13"/>
          <p:cNvSpPr txBox="1"/>
          <p:nvPr/>
        </p:nvSpPr>
        <p:spPr>
          <a:xfrm>
            <a:off x="7020751" y="2059709"/>
            <a:ext cx="1753793" cy="369332"/>
          </a:xfrm>
          <a:prstGeom prst="rect">
            <a:avLst/>
          </a:prstGeom>
          <a:noFill/>
        </p:spPr>
        <p:txBody>
          <a:bodyPr wrap="square" rtlCol="0">
            <a:spAutoFit/>
          </a:bodyPr>
          <a:lstStyle/>
          <a:p>
            <a:r>
              <a:rPr lang="en-US" b="1" dirty="0"/>
              <a:t>SUPPLIERS</a:t>
            </a:r>
            <a:endParaRPr lang="en-CA" b="1" dirty="0"/>
          </a:p>
        </p:txBody>
      </p:sp>
    </p:spTree>
    <p:extLst>
      <p:ext uri="{BB962C8B-B14F-4D97-AF65-F5344CB8AC3E}">
        <p14:creationId xmlns:p14="http://schemas.microsoft.com/office/powerpoint/2010/main" val="2570039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Joining Two Tables </a:t>
            </a:r>
            <a:r>
              <a:rPr lang="en-US" sz="3600" dirty="0">
                <a:solidFill>
                  <a:srgbClr val="C00000"/>
                </a:solidFill>
              </a:rPr>
              <a:t>(Example)</a:t>
            </a:r>
            <a:endParaRPr lang="en-CA" dirty="0"/>
          </a:p>
        </p:txBody>
      </p:sp>
      <p:sp>
        <p:nvSpPr>
          <p:cNvPr id="3" name="Content Placeholder 2"/>
          <p:cNvSpPr>
            <a:spLocks noGrp="1"/>
          </p:cNvSpPr>
          <p:nvPr>
            <p:ph idx="1"/>
          </p:nvPr>
        </p:nvSpPr>
        <p:spPr/>
        <p:txBody>
          <a:bodyPr>
            <a:normAutofit lnSpcReduction="10000"/>
          </a:bodyPr>
          <a:lstStyle/>
          <a:p>
            <a:pPr>
              <a:spcBef>
                <a:spcPct val="30000"/>
              </a:spcBef>
            </a:pPr>
            <a:r>
              <a:rPr lang="en-US" altLang="en-US" dirty="0"/>
              <a:t>Write a select statement to display product ID, product name, and supplier name:</a:t>
            </a:r>
          </a:p>
          <a:p>
            <a:pPr lvl="1">
              <a:spcBef>
                <a:spcPct val="30000"/>
              </a:spcBef>
            </a:pPr>
            <a:r>
              <a:rPr lang="en-US" altLang="en-US" dirty="0"/>
              <a:t>You need to select from two tables</a:t>
            </a:r>
          </a:p>
          <a:p>
            <a:pPr lvl="2">
              <a:spcBef>
                <a:spcPct val="30000"/>
              </a:spcBef>
            </a:pPr>
            <a:r>
              <a:rPr lang="en-US" altLang="en-US" dirty="0"/>
              <a:t>You need to select columns product ID and product name from table PRODUCTS</a:t>
            </a:r>
          </a:p>
          <a:p>
            <a:pPr lvl="2">
              <a:spcBef>
                <a:spcPct val="30000"/>
              </a:spcBef>
            </a:pPr>
            <a:r>
              <a:rPr lang="en-US" altLang="en-US" dirty="0"/>
              <a:t>You need to select supplier name from table SUPPLIERS</a:t>
            </a:r>
          </a:p>
          <a:p>
            <a:pPr marL="533400" indent="-533400">
              <a:buNone/>
            </a:pPr>
            <a:r>
              <a:rPr lang="en-US" altLang="en-US" dirty="0"/>
              <a:t>       </a:t>
            </a:r>
            <a:r>
              <a:rPr lang="en-US" altLang="en-US" sz="2000" b="1" dirty="0">
                <a:latin typeface="Courier New" panose="02070309020205020404" pitchFamily="49" charset="0"/>
                <a:cs typeface="Courier New" panose="02070309020205020404" pitchFamily="49" charset="0"/>
              </a:rPr>
              <a:t>SELECT</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p.Product_ID</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p.Product_Name</a:t>
            </a:r>
            <a:r>
              <a:rPr lang="en-US" altLang="en-US" sz="2000" dirty="0">
                <a:latin typeface="Courier New" panose="02070309020205020404" pitchFamily="49" charset="0"/>
                <a:cs typeface="Courier New" panose="02070309020205020404" pitchFamily="49" charset="0"/>
              </a:rPr>
              <a:t>,  </a:t>
            </a:r>
          </a:p>
          <a:p>
            <a:pPr marL="533400" indent="-533400">
              <a:buNone/>
            </a:pP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p.SID</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s.Supplier_Name</a:t>
            </a:r>
            <a:r>
              <a:rPr lang="en-US" altLang="en-US" sz="2000" dirty="0">
                <a:latin typeface="Courier New" panose="02070309020205020404" pitchFamily="49" charset="0"/>
                <a:cs typeface="Courier New" panose="02070309020205020404" pitchFamily="49" charset="0"/>
              </a:rPr>
              <a:t> </a:t>
            </a:r>
          </a:p>
          <a:p>
            <a:pPr marL="533400" indent="-533400">
              <a:buNone/>
            </a:pPr>
            <a:r>
              <a:rPr lang="en-US" altLang="en-US" sz="2000"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FROM</a:t>
            </a:r>
            <a:r>
              <a:rPr lang="en-US" altLang="en-US" sz="2000" dirty="0">
                <a:latin typeface="Courier New" panose="02070309020205020404" pitchFamily="49" charset="0"/>
                <a:cs typeface="Courier New" panose="02070309020205020404" pitchFamily="49" charset="0"/>
              </a:rPr>
              <a:t>  	PRODUCTS  p </a:t>
            </a:r>
          </a:p>
          <a:p>
            <a:pPr marL="533400" indent="-533400">
              <a:buNone/>
            </a:pPr>
            <a:r>
              <a:rPr lang="en-US" altLang="en-US" sz="2000"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 JOIN     </a:t>
            </a:r>
            <a:r>
              <a:rPr lang="en-US" altLang="en-US" sz="2000" dirty="0">
                <a:latin typeface="Courier New" panose="02070309020205020404" pitchFamily="49" charset="0"/>
                <a:cs typeface="Courier New" panose="02070309020205020404" pitchFamily="49" charset="0"/>
              </a:rPr>
              <a:t>SUPPLIERS  s </a:t>
            </a:r>
          </a:p>
          <a:p>
            <a:pPr marL="533400" indent="-533400">
              <a:buNone/>
            </a:pPr>
            <a:r>
              <a:rPr lang="en-US" altLang="en-US" sz="2000"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ON</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p.SID</a:t>
            </a:r>
            <a:r>
              <a:rPr lang="en-US" altLang="en-US" sz="2000" dirty="0">
                <a:latin typeface="Courier New" panose="02070309020205020404" pitchFamily="49" charset="0"/>
                <a:cs typeface="Courier New" panose="02070309020205020404" pitchFamily="49" charset="0"/>
              </a:rPr>
              <a:t> = </a:t>
            </a:r>
            <a:r>
              <a:rPr lang="en-US" altLang="en-US" sz="2000" dirty="0" err="1">
                <a:latin typeface="Courier New" panose="02070309020205020404" pitchFamily="49" charset="0"/>
                <a:cs typeface="Courier New" panose="02070309020205020404" pitchFamily="49" charset="0"/>
              </a:rPr>
              <a:t>s.Supp_ID</a:t>
            </a:r>
            <a:endParaRPr lang="en-US" altLang="en-US" sz="2000" dirty="0">
              <a:latin typeface="Courier New" panose="02070309020205020404" pitchFamily="49" charset="0"/>
              <a:cs typeface="Courier New" panose="02070309020205020404" pitchFamily="49" charset="0"/>
            </a:endParaRPr>
          </a:p>
          <a:p>
            <a:r>
              <a:rPr lang="en-US" i="1" dirty="0"/>
              <a:t>SID</a:t>
            </a:r>
            <a:r>
              <a:rPr lang="en-US" dirty="0"/>
              <a:t> in table </a:t>
            </a:r>
            <a:r>
              <a:rPr lang="en-US" i="1" dirty="0"/>
              <a:t>PRODUCTS</a:t>
            </a:r>
            <a:r>
              <a:rPr lang="en-US" dirty="0"/>
              <a:t> refers to </a:t>
            </a:r>
            <a:r>
              <a:rPr lang="en-US" i="1" dirty="0"/>
              <a:t>SUPP_ID</a:t>
            </a:r>
            <a:r>
              <a:rPr lang="en-US" dirty="0"/>
              <a:t> in table SUPPLIERS.</a:t>
            </a:r>
            <a:endParaRPr lang="en-CA" dirty="0"/>
          </a:p>
        </p:txBody>
      </p:sp>
    </p:spTree>
    <p:extLst>
      <p:ext uri="{BB962C8B-B14F-4D97-AF65-F5344CB8AC3E}">
        <p14:creationId xmlns:p14="http://schemas.microsoft.com/office/powerpoint/2010/main" val="1582950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endParaRPr lang="en-CA" dirty="0"/>
          </a:p>
        </p:txBody>
      </p:sp>
      <p:sp>
        <p:nvSpPr>
          <p:cNvPr id="3" name="Content Placeholder 2"/>
          <p:cNvSpPr>
            <a:spLocks noGrp="1"/>
          </p:cNvSpPr>
          <p:nvPr>
            <p:ph idx="1"/>
          </p:nvPr>
        </p:nvSpPr>
        <p:spPr/>
        <p:txBody>
          <a:bodyPr/>
          <a:lstStyle/>
          <a:p>
            <a:r>
              <a:rPr lang="en-US" sz="2800" dirty="0"/>
              <a:t>There are different types of joins in SQL</a:t>
            </a:r>
          </a:p>
          <a:p>
            <a:pPr lvl="1"/>
            <a:r>
              <a:rPr lang="en-US" sz="2800" dirty="0"/>
              <a:t>Cross Join</a:t>
            </a:r>
          </a:p>
          <a:p>
            <a:pPr lvl="1"/>
            <a:r>
              <a:rPr lang="en-US" sz="2800" dirty="0"/>
              <a:t>Inner Join</a:t>
            </a:r>
          </a:p>
          <a:p>
            <a:pPr lvl="1"/>
            <a:r>
              <a:rPr lang="en-US" sz="2800" dirty="0"/>
              <a:t>Left Join</a:t>
            </a:r>
          </a:p>
          <a:p>
            <a:pPr lvl="1"/>
            <a:r>
              <a:rPr lang="en-US" sz="2800" dirty="0"/>
              <a:t>Right Join</a:t>
            </a:r>
          </a:p>
          <a:p>
            <a:pPr lvl="1"/>
            <a:endParaRPr lang="en-CA" dirty="0"/>
          </a:p>
        </p:txBody>
      </p:sp>
    </p:spTree>
    <p:extLst>
      <p:ext uri="{BB962C8B-B14F-4D97-AF65-F5344CB8AC3E}">
        <p14:creationId xmlns:p14="http://schemas.microsoft.com/office/powerpoint/2010/main" val="1628903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5164" y="365760"/>
            <a:ext cx="10049348" cy="1325562"/>
          </a:xfrm>
        </p:spPr>
        <p:txBody>
          <a:bodyPr/>
          <a:lstStyle/>
          <a:p>
            <a:r>
              <a:rPr lang="en-US" dirty="0">
                <a:solidFill>
                  <a:srgbClr val="FF0000"/>
                </a:solidFill>
              </a:rPr>
              <a:t>The basic syntax of ANSI-92 Joins is:</a:t>
            </a:r>
            <a:endParaRPr lang="en-CA" dirty="0">
              <a:solidFill>
                <a:srgbClr val="FF0000"/>
              </a:solidFill>
            </a:endParaRPr>
          </a:p>
        </p:txBody>
      </p:sp>
      <p:sp>
        <p:nvSpPr>
          <p:cNvPr id="4" name="Rectangle 1"/>
          <p:cNvSpPr>
            <a:spLocks noGrp="1" noChangeArrowheads="1"/>
          </p:cNvSpPr>
          <p:nvPr>
            <p:ph idx="1"/>
          </p:nvPr>
        </p:nvSpPr>
        <p:spPr bwMode="auto">
          <a:xfrm>
            <a:off x="1080655" y="1960773"/>
            <a:ext cx="856210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Unicode MS"/>
              </a:rPr>
              <a:t>SELECT </a:t>
            </a:r>
            <a:r>
              <a:rPr kumimoji="0" lang="en-US" altLang="en-US" sz="2400" b="0" i="0" u="none" strike="noStrike" cap="none" normalizeH="0" baseline="0" dirty="0" err="1">
                <a:ln>
                  <a:noFill/>
                </a:ln>
                <a:solidFill>
                  <a:schemeClr val="tx1"/>
                </a:solidFill>
                <a:effectLst/>
                <a:latin typeface="Arial Unicode MS"/>
              </a:rPr>
              <a:t>fieldlist</a:t>
            </a:r>
            <a:r>
              <a:rPr kumimoji="0" lang="en-US" altLang="en-US" sz="2400" b="0" i="0" u="none" strike="noStrike" cap="none" normalizeH="0" baseline="0" dirty="0">
                <a:ln>
                  <a:noFill/>
                </a:ln>
                <a:solidFill>
                  <a:schemeClr val="tx1"/>
                </a:solidFill>
                <a:effectLst/>
                <a:latin typeface="Arial Unicode MS"/>
              </a:rPr>
              <a:t> from fields from either table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Unicode MS"/>
              </a:rPr>
              <a:t> FROM table1 </a:t>
            </a:r>
            <a:r>
              <a:rPr lang="en-US" altLang="en-US" sz="2400" dirty="0">
                <a:latin typeface="Arial Unicode MS"/>
              </a:rPr>
              <a:t>&lt;</a:t>
            </a:r>
            <a:r>
              <a:rPr kumimoji="0" lang="en-US" altLang="en-US" sz="2400" b="0" i="0" u="none" strike="noStrike" cap="none" normalizeH="0" baseline="0" dirty="0">
                <a:ln>
                  <a:noFill/>
                </a:ln>
                <a:solidFill>
                  <a:schemeClr val="tx1"/>
                </a:solidFill>
                <a:effectLst/>
                <a:latin typeface="Arial Unicode MS"/>
              </a:rPr>
              <a:t>Join Type&gt; JOIN table2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Unicode MS"/>
              </a:rPr>
              <a:t> ON table1.keyfield = table2.keyfield;</a:t>
            </a:r>
            <a:r>
              <a:rPr kumimoji="0" lang="en-US" altLang="en-US" sz="24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latin typeface="Arial" panose="020B0604020202020204" pitchFamily="34" charset="0"/>
              </a:rPr>
              <a:t>OR</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2400" dirty="0">
                <a:latin typeface="Arial Unicode MS"/>
              </a:rPr>
              <a:t>SELECT </a:t>
            </a:r>
            <a:r>
              <a:rPr lang="en-US" altLang="en-US" sz="2400" dirty="0" err="1">
                <a:latin typeface="Arial Unicode MS"/>
              </a:rPr>
              <a:t>fieldlist</a:t>
            </a:r>
            <a:r>
              <a:rPr lang="en-US" altLang="en-US" sz="2400" dirty="0">
                <a:latin typeface="Arial Unicode MS"/>
              </a:rPr>
              <a:t> from fields from either table </a:t>
            </a:r>
          </a:p>
          <a:p>
            <a:pPr marL="0" lvl="0" indent="0" eaLnBrk="0" fontAlgn="base" hangingPunct="0">
              <a:lnSpc>
                <a:spcPct val="100000"/>
              </a:lnSpc>
              <a:spcBef>
                <a:spcPct val="0"/>
              </a:spcBef>
              <a:spcAft>
                <a:spcPct val="0"/>
              </a:spcAft>
              <a:buClrTx/>
              <a:buSzTx/>
              <a:buNone/>
            </a:pPr>
            <a:r>
              <a:rPr lang="en-US" altLang="en-US" sz="2400" dirty="0">
                <a:latin typeface="Arial Unicode MS"/>
              </a:rPr>
              <a:t> FROM table1 &lt;Join Type&gt; JOIN table2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USING (</a:t>
            </a:r>
            <a:r>
              <a:rPr kumimoji="0" lang="en-US" altLang="en-US" sz="2400" b="0" i="0" u="none" strike="noStrike" cap="none" normalizeH="0" baseline="0" dirty="0" err="1">
                <a:ln>
                  <a:noFill/>
                </a:ln>
                <a:solidFill>
                  <a:schemeClr val="tx1"/>
                </a:solidFill>
                <a:effectLst/>
                <a:latin typeface="Arial" panose="020B0604020202020204" pitchFamily="34" charset="0"/>
              </a:rPr>
              <a:t>keyfield</a:t>
            </a:r>
            <a:r>
              <a:rPr lang="en-US" altLang="en-US" sz="2400" dirty="0">
                <a:latin typeface="Arial" panose="020B0604020202020204" pitchFamily="34"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0" y="120877"/>
            <a:ext cx="21352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2062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 Join</a:t>
            </a:r>
            <a:endParaRPr lang="en-CA" dirty="0"/>
          </a:p>
        </p:txBody>
      </p:sp>
      <p:sp>
        <p:nvSpPr>
          <p:cNvPr id="3" name="Content Placeholder 2"/>
          <p:cNvSpPr>
            <a:spLocks noGrp="1"/>
          </p:cNvSpPr>
          <p:nvPr>
            <p:ph idx="1"/>
          </p:nvPr>
        </p:nvSpPr>
        <p:spPr/>
        <p:txBody>
          <a:bodyPr/>
          <a:lstStyle/>
          <a:p>
            <a:r>
              <a:rPr lang="en-US" dirty="0"/>
              <a:t>Returns the Cartesian products of rows from multiple tables.</a:t>
            </a:r>
          </a:p>
          <a:p>
            <a:r>
              <a:rPr lang="en-US" dirty="0"/>
              <a:t>Syntax:</a:t>
            </a:r>
          </a:p>
          <a:p>
            <a:pPr marL="0" indent="0" latinLnBrk="1">
              <a:buNone/>
            </a:pP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SELECT</a:t>
            </a:r>
            <a:r>
              <a:rPr lang="en-US" dirty="0">
                <a:latin typeface="Courier New" panose="02070309020205020404" pitchFamily="49" charset="0"/>
                <a:cs typeface="Courier New" panose="02070309020205020404" pitchFamily="49" charset="0"/>
              </a:rPr>
              <a:t>  * </a:t>
            </a:r>
            <a:r>
              <a:rPr lang="en-US" b="1" dirty="0">
                <a:latin typeface="Courier New" panose="02070309020205020404" pitchFamily="49" charset="0"/>
                <a:cs typeface="Courier New" panose="02070309020205020404" pitchFamily="49" charset="0"/>
              </a:rPr>
              <a:t>FROM</a:t>
            </a:r>
            <a:r>
              <a:rPr lang="en-US" dirty="0">
                <a:latin typeface="Courier New" panose="02070309020205020404" pitchFamily="49" charset="0"/>
                <a:cs typeface="Courier New" panose="02070309020205020404" pitchFamily="49" charset="0"/>
              </a:rPr>
              <a:t>  R </a:t>
            </a:r>
            <a:r>
              <a:rPr lang="en-US" b="1" dirty="0">
                <a:latin typeface="Courier New" panose="02070309020205020404" pitchFamily="49" charset="0"/>
                <a:cs typeface="Courier New" panose="02070309020205020404" pitchFamily="49" charset="0"/>
              </a:rPr>
              <a:t>CROSS JOIN</a:t>
            </a:r>
            <a:r>
              <a:rPr lang="en-US" dirty="0">
                <a:latin typeface="Courier New" panose="02070309020205020404" pitchFamily="49" charset="0"/>
                <a:cs typeface="Courier New" panose="02070309020205020404" pitchFamily="49" charset="0"/>
              </a:rPr>
              <a:t> S;</a:t>
            </a:r>
          </a:p>
          <a:p>
            <a:pPr lvl="1"/>
            <a:endParaRPr lang="en-CA" dirty="0"/>
          </a:p>
        </p:txBody>
      </p:sp>
      <p:graphicFrame>
        <p:nvGraphicFramePr>
          <p:cNvPr id="4" name="Table 3"/>
          <p:cNvGraphicFramePr>
            <a:graphicFrameLocks noGrp="1"/>
          </p:cNvGraphicFramePr>
          <p:nvPr>
            <p:extLst>
              <p:ext uri="{D42A27DB-BD31-4B8C-83A1-F6EECF244321}">
                <p14:modId xmlns:p14="http://schemas.microsoft.com/office/powerpoint/2010/main" val="4050535451"/>
              </p:ext>
            </p:extLst>
          </p:nvPr>
        </p:nvGraphicFramePr>
        <p:xfrm>
          <a:off x="1261869" y="4193626"/>
          <a:ext cx="1596945" cy="1494572"/>
        </p:xfrm>
        <a:graphic>
          <a:graphicData uri="http://schemas.openxmlformats.org/drawingml/2006/table">
            <a:tbl>
              <a:tblPr firstRow="1" bandRow="1"/>
              <a:tblGrid>
                <a:gridCol w="779814">
                  <a:extLst>
                    <a:ext uri="{9D8B030D-6E8A-4147-A177-3AD203B41FA5}">
                      <a16:colId xmlns:a16="http://schemas.microsoft.com/office/drawing/2014/main" val="3235706399"/>
                    </a:ext>
                  </a:extLst>
                </a:gridCol>
                <a:gridCol w="817131">
                  <a:extLst>
                    <a:ext uri="{9D8B030D-6E8A-4147-A177-3AD203B41FA5}">
                      <a16:colId xmlns:a16="http://schemas.microsoft.com/office/drawing/2014/main" val="645910953"/>
                    </a:ext>
                  </a:extLst>
                </a:gridCol>
              </a:tblGrid>
              <a:tr h="373643">
                <a:tc>
                  <a:txBody>
                    <a:bodyPr/>
                    <a:lstStyle/>
                    <a:p>
                      <a:r>
                        <a:rPr lang="en-US" dirty="0"/>
                        <a:t>r.col1</a:t>
                      </a:r>
                      <a:endParaRPr lang="en-CA" dirty="0"/>
                    </a:p>
                  </a:txBody>
                  <a:tcPr/>
                </a:tc>
                <a:tc>
                  <a:txBody>
                    <a:bodyPr/>
                    <a:lstStyle/>
                    <a:p>
                      <a:r>
                        <a:rPr lang="en-US" dirty="0"/>
                        <a:t>r.col2</a:t>
                      </a:r>
                      <a:endParaRPr lang="en-CA" dirty="0"/>
                    </a:p>
                  </a:txBody>
                  <a:tcPr/>
                </a:tc>
                <a:extLst>
                  <a:ext uri="{0D108BD9-81ED-4DB2-BD59-A6C34878D82A}">
                    <a16:rowId xmlns:a16="http://schemas.microsoft.com/office/drawing/2014/main" val="2157743169"/>
                  </a:ext>
                </a:extLst>
              </a:tr>
              <a:tr h="373643">
                <a:tc>
                  <a:txBody>
                    <a:bodyPr/>
                    <a:lstStyle/>
                    <a:p>
                      <a:r>
                        <a:rPr lang="en-US" dirty="0"/>
                        <a:t>A</a:t>
                      </a:r>
                      <a:endParaRPr lang="en-CA" dirty="0"/>
                    </a:p>
                  </a:txBody>
                  <a:tcPr/>
                </a:tc>
                <a:tc>
                  <a:txBody>
                    <a:bodyPr/>
                    <a:lstStyle/>
                    <a:p>
                      <a:r>
                        <a:rPr lang="en-US" dirty="0"/>
                        <a:t>10</a:t>
                      </a:r>
                      <a:endParaRPr lang="en-CA" dirty="0"/>
                    </a:p>
                  </a:txBody>
                  <a:tcPr/>
                </a:tc>
                <a:extLst>
                  <a:ext uri="{0D108BD9-81ED-4DB2-BD59-A6C34878D82A}">
                    <a16:rowId xmlns:a16="http://schemas.microsoft.com/office/drawing/2014/main" val="1108540630"/>
                  </a:ext>
                </a:extLst>
              </a:tr>
              <a:tr h="373643">
                <a:tc>
                  <a:txBody>
                    <a:bodyPr/>
                    <a:lstStyle/>
                    <a:p>
                      <a:r>
                        <a:rPr lang="en-US" dirty="0"/>
                        <a:t>B</a:t>
                      </a:r>
                      <a:endParaRPr lang="en-CA" dirty="0"/>
                    </a:p>
                  </a:txBody>
                  <a:tcPr/>
                </a:tc>
                <a:tc>
                  <a:txBody>
                    <a:bodyPr/>
                    <a:lstStyle/>
                    <a:p>
                      <a:r>
                        <a:rPr lang="en-US" dirty="0"/>
                        <a:t>20</a:t>
                      </a:r>
                      <a:endParaRPr lang="en-CA" dirty="0"/>
                    </a:p>
                  </a:txBody>
                  <a:tcPr/>
                </a:tc>
                <a:extLst>
                  <a:ext uri="{0D108BD9-81ED-4DB2-BD59-A6C34878D82A}">
                    <a16:rowId xmlns:a16="http://schemas.microsoft.com/office/drawing/2014/main" val="2855371239"/>
                  </a:ext>
                </a:extLst>
              </a:tr>
              <a:tr h="373643">
                <a:tc>
                  <a:txBody>
                    <a:bodyPr/>
                    <a:lstStyle/>
                    <a:p>
                      <a:r>
                        <a:rPr lang="en-US" dirty="0"/>
                        <a:t>C</a:t>
                      </a:r>
                      <a:endParaRPr lang="en-CA" dirty="0"/>
                    </a:p>
                  </a:txBody>
                  <a:tcPr/>
                </a:tc>
                <a:tc>
                  <a:txBody>
                    <a:bodyPr/>
                    <a:lstStyle/>
                    <a:p>
                      <a:r>
                        <a:rPr lang="en-US" dirty="0"/>
                        <a:t>30</a:t>
                      </a:r>
                      <a:endParaRPr lang="en-CA" dirty="0"/>
                    </a:p>
                  </a:txBody>
                  <a:tcPr/>
                </a:tc>
                <a:extLst>
                  <a:ext uri="{0D108BD9-81ED-4DB2-BD59-A6C34878D82A}">
                    <a16:rowId xmlns:a16="http://schemas.microsoft.com/office/drawing/2014/main" val="226064497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286683087"/>
              </p:ext>
            </p:extLst>
          </p:nvPr>
        </p:nvGraphicFramePr>
        <p:xfrm>
          <a:off x="4125939" y="4380447"/>
          <a:ext cx="1633730" cy="1120929"/>
        </p:xfrm>
        <a:graphic>
          <a:graphicData uri="http://schemas.openxmlformats.org/drawingml/2006/table">
            <a:tbl>
              <a:tblPr firstRow="1" bandRow="1"/>
              <a:tblGrid>
                <a:gridCol w="797777">
                  <a:extLst>
                    <a:ext uri="{9D8B030D-6E8A-4147-A177-3AD203B41FA5}">
                      <a16:colId xmlns:a16="http://schemas.microsoft.com/office/drawing/2014/main" val="3235706399"/>
                    </a:ext>
                  </a:extLst>
                </a:gridCol>
                <a:gridCol w="835953">
                  <a:extLst>
                    <a:ext uri="{9D8B030D-6E8A-4147-A177-3AD203B41FA5}">
                      <a16:colId xmlns:a16="http://schemas.microsoft.com/office/drawing/2014/main" val="645910953"/>
                    </a:ext>
                  </a:extLst>
                </a:gridCol>
              </a:tblGrid>
              <a:tr h="373643">
                <a:tc>
                  <a:txBody>
                    <a:bodyPr/>
                    <a:lstStyle/>
                    <a:p>
                      <a:r>
                        <a:rPr lang="en-US" dirty="0"/>
                        <a:t>s.col1</a:t>
                      </a:r>
                      <a:endParaRPr lang="en-CA" dirty="0"/>
                    </a:p>
                  </a:txBody>
                  <a:tcPr/>
                </a:tc>
                <a:tc>
                  <a:txBody>
                    <a:bodyPr/>
                    <a:lstStyle/>
                    <a:p>
                      <a:r>
                        <a:rPr lang="en-US" dirty="0"/>
                        <a:t>s.col2</a:t>
                      </a:r>
                      <a:endParaRPr lang="en-CA" dirty="0"/>
                    </a:p>
                  </a:txBody>
                  <a:tcPr/>
                </a:tc>
                <a:extLst>
                  <a:ext uri="{0D108BD9-81ED-4DB2-BD59-A6C34878D82A}">
                    <a16:rowId xmlns:a16="http://schemas.microsoft.com/office/drawing/2014/main" val="2157743169"/>
                  </a:ext>
                </a:extLst>
              </a:tr>
              <a:tr h="373643">
                <a:tc>
                  <a:txBody>
                    <a:bodyPr/>
                    <a:lstStyle/>
                    <a:p>
                      <a:r>
                        <a:rPr lang="en-US" dirty="0"/>
                        <a:t>D</a:t>
                      </a:r>
                      <a:endParaRPr lang="en-CA" dirty="0"/>
                    </a:p>
                  </a:txBody>
                  <a:tcPr/>
                </a:tc>
                <a:tc>
                  <a:txBody>
                    <a:bodyPr/>
                    <a:lstStyle/>
                    <a:p>
                      <a:r>
                        <a:rPr lang="en-US" dirty="0"/>
                        <a:t>40</a:t>
                      </a:r>
                      <a:endParaRPr lang="en-CA" dirty="0"/>
                    </a:p>
                  </a:txBody>
                  <a:tcPr/>
                </a:tc>
                <a:extLst>
                  <a:ext uri="{0D108BD9-81ED-4DB2-BD59-A6C34878D82A}">
                    <a16:rowId xmlns:a16="http://schemas.microsoft.com/office/drawing/2014/main" val="1108540630"/>
                  </a:ext>
                </a:extLst>
              </a:tr>
              <a:tr h="373643">
                <a:tc>
                  <a:txBody>
                    <a:bodyPr/>
                    <a:lstStyle/>
                    <a:p>
                      <a:r>
                        <a:rPr lang="en-US" dirty="0"/>
                        <a:t>E</a:t>
                      </a:r>
                      <a:endParaRPr lang="en-CA" dirty="0"/>
                    </a:p>
                  </a:txBody>
                  <a:tcPr/>
                </a:tc>
                <a:tc>
                  <a:txBody>
                    <a:bodyPr/>
                    <a:lstStyle/>
                    <a:p>
                      <a:r>
                        <a:rPr lang="en-US" dirty="0"/>
                        <a:t>50</a:t>
                      </a:r>
                      <a:endParaRPr lang="en-CA" dirty="0"/>
                    </a:p>
                  </a:txBody>
                  <a:tcPr/>
                </a:tc>
                <a:extLst>
                  <a:ext uri="{0D108BD9-81ED-4DB2-BD59-A6C34878D82A}">
                    <a16:rowId xmlns:a16="http://schemas.microsoft.com/office/drawing/2014/main" val="285537123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086569047"/>
              </p:ext>
            </p:extLst>
          </p:nvPr>
        </p:nvGraphicFramePr>
        <p:xfrm>
          <a:off x="6417195" y="4023042"/>
          <a:ext cx="3292893" cy="2609302"/>
        </p:xfrm>
        <a:graphic>
          <a:graphicData uri="http://schemas.openxmlformats.org/drawingml/2006/table">
            <a:tbl>
              <a:tblPr firstRow="1" bandRow="1"/>
              <a:tblGrid>
                <a:gridCol w="794700">
                  <a:extLst>
                    <a:ext uri="{9D8B030D-6E8A-4147-A177-3AD203B41FA5}">
                      <a16:colId xmlns:a16="http://schemas.microsoft.com/office/drawing/2014/main" val="3235706399"/>
                    </a:ext>
                  </a:extLst>
                </a:gridCol>
                <a:gridCol w="832731">
                  <a:extLst>
                    <a:ext uri="{9D8B030D-6E8A-4147-A177-3AD203B41FA5}">
                      <a16:colId xmlns:a16="http://schemas.microsoft.com/office/drawing/2014/main" val="645910953"/>
                    </a:ext>
                  </a:extLst>
                </a:gridCol>
                <a:gridCol w="832731">
                  <a:extLst>
                    <a:ext uri="{9D8B030D-6E8A-4147-A177-3AD203B41FA5}">
                      <a16:colId xmlns:a16="http://schemas.microsoft.com/office/drawing/2014/main" val="2431734418"/>
                    </a:ext>
                  </a:extLst>
                </a:gridCol>
                <a:gridCol w="832731">
                  <a:extLst>
                    <a:ext uri="{9D8B030D-6E8A-4147-A177-3AD203B41FA5}">
                      <a16:colId xmlns:a16="http://schemas.microsoft.com/office/drawing/2014/main" val="972463235"/>
                    </a:ext>
                  </a:extLst>
                </a:gridCol>
              </a:tblGrid>
              <a:tr h="414742">
                <a:tc>
                  <a:txBody>
                    <a:bodyPr/>
                    <a:lstStyle/>
                    <a:p>
                      <a:r>
                        <a:rPr lang="en-US" dirty="0"/>
                        <a:t>r.col1</a:t>
                      </a:r>
                      <a:endParaRPr lang="en-CA" dirty="0"/>
                    </a:p>
                  </a:txBody>
                  <a:tcPr/>
                </a:tc>
                <a:tc>
                  <a:txBody>
                    <a:bodyPr/>
                    <a:lstStyle/>
                    <a:p>
                      <a:r>
                        <a:rPr lang="en-US" dirty="0"/>
                        <a:t>r.col2</a:t>
                      </a:r>
                      <a:endParaRPr lang="en-CA" dirty="0"/>
                    </a:p>
                  </a:txBody>
                  <a:tcPr/>
                </a:tc>
                <a:tc>
                  <a:txBody>
                    <a:bodyPr/>
                    <a:lstStyle/>
                    <a:p>
                      <a:r>
                        <a:rPr lang="en-US" dirty="0"/>
                        <a:t>s.col1</a:t>
                      </a:r>
                      <a:endParaRPr lang="en-CA" dirty="0"/>
                    </a:p>
                  </a:txBody>
                  <a:tcPr/>
                </a:tc>
                <a:tc>
                  <a:txBody>
                    <a:bodyPr/>
                    <a:lstStyle/>
                    <a:p>
                      <a:r>
                        <a:rPr lang="en-US" dirty="0"/>
                        <a:t>s.col2</a:t>
                      </a:r>
                      <a:endParaRPr lang="en-CA" dirty="0"/>
                    </a:p>
                  </a:txBody>
                  <a:tcPr/>
                </a:tc>
                <a:extLst>
                  <a:ext uri="{0D108BD9-81ED-4DB2-BD59-A6C34878D82A}">
                    <a16:rowId xmlns:a16="http://schemas.microsoft.com/office/drawing/2014/main" val="2157743169"/>
                  </a:ext>
                </a:extLst>
              </a:tr>
              <a:tr h="354932">
                <a:tc>
                  <a:txBody>
                    <a:bodyPr/>
                    <a:lstStyle/>
                    <a:p>
                      <a:r>
                        <a:rPr lang="en-US" dirty="0"/>
                        <a:t>A</a:t>
                      </a:r>
                      <a:endParaRPr lang="en-CA" dirty="0"/>
                    </a:p>
                  </a:txBody>
                  <a:tcPr/>
                </a:tc>
                <a:tc>
                  <a:txBody>
                    <a:bodyPr/>
                    <a:lstStyle/>
                    <a:p>
                      <a:r>
                        <a:rPr lang="en-US" dirty="0"/>
                        <a:t>10</a:t>
                      </a:r>
                      <a:endParaRPr lang="en-CA" dirty="0"/>
                    </a:p>
                  </a:txBody>
                  <a:tcPr/>
                </a:tc>
                <a:tc>
                  <a:txBody>
                    <a:bodyPr/>
                    <a:lstStyle/>
                    <a:p>
                      <a:r>
                        <a:rPr lang="en-US" dirty="0"/>
                        <a:t>D</a:t>
                      </a:r>
                      <a:endParaRPr lang="en-CA" dirty="0"/>
                    </a:p>
                  </a:txBody>
                  <a:tcPr/>
                </a:tc>
                <a:tc>
                  <a:txBody>
                    <a:bodyPr/>
                    <a:lstStyle/>
                    <a:p>
                      <a:r>
                        <a:rPr lang="en-US" dirty="0"/>
                        <a:t>40</a:t>
                      </a:r>
                      <a:endParaRPr lang="en-CA" dirty="0"/>
                    </a:p>
                  </a:txBody>
                  <a:tcPr/>
                </a:tc>
                <a:extLst>
                  <a:ext uri="{0D108BD9-81ED-4DB2-BD59-A6C34878D82A}">
                    <a16:rowId xmlns:a16="http://schemas.microsoft.com/office/drawing/2014/main" val="1108540630"/>
                  </a:ext>
                </a:extLst>
              </a:tr>
              <a:tr h="354932">
                <a:tc>
                  <a:txBody>
                    <a:bodyPr/>
                    <a:lstStyle/>
                    <a:p>
                      <a:r>
                        <a:rPr lang="en-US" dirty="0"/>
                        <a:t>A</a:t>
                      </a:r>
                      <a:endParaRPr lang="en-CA" dirty="0"/>
                    </a:p>
                  </a:txBody>
                  <a:tcPr/>
                </a:tc>
                <a:tc>
                  <a:txBody>
                    <a:bodyPr/>
                    <a:lstStyle/>
                    <a:p>
                      <a:r>
                        <a:rPr lang="en-US" dirty="0"/>
                        <a:t>10</a:t>
                      </a:r>
                      <a:endParaRPr lang="en-CA" dirty="0"/>
                    </a:p>
                  </a:txBody>
                  <a:tcPr/>
                </a:tc>
                <a:tc>
                  <a:txBody>
                    <a:bodyPr/>
                    <a:lstStyle/>
                    <a:p>
                      <a:r>
                        <a:rPr lang="en-US" dirty="0"/>
                        <a:t>E</a:t>
                      </a:r>
                      <a:endParaRPr lang="en-CA" dirty="0"/>
                    </a:p>
                  </a:txBody>
                  <a:tcPr/>
                </a:tc>
                <a:tc>
                  <a:txBody>
                    <a:bodyPr/>
                    <a:lstStyle/>
                    <a:p>
                      <a:r>
                        <a:rPr lang="en-US" dirty="0"/>
                        <a:t>50</a:t>
                      </a:r>
                      <a:endParaRPr lang="en-CA" dirty="0"/>
                    </a:p>
                  </a:txBody>
                  <a:tcPr/>
                </a:tc>
                <a:extLst>
                  <a:ext uri="{0D108BD9-81ED-4DB2-BD59-A6C34878D82A}">
                    <a16:rowId xmlns:a16="http://schemas.microsoft.com/office/drawing/2014/main" val="2097351444"/>
                  </a:ext>
                </a:extLst>
              </a:tr>
              <a:tr h="354932">
                <a:tc>
                  <a:txBody>
                    <a:bodyPr/>
                    <a:lstStyle/>
                    <a:p>
                      <a:r>
                        <a:rPr lang="en-US" dirty="0"/>
                        <a:t>B</a:t>
                      </a:r>
                      <a:endParaRPr lang="en-CA" dirty="0"/>
                    </a:p>
                  </a:txBody>
                  <a:tcPr/>
                </a:tc>
                <a:tc>
                  <a:txBody>
                    <a:bodyPr/>
                    <a:lstStyle/>
                    <a:p>
                      <a:r>
                        <a:rPr lang="en-US" dirty="0"/>
                        <a:t>20</a:t>
                      </a:r>
                      <a:endParaRPr lang="en-CA" dirty="0"/>
                    </a:p>
                  </a:txBody>
                  <a:tcPr/>
                </a:tc>
                <a:tc>
                  <a:txBody>
                    <a:bodyPr/>
                    <a:lstStyle/>
                    <a:p>
                      <a:r>
                        <a:rPr lang="en-US" dirty="0"/>
                        <a:t>D</a:t>
                      </a:r>
                      <a:endParaRPr lang="en-CA" dirty="0"/>
                    </a:p>
                  </a:txBody>
                  <a:tcPr/>
                </a:tc>
                <a:tc>
                  <a:txBody>
                    <a:bodyPr/>
                    <a:lstStyle/>
                    <a:p>
                      <a:r>
                        <a:rPr lang="en-US" dirty="0"/>
                        <a:t>40</a:t>
                      </a:r>
                      <a:endParaRPr lang="en-CA" dirty="0"/>
                    </a:p>
                  </a:txBody>
                  <a:tcPr/>
                </a:tc>
                <a:extLst>
                  <a:ext uri="{0D108BD9-81ED-4DB2-BD59-A6C34878D82A}">
                    <a16:rowId xmlns:a16="http://schemas.microsoft.com/office/drawing/2014/main" val="2855371239"/>
                  </a:ext>
                </a:extLst>
              </a:tr>
              <a:tr h="354932">
                <a:tc>
                  <a:txBody>
                    <a:bodyPr/>
                    <a:lstStyle/>
                    <a:p>
                      <a:r>
                        <a:rPr lang="en-US" dirty="0"/>
                        <a:t>B</a:t>
                      </a:r>
                      <a:endParaRPr lang="en-CA" dirty="0"/>
                    </a:p>
                  </a:txBody>
                  <a:tcPr/>
                </a:tc>
                <a:tc>
                  <a:txBody>
                    <a:bodyPr/>
                    <a:lstStyle/>
                    <a:p>
                      <a:r>
                        <a:rPr lang="en-US" dirty="0"/>
                        <a:t>20</a:t>
                      </a:r>
                      <a:endParaRPr lang="en-CA" dirty="0"/>
                    </a:p>
                  </a:txBody>
                  <a:tcPr/>
                </a:tc>
                <a:tc>
                  <a:txBody>
                    <a:bodyPr/>
                    <a:lstStyle/>
                    <a:p>
                      <a:r>
                        <a:rPr lang="en-US" dirty="0"/>
                        <a:t>E</a:t>
                      </a:r>
                      <a:endParaRPr lang="en-CA" dirty="0"/>
                    </a:p>
                  </a:txBody>
                  <a:tcPr/>
                </a:tc>
                <a:tc>
                  <a:txBody>
                    <a:bodyPr/>
                    <a:lstStyle/>
                    <a:p>
                      <a:r>
                        <a:rPr lang="en-US" dirty="0"/>
                        <a:t>50</a:t>
                      </a:r>
                      <a:endParaRPr lang="en-CA" dirty="0"/>
                    </a:p>
                  </a:txBody>
                  <a:tcPr/>
                </a:tc>
                <a:extLst>
                  <a:ext uri="{0D108BD9-81ED-4DB2-BD59-A6C34878D82A}">
                    <a16:rowId xmlns:a16="http://schemas.microsoft.com/office/drawing/2014/main" val="705126116"/>
                  </a:ext>
                </a:extLst>
              </a:tr>
              <a:tr h="354932">
                <a:tc>
                  <a:txBody>
                    <a:bodyPr/>
                    <a:lstStyle/>
                    <a:p>
                      <a:r>
                        <a:rPr lang="en-US" dirty="0"/>
                        <a:t>C</a:t>
                      </a:r>
                      <a:endParaRPr lang="en-CA" dirty="0"/>
                    </a:p>
                  </a:txBody>
                  <a:tcPr/>
                </a:tc>
                <a:tc>
                  <a:txBody>
                    <a:bodyPr/>
                    <a:lstStyle/>
                    <a:p>
                      <a:r>
                        <a:rPr lang="en-US" dirty="0"/>
                        <a:t>30</a:t>
                      </a:r>
                      <a:endParaRPr lang="en-CA" dirty="0"/>
                    </a:p>
                  </a:txBody>
                  <a:tcPr/>
                </a:tc>
                <a:tc>
                  <a:txBody>
                    <a:bodyPr/>
                    <a:lstStyle/>
                    <a:p>
                      <a:r>
                        <a:rPr lang="en-US" dirty="0"/>
                        <a:t>D</a:t>
                      </a:r>
                      <a:endParaRPr lang="en-CA" dirty="0"/>
                    </a:p>
                  </a:txBody>
                  <a:tcPr/>
                </a:tc>
                <a:tc>
                  <a:txBody>
                    <a:bodyPr/>
                    <a:lstStyle/>
                    <a:p>
                      <a:r>
                        <a:rPr lang="en-US" dirty="0"/>
                        <a:t>40</a:t>
                      </a:r>
                      <a:endParaRPr lang="en-CA" dirty="0"/>
                    </a:p>
                  </a:txBody>
                  <a:tcPr/>
                </a:tc>
                <a:extLst>
                  <a:ext uri="{0D108BD9-81ED-4DB2-BD59-A6C34878D82A}">
                    <a16:rowId xmlns:a16="http://schemas.microsoft.com/office/drawing/2014/main" val="2260644974"/>
                  </a:ext>
                </a:extLst>
              </a:tr>
              <a:tr h="354932">
                <a:tc>
                  <a:txBody>
                    <a:bodyPr/>
                    <a:lstStyle/>
                    <a:p>
                      <a:r>
                        <a:rPr lang="en-US" dirty="0"/>
                        <a:t>C</a:t>
                      </a:r>
                      <a:endParaRPr lang="en-CA" dirty="0"/>
                    </a:p>
                  </a:txBody>
                  <a:tcPr/>
                </a:tc>
                <a:tc>
                  <a:txBody>
                    <a:bodyPr/>
                    <a:lstStyle/>
                    <a:p>
                      <a:r>
                        <a:rPr lang="en-US" dirty="0"/>
                        <a:t>30</a:t>
                      </a:r>
                      <a:endParaRPr lang="en-CA" dirty="0"/>
                    </a:p>
                  </a:txBody>
                  <a:tcPr/>
                </a:tc>
                <a:tc>
                  <a:txBody>
                    <a:bodyPr/>
                    <a:lstStyle/>
                    <a:p>
                      <a:r>
                        <a:rPr lang="en-US" dirty="0"/>
                        <a:t>E</a:t>
                      </a:r>
                      <a:endParaRPr lang="en-CA" dirty="0"/>
                    </a:p>
                  </a:txBody>
                  <a:tcPr/>
                </a:tc>
                <a:tc>
                  <a:txBody>
                    <a:bodyPr/>
                    <a:lstStyle/>
                    <a:p>
                      <a:r>
                        <a:rPr lang="en-US" dirty="0"/>
                        <a:t>50</a:t>
                      </a:r>
                      <a:endParaRPr lang="en-CA" dirty="0"/>
                    </a:p>
                  </a:txBody>
                  <a:tcPr/>
                </a:tc>
                <a:extLst>
                  <a:ext uri="{0D108BD9-81ED-4DB2-BD59-A6C34878D82A}">
                    <a16:rowId xmlns:a16="http://schemas.microsoft.com/office/drawing/2014/main" val="231999140"/>
                  </a:ext>
                </a:extLst>
              </a:tr>
            </a:tbl>
          </a:graphicData>
        </a:graphic>
      </p:graphicFrame>
      <p:cxnSp>
        <p:nvCxnSpPr>
          <p:cNvPr id="7" name="Straight Arrow Connector 6"/>
          <p:cNvCxnSpPr>
            <a:endCxn id="5" idx="1"/>
          </p:cNvCxnSpPr>
          <p:nvPr/>
        </p:nvCxnSpPr>
        <p:spPr>
          <a:xfrm>
            <a:off x="2858814" y="4719145"/>
            <a:ext cx="1267125" cy="22176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2858812" y="4719145"/>
            <a:ext cx="1267127" cy="59908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endCxn id="5" idx="1"/>
          </p:cNvCxnSpPr>
          <p:nvPr/>
        </p:nvCxnSpPr>
        <p:spPr>
          <a:xfrm flipV="1">
            <a:off x="2858812" y="4940911"/>
            <a:ext cx="1267127" cy="174156"/>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858812" y="5116170"/>
            <a:ext cx="1267127" cy="211523"/>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5" idx="1"/>
          </p:cNvCxnSpPr>
          <p:nvPr/>
        </p:nvCxnSpPr>
        <p:spPr>
          <a:xfrm flipV="1">
            <a:off x="2858812" y="4940911"/>
            <a:ext cx="1267127" cy="56046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2876890" y="5318234"/>
            <a:ext cx="1249049" cy="18204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1818603" y="3819802"/>
                <a:ext cx="24173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a:latin typeface="Cambria Math" panose="02040503050406030204" pitchFamily="18" charset="0"/>
                        </a:rPr>
                        <m:t>𝑹</m:t>
                      </m:r>
                    </m:oMath>
                  </m:oMathPara>
                </a14:m>
                <a:endParaRPr lang="en-CA" dirty="0"/>
              </a:p>
            </p:txBody>
          </p:sp>
        </mc:Choice>
        <mc:Fallback xmlns="">
          <p:sp>
            <p:nvSpPr>
              <p:cNvPr id="13" name="TextBox 12"/>
              <p:cNvSpPr txBox="1">
                <a:spLocks noRot="1" noChangeAspect="1" noMove="1" noResize="1" noEditPoints="1" noAdjustHandles="1" noChangeArrowheads="1" noChangeShapeType="1" noTextEdit="1"/>
              </p:cNvSpPr>
              <p:nvPr/>
            </p:nvSpPr>
            <p:spPr>
              <a:xfrm>
                <a:off x="1818603" y="3819802"/>
                <a:ext cx="241738" cy="369332"/>
              </a:xfrm>
              <a:prstGeom prst="rect">
                <a:avLst/>
              </a:prstGeom>
              <a:blipFill>
                <a:blip r:embed="rId2"/>
                <a:stretch>
                  <a:fillRect r="-375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701066" y="3959798"/>
                <a:ext cx="24173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smtClean="0">
                          <a:latin typeface="Cambria Math" panose="02040503050406030204" pitchFamily="18" charset="0"/>
                        </a:rPr>
                        <m:t>𝑺</m:t>
                      </m:r>
                    </m:oMath>
                  </m:oMathPara>
                </a14:m>
                <a:endParaRPr lang="en-CA" dirty="0"/>
              </a:p>
            </p:txBody>
          </p:sp>
        </mc:Choice>
        <mc:Fallback xmlns="">
          <p:sp>
            <p:nvSpPr>
              <p:cNvPr id="14" name="TextBox 13"/>
              <p:cNvSpPr txBox="1">
                <a:spLocks noRot="1" noChangeAspect="1" noMove="1" noResize="1" noEditPoints="1" noAdjustHandles="1" noChangeArrowheads="1" noChangeShapeType="1" noTextEdit="1"/>
              </p:cNvSpPr>
              <p:nvPr/>
            </p:nvSpPr>
            <p:spPr>
              <a:xfrm>
                <a:off x="4701066" y="3959798"/>
                <a:ext cx="241738" cy="369332"/>
              </a:xfrm>
              <a:prstGeom prst="rect">
                <a:avLst/>
              </a:prstGeom>
              <a:blipFill>
                <a:blip r:embed="rId3"/>
                <a:stretch>
                  <a:fillRect r="-275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7583528" y="3619863"/>
                <a:ext cx="7984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𝑹</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𝑺</m:t>
                      </m:r>
                    </m:oMath>
                  </m:oMathPara>
                </a14:m>
                <a:endParaRPr lang="en-CA" b="1" dirty="0"/>
              </a:p>
            </p:txBody>
          </p:sp>
        </mc:Choice>
        <mc:Fallback xmlns="">
          <p:sp>
            <p:nvSpPr>
              <p:cNvPr id="15" name="TextBox 14"/>
              <p:cNvSpPr txBox="1">
                <a:spLocks noRot="1" noChangeAspect="1" noMove="1" noResize="1" noEditPoints="1" noAdjustHandles="1" noChangeArrowheads="1" noChangeShapeType="1" noTextEdit="1"/>
              </p:cNvSpPr>
              <p:nvPr/>
            </p:nvSpPr>
            <p:spPr>
              <a:xfrm>
                <a:off x="7583528" y="3619863"/>
                <a:ext cx="798469" cy="369332"/>
              </a:xfrm>
              <a:prstGeom prst="rect">
                <a:avLst/>
              </a:prstGeom>
              <a:blipFill>
                <a:blip r:embed="rId4"/>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1247757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Inner Join</a:t>
            </a:r>
            <a:endParaRPr lang="en-CA" dirty="0"/>
          </a:p>
        </p:txBody>
      </p:sp>
      <p:sp>
        <p:nvSpPr>
          <p:cNvPr id="3" name="Content Placeholder 2"/>
          <p:cNvSpPr>
            <a:spLocks noGrp="1"/>
          </p:cNvSpPr>
          <p:nvPr>
            <p:ph idx="1"/>
          </p:nvPr>
        </p:nvSpPr>
        <p:spPr>
          <a:xfrm>
            <a:off x="1016000" y="1691322"/>
            <a:ext cx="8841232" cy="4488815"/>
          </a:xfrm>
        </p:spPr>
        <p:txBody>
          <a:bodyPr/>
          <a:lstStyle/>
          <a:p>
            <a:r>
              <a:rPr lang="en-US" dirty="0"/>
              <a:t>The inner join returns rows from tables that satisfies the join condition. It returns only matching rows from joined tables.</a:t>
            </a:r>
          </a:p>
          <a:p>
            <a:pPr marL="0" indent="0">
              <a:buNone/>
            </a:pPr>
            <a:r>
              <a:rPr lang="en-US" dirty="0"/>
              <a:t>	</a:t>
            </a:r>
            <a:r>
              <a:rPr lang="en-US" b="1" dirty="0">
                <a:latin typeface="Courier New" panose="02070309020205020404" pitchFamily="49" charset="0"/>
                <a:cs typeface="Courier New" panose="02070309020205020404" pitchFamily="49" charset="0"/>
              </a:rPr>
              <a:t>SELECT</a:t>
            </a:r>
            <a:r>
              <a:rPr lang="en-US" dirty="0">
                <a:latin typeface="Courier New" panose="02070309020205020404" pitchFamily="49" charset="0"/>
                <a:cs typeface="Courier New" panose="02070309020205020404" pitchFamily="49" charset="0"/>
              </a:rPr>
              <a:t>  R.*,S.*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FROM</a:t>
            </a:r>
            <a:r>
              <a:rPr lang="en-US" dirty="0">
                <a:latin typeface="Courier New" panose="02070309020205020404" pitchFamily="49" charset="0"/>
                <a:cs typeface="Courier New" panose="02070309020205020404" pitchFamily="49" charset="0"/>
              </a:rPr>
              <a:t>  R </a:t>
            </a:r>
            <a:r>
              <a:rPr lang="en-US" b="1" dirty="0">
                <a:latin typeface="Courier New" panose="02070309020205020404" pitchFamily="49" charset="0"/>
                <a:cs typeface="Courier New" panose="02070309020205020404" pitchFamily="49" charset="0"/>
              </a:rPr>
              <a:t>INNER JOIN</a:t>
            </a:r>
            <a:r>
              <a:rPr lang="en-US" dirty="0">
                <a:latin typeface="Courier New" panose="02070309020205020404" pitchFamily="49" charset="0"/>
                <a:cs typeface="Courier New" panose="02070309020205020404" pitchFamily="49" charset="0"/>
              </a:rPr>
              <a:t> 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ON</a:t>
            </a:r>
            <a:r>
              <a:rPr lang="en-US" dirty="0">
                <a:latin typeface="Courier New" panose="02070309020205020404" pitchFamily="49" charset="0"/>
                <a:cs typeface="Courier New" panose="02070309020205020404" pitchFamily="49" charset="0"/>
              </a:rPr>
              <a:t> R.col2 = S.col2;</a:t>
            </a:r>
          </a:p>
          <a:p>
            <a:pPr marL="0" indent="0">
              <a:buNone/>
            </a:pPr>
            <a:r>
              <a:rPr lang="en-US" dirty="0">
                <a:solidFill>
                  <a:srgbClr val="0070C0"/>
                </a:solidFill>
                <a:latin typeface="Courier New" panose="02070309020205020404" pitchFamily="49" charset="0"/>
                <a:cs typeface="Courier New" panose="02070309020205020404" pitchFamily="49" charset="0"/>
              </a:rPr>
              <a:t>     ANSI-92 JOINS</a:t>
            </a:r>
          </a:p>
          <a:p>
            <a:pPr marL="0" indent="0">
              <a:buNone/>
            </a:pPr>
            <a:endParaRPr lang="en-US" dirty="0">
              <a:solidFill>
                <a:srgbClr val="0070C0"/>
              </a:solidFill>
              <a:latin typeface="Courier New" panose="02070309020205020404" pitchFamily="49" charset="0"/>
              <a:cs typeface="Courier New" panose="02070309020205020404" pitchFamily="49" charset="0"/>
            </a:endParaRPr>
          </a:p>
          <a:p>
            <a:pPr marL="0" indent="0">
              <a:buNone/>
            </a:pPr>
            <a:endParaRPr lang="en-US" dirty="0">
              <a:solidFill>
                <a:srgbClr val="0070C0"/>
              </a:solidFill>
              <a:latin typeface="Courier New" panose="02070309020205020404" pitchFamily="49" charset="0"/>
              <a:cs typeface="Courier New" panose="02070309020205020404" pitchFamily="49" charset="0"/>
            </a:endParaRPr>
          </a:p>
          <a:p>
            <a:pPr marL="0" indent="0">
              <a:buNone/>
            </a:pPr>
            <a:endParaRPr lang="en-US" dirty="0">
              <a:solidFill>
                <a:srgbClr val="0070C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43063678"/>
              </p:ext>
            </p:extLst>
          </p:nvPr>
        </p:nvGraphicFramePr>
        <p:xfrm>
          <a:off x="1261869" y="4193626"/>
          <a:ext cx="1596945" cy="1494572"/>
        </p:xfrm>
        <a:graphic>
          <a:graphicData uri="http://schemas.openxmlformats.org/drawingml/2006/table">
            <a:tbl>
              <a:tblPr firstRow="1" bandRow="1"/>
              <a:tblGrid>
                <a:gridCol w="779814">
                  <a:extLst>
                    <a:ext uri="{9D8B030D-6E8A-4147-A177-3AD203B41FA5}">
                      <a16:colId xmlns:a16="http://schemas.microsoft.com/office/drawing/2014/main" val="3235706399"/>
                    </a:ext>
                  </a:extLst>
                </a:gridCol>
                <a:gridCol w="817131">
                  <a:extLst>
                    <a:ext uri="{9D8B030D-6E8A-4147-A177-3AD203B41FA5}">
                      <a16:colId xmlns:a16="http://schemas.microsoft.com/office/drawing/2014/main" val="645910953"/>
                    </a:ext>
                  </a:extLst>
                </a:gridCol>
              </a:tblGrid>
              <a:tr h="373643">
                <a:tc>
                  <a:txBody>
                    <a:bodyPr/>
                    <a:lstStyle/>
                    <a:p>
                      <a:r>
                        <a:rPr lang="en-US" dirty="0"/>
                        <a:t>r.col1</a:t>
                      </a:r>
                      <a:endParaRPr lang="en-CA" dirty="0"/>
                    </a:p>
                  </a:txBody>
                  <a:tcPr/>
                </a:tc>
                <a:tc>
                  <a:txBody>
                    <a:bodyPr/>
                    <a:lstStyle/>
                    <a:p>
                      <a:r>
                        <a:rPr lang="en-US" dirty="0"/>
                        <a:t>r.col2</a:t>
                      </a:r>
                      <a:endParaRPr lang="en-CA" dirty="0"/>
                    </a:p>
                  </a:txBody>
                  <a:tcPr/>
                </a:tc>
                <a:extLst>
                  <a:ext uri="{0D108BD9-81ED-4DB2-BD59-A6C34878D82A}">
                    <a16:rowId xmlns:a16="http://schemas.microsoft.com/office/drawing/2014/main" val="2157743169"/>
                  </a:ext>
                </a:extLst>
              </a:tr>
              <a:tr h="373643">
                <a:tc>
                  <a:txBody>
                    <a:bodyPr/>
                    <a:lstStyle/>
                    <a:p>
                      <a:r>
                        <a:rPr lang="en-US" dirty="0"/>
                        <a:t>A</a:t>
                      </a:r>
                      <a:endParaRPr lang="en-CA" dirty="0"/>
                    </a:p>
                  </a:txBody>
                  <a:tcPr/>
                </a:tc>
                <a:tc>
                  <a:txBody>
                    <a:bodyPr/>
                    <a:lstStyle/>
                    <a:p>
                      <a:r>
                        <a:rPr lang="en-US" dirty="0"/>
                        <a:t>10</a:t>
                      </a:r>
                      <a:endParaRPr lang="en-CA" dirty="0"/>
                    </a:p>
                  </a:txBody>
                  <a:tcPr/>
                </a:tc>
                <a:extLst>
                  <a:ext uri="{0D108BD9-81ED-4DB2-BD59-A6C34878D82A}">
                    <a16:rowId xmlns:a16="http://schemas.microsoft.com/office/drawing/2014/main" val="1108540630"/>
                  </a:ext>
                </a:extLst>
              </a:tr>
              <a:tr h="373643">
                <a:tc>
                  <a:txBody>
                    <a:bodyPr/>
                    <a:lstStyle/>
                    <a:p>
                      <a:r>
                        <a:rPr lang="en-US" dirty="0"/>
                        <a:t>B</a:t>
                      </a:r>
                      <a:endParaRPr lang="en-CA" dirty="0"/>
                    </a:p>
                  </a:txBody>
                  <a:tcPr/>
                </a:tc>
                <a:tc>
                  <a:txBody>
                    <a:bodyPr/>
                    <a:lstStyle/>
                    <a:p>
                      <a:r>
                        <a:rPr lang="en-US" dirty="0"/>
                        <a:t>20</a:t>
                      </a:r>
                      <a:endParaRPr lang="en-CA" dirty="0"/>
                    </a:p>
                  </a:txBody>
                  <a:tcPr/>
                </a:tc>
                <a:extLst>
                  <a:ext uri="{0D108BD9-81ED-4DB2-BD59-A6C34878D82A}">
                    <a16:rowId xmlns:a16="http://schemas.microsoft.com/office/drawing/2014/main" val="2855371239"/>
                  </a:ext>
                </a:extLst>
              </a:tr>
              <a:tr h="373643">
                <a:tc>
                  <a:txBody>
                    <a:bodyPr/>
                    <a:lstStyle/>
                    <a:p>
                      <a:r>
                        <a:rPr lang="en-US" dirty="0"/>
                        <a:t>C</a:t>
                      </a:r>
                      <a:endParaRPr lang="en-CA" dirty="0"/>
                    </a:p>
                  </a:txBody>
                  <a:tcPr/>
                </a:tc>
                <a:tc>
                  <a:txBody>
                    <a:bodyPr/>
                    <a:lstStyle/>
                    <a:p>
                      <a:r>
                        <a:rPr lang="en-US" dirty="0"/>
                        <a:t>30</a:t>
                      </a:r>
                      <a:endParaRPr lang="en-CA" dirty="0"/>
                    </a:p>
                  </a:txBody>
                  <a:tcPr/>
                </a:tc>
                <a:extLst>
                  <a:ext uri="{0D108BD9-81ED-4DB2-BD59-A6C34878D82A}">
                    <a16:rowId xmlns:a16="http://schemas.microsoft.com/office/drawing/2014/main" val="226064497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539903801"/>
              </p:ext>
            </p:extLst>
          </p:nvPr>
        </p:nvGraphicFramePr>
        <p:xfrm>
          <a:off x="4125939" y="4380447"/>
          <a:ext cx="1633730" cy="1494572"/>
        </p:xfrm>
        <a:graphic>
          <a:graphicData uri="http://schemas.openxmlformats.org/drawingml/2006/table">
            <a:tbl>
              <a:tblPr firstRow="1" bandRow="1"/>
              <a:tblGrid>
                <a:gridCol w="797777">
                  <a:extLst>
                    <a:ext uri="{9D8B030D-6E8A-4147-A177-3AD203B41FA5}">
                      <a16:colId xmlns:a16="http://schemas.microsoft.com/office/drawing/2014/main" val="3235706399"/>
                    </a:ext>
                  </a:extLst>
                </a:gridCol>
                <a:gridCol w="835953">
                  <a:extLst>
                    <a:ext uri="{9D8B030D-6E8A-4147-A177-3AD203B41FA5}">
                      <a16:colId xmlns:a16="http://schemas.microsoft.com/office/drawing/2014/main" val="645910953"/>
                    </a:ext>
                  </a:extLst>
                </a:gridCol>
              </a:tblGrid>
              <a:tr h="373643">
                <a:tc>
                  <a:txBody>
                    <a:bodyPr/>
                    <a:lstStyle/>
                    <a:p>
                      <a:r>
                        <a:rPr lang="en-US" dirty="0"/>
                        <a:t>s.col1</a:t>
                      </a:r>
                      <a:endParaRPr lang="en-CA" dirty="0"/>
                    </a:p>
                  </a:txBody>
                  <a:tcPr/>
                </a:tc>
                <a:tc>
                  <a:txBody>
                    <a:bodyPr/>
                    <a:lstStyle/>
                    <a:p>
                      <a:r>
                        <a:rPr lang="en-US" dirty="0"/>
                        <a:t>s.col2</a:t>
                      </a:r>
                      <a:endParaRPr lang="en-CA" dirty="0"/>
                    </a:p>
                  </a:txBody>
                  <a:tcPr/>
                </a:tc>
                <a:extLst>
                  <a:ext uri="{0D108BD9-81ED-4DB2-BD59-A6C34878D82A}">
                    <a16:rowId xmlns:a16="http://schemas.microsoft.com/office/drawing/2014/main" val="2157743169"/>
                  </a:ext>
                </a:extLst>
              </a:tr>
              <a:tr h="373643">
                <a:tc>
                  <a:txBody>
                    <a:bodyPr/>
                    <a:lstStyle/>
                    <a:p>
                      <a:r>
                        <a:rPr lang="en-US" dirty="0"/>
                        <a:t>D</a:t>
                      </a:r>
                      <a:endParaRPr lang="en-CA" dirty="0"/>
                    </a:p>
                  </a:txBody>
                  <a:tcPr/>
                </a:tc>
                <a:tc>
                  <a:txBody>
                    <a:bodyPr/>
                    <a:lstStyle/>
                    <a:p>
                      <a:r>
                        <a:rPr lang="en-US" dirty="0"/>
                        <a:t>30</a:t>
                      </a:r>
                      <a:endParaRPr lang="en-CA" dirty="0"/>
                    </a:p>
                  </a:txBody>
                  <a:tcPr/>
                </a:tc>
                <a:extLst>
                  <a:ext uri="{0D108BD9-81ED-4DB2-BD59-A6C34878D82A}">
                    <a16:rowId xmlns:a16="http://schemas.microsoft.com/office/drawing/2014/main" val="1108540630"/>
                  </a:ext>
                </a:extLst>
              </a:tr>
              <a:tr h="373643">
                <a:tc>
                  <a:txBody>
                    <a:bodyPr/>
                    <a:lstStyle/>
                    <a:p>
                      <a:r>
                        <a:rPr lang="en-US" dirty="0"/>
                        <a:t>E</a:t>
                      </a:r>
                      <a:endParaRPr lang="en-CA" dirty="0"/>
                    </a:p>
                  </a:txBody>
                  <a:tcPr/>
                </a:tc>
                <a:tc>
                  <a:txBody>
                    <a:bodyPr/>
                    <a:lstStyle/>
                    <a:p>
                      <a:r>
                        <a:rPr lang="en-US" dirty="0"/>
                        <a:t>50</a:t>
                      </a:r>
                      <a:endParaRPr lang="en-CA" dirty="0"/>
                    </a:p>
                  </a:txBody>
                  <a:tcPr/>
                </a:tc>
                <a:extLst>
                  <a:ext uri="{0D108BD9-81ED-4DB2-BD59-A6C34878D82A}">
                    <a16:rowId xmlns:a16="http://schemas.microsoft.com/office/drawing/2014/main" val="2855371239"/>
                  </a:ext>
                </a:extLst>
              </a:tr>
              <a:tr h="373643">
                <a:tc>
                  <a:txBody>
                    <a:bodyPr/>
                    <a:lstStyle/>
                    <a:p>
                      <a:r>
                        <a:rPr lang="en-US" dirty="0"/>
                        <a:t>F</a:t>
                      </a:r>
                      <a:endParaRPr lang="en-CA" dirty="0"/>
                    </a:p>
                  </a:txBody>
                  <a:tcPr/>
                </a:tc>
                <a:tc>
                  <a:txBody>
                    <a:bodyPr/>
                    <a:lstStyle/>
                    <a:p>
                      <a:r>
                        <a:rPr lang="en-US" dirty="0"/>
                        <a:t>10</a:t>
                      </a:r>
                      <a:endParaRPr lang="en-CA" dirty="0"/>
                    </a:p>
                  </a:txBody>
                  <a:tcPr/>
                </a:tc>
                <a:extLst>
                  <a:ext uri="{0D108BD9-81ED-4DB2-BD59-A6C34878D82A}">
                    <a16:rowId xmlns:a16="http://schemas.microsoft.com/office/drawing/2014/main" val="89728503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90227939"/>
              </p:ext>
            </p:extLst>
          </p:nvPr>
        </p:nvGraphicFramePr>
        <p:xfrm>
          <a:off x="6785056" y="4499921"/>
          <a:ext cx="3292893" cy="1146262"/>
        </p:xfrm>
        <a:graphic>
          <a:graphicData uri="http://schemas.openxmlformats.org/drawingml/2006/table">
            <a:tbl>
              <a:tblPr firstRow="1" bandRow="1"/>
              <a:tblGrid>
                <a:gridCol w="794700">
                  <a:extLst>
                    <a:ext uri="{9D8B030D-6E8A-4147-A177-3AD203B41FA5}">
                      <a16:colId xmlns:a16="http://schemas.microsoft.com/office/drawing/2014/main" val="3235706399"/>
                    </a:ext>
                  </a:extLst>
                </a:gridCol>
                <a:gridCol w="832731">
                  <a:extLst>
                    <a:ext uri="{9D8B030D-6E8A-4147-A177-3AD203B41FA5}">
                      <a16:colId xmlns:a16="http://schemas.microsoft.com/office/drawing/2014/main" val="645910953"/>
                    </a:ext>
                  </a:extLst>
                </a:gridCol>
                <a:gridCol w="832731">
                  <a:extLst>
                    <a:ext uri="{9D8B030D-6E8A-4147-A177-3AD203B41FA5}">
                      <a16:colId xmlns:a16="http://schemas.microsoft.com/office/drawing/2014/main" val="2431734418"/>
                    </a:ext>
                  </a:extLst>
                </a:gridCol>
                <a:gridCol w="832731">
                  <a:extLst>
                    <a:ext uri="{9D8B030D-6E8A-4147-A177-3AD203B41FA5}">
                      <a16:colId xmlns:a16="http://schemas.microsoft.com/office/drawing/2014/main" val="972463235"/>
                    </a:ext>
                  </a:extLst>
                </a:gridCol>
              </a:tblGrid>
              <a:tr h="414742">
                <a:tc>
                  <a:txBody>
                    <a:bodyPr/>
                    <a:lstStyle/>
                    <a:p>
                      <a:r>
                        <a:rPr lang="en-US" dirty="0"/>
                        <a:t>r.col1</a:t>
                      </a:r>
                      <a:endParaRPr lang="en-CA" dirty="0"/>
                    </a:p>
                  </a:txBody>
                  <a:tcPr/>
                </a:tc>
                <a:tc>
                  <a:txBody>
                    <a:bodyPr/>
                    <a:lstStyle/>
                    <a:p>
                      <a:r>
                        <a:rPr lang="en-US" dirty="0"/>
                        <a:t>r.col2</a:t>
                      </a:r>
                      <a:endParaRPr lang="en-CA" dirty="0"/>
                    </a:p>
                  </a:txBody>
                  <a:tcPr/>
                </a:tc>
                <a:tc>
                  <a:txBody>
                    <a:bodyPr/>
                    <a:lstStyle/>
                    <a:p>
                      <a:r>
                        <a:rPr lang="en-US" dirty="0"/>
                        <a:t>s.col1</a:t>
                      </a:r>
                      <a:endParaRPr lang="en-CA" dirty="0"/>
                    </a:p>
                  </a:txBody>
                  <a:tcPr/>
                </a:tc>
                <a:tc>
                  <a:txBody>
                    <a:bodyPr/>
                    <a:lstStyle/>
                    <a:p>
                      <a:r>
                        <a:rPr lang="en-US" dirty="0"/>
                        <a:t>s.col2</a:t>
                      </a:r>
                      <a:endParaRPr lang="en-CA" dirty="0"/>
                    </a:p>
                  </a:txBody>
                  <a:tcPr/>
                </a:tc>
                <a:extLst>
                  <a:ext uri="{0D108BD9-81ED-4DB2-BD59-A6C34878D82A}">
                    <a16:rowId xmlns:a16="http://schemas.microsoft.com/office/drawing/2014/main" val="2157743169"/>
                  </a:ext>
                </a:extLst>
              </a:tr>
              <a:tr h="354932">
                <a:tc>
                  <a:txBody>
                    <a:bodyPr/>
                    <a:lstStyle/>
                    <a:p>
                      <a:r>
                        <a:rPr lang="en-US" dirty="0"/>
                        <a:t>A</a:t>
                      </a:r>
                      <a:endParaRPr lang="en-CA" dirty="0"/>
                    </a:p>
                  </a:txBody>
                  <a:tcPr/>
                </a:tc>
                <a:tc>
                  <a:txBody>
                    <a:bodyPr/>
                    <a:lstStyle/>
                    <a:p>
                      <a:r>
                        <a:rPr lang="en-US" dirty="0"/>
                        <a:t>10</a:t>
                      </a:r>
                      <a:endParaRPr lang="en-CA" dirty="0"/>
                    </a:p>
                  </a:txBody>
                  <a:tcPr/>
                </a:tc>
                <a:tc>
                  <a:txBody>
                    <a:bodyPr/>
                    <a:lstStyle/>
                    <a:p>
                      <a:r>
                        <a:rPr lang="en-US" dirty="0"/>
                        <a:t>F</a:t>
                      </a:r>
                      <a:endParaRPr lang="en-CA" dirty="0"/>
                    </a:p>
                  </a:txBody>
                  <a:tcPr/>
                </a:tc>
                <a:tc>
                  <a:txBody>
                    <a:bodyPr/>
                    <a:lstStyle/>
                    <a:p>
                      <a:r>
                        <a:rPr lang="en-US" dirty="0"/>
                        <a:t>10</a:t>
                      </a:r>
                      <a:endParaRPr lang="en-CA" dirty="0"/>
                    </a:p>
                  </a:txBody>
                  <a:tcPr/>
                </a:tc>
                <a:extLst>
                  <a:ext uri="{0D108BD9-81ED-4DB2-BD59-A6C34878D82A}">
                    <a16:rowId xmlns:a16="http://schemas.microsoft.com/office/drawing/2014/main" val="1108540630"/>
                  </a:ext>
                </a:extLst>
              </a:tr>
              <a:tr h="354932">
                <a:tc>
                  <a:txBody>
                    <a:bodyPr/>
                    <a:lstStyle/>
                    <a:p>
                      <a:r>
                        <a:rPr lang="en-US" dirty="0"/>
                        <a:t>C</a:t>
                      </a:r>
                      <a:endParaRPr lang="en-CA" dirty="0"/>
                    </a:p>
                  </a:txBody>
                  <a:tcPr/>
                </a:tc>
                <a:tc>
                  <a:txBody>
                    <a:bodyPr/>
                    <a:lstStyle/>
                    <a:p>
                      <a:r>
                        <a:rPr lang="en-US" dirty="0"/>
                        <a:t>30</a:t>
                      </a:r>
                      <a:endParaRPr lang="en-CA" dirty="0"/>
                    </a:p>
                  </a:txBody>
                  <a:tcPr/>
                </a:tc>
                <a:tc>
                  <a:txBody>
                    <a:bodyPr/>
                    <a:lstStyle/>
                    <a:p>
                      <a:r>
                        <a:rPr lang="en-US" dirty="0"/>
                        <a:t>D</a:t>
                      </a:r>
                      <a:endParaRPr lang="en-CA" dirty="0"/>
                    </a:p>
                  </a:txBody>
                  <a:tcPr/>
                </a:tc>
                <a:tc>
                  <a:txBody>
                    <a:bodyPr/>
                    <a:lstStyle/>
                    <a:p>
                      <a:r>
                        <a:rPr lang="en-US" dirty="0"/>
                        <a:t>30</a:t>
                      </a:r>
                      <a:endParaRPr lang="en-CA" dirty="0"/>
                    </a:p>
                  </a:txBody>
                  <a:tcPr/>
                </a:tc>
                <a:extLst>
                  <a:ext uri="{0D108BD9-81ED-4DB2-BD59-A6C34878D82A}">
                    <a16:rowId xmlns:a16="http://schemas.microsoft.com/office/drawing/2014/main" val="2097351444"/>
                  </a:ext>
                </a:extLst>
              </a:tr>
            </a:tbl>
          </a:graphicData>
        </a:graphic>
      </p:graphicFrame>
      <p:cxnSp>
        <p:nvCxnSpPr>
          <p:cNvPr id="8" name="Straight Arrow Connector 7"/>
          <p:cNvCxnSpPr/>
          <p:nvPr/>
        </p:nvCxnSpPr>
        <p:spPr>
          <a:xfrm>
            <a:off x="2858812" y="4719145"/>
            <a:ext cx="1267127" cy="96905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2858812" y="4960883"/>
            <a:ext cx="1267127" cy="54049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1818603" y="3819802"/>
                <a:ext cx="24173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a:latin typeface="Cambria Math" panose="02040503050406030204" pitchFamily="18" charset="0"/>
                        </a:rPr>
                        <m:t>𝑹</m:t>
                      </m:r>
                    </m:oMath>
                  </m:oMathPara>
                </a14:m>
                <a:endParaRPr lang="en-CA" dirty="0"/>
              </a:p>
            </p:txBody>
          </p:sp>
        </mc:Choice>
        <mc:Fallback xmlns="">
          <p:sp>
            <p:nvSpPr>
              <p:cNvPr id="13" name="TextBox 12"/>
              <p:cNvSpPr txBox="1">
                <a:spLocks noRot="1" noChangeAspect="1" noMove="1" noResize="1" noEditPoints="1" noAdjustHandles="1" noChangeArrowheads="1" noChangeShapeType="1" noTextEdit="1"/>
              </p:cNvSpPr>
              <p:nvPr/>
            </p:nvSpPr>
            <p:spPr>
              <a:xfrm>
                <a:off x="1818603" y="3819802"/>
                <a:ext cx="241738" cy="369332"/>
              </a:xfrm>
              <a:prstGeom prst="rect">
                <a:avLst/>
              </a:prstGeom>
              <a:blipFill>
                <a:blip r:embed="rId2"/>
                <a:stretch>
                  <a:fillRect r="-375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701066" y="3959798"/>
                <a:ext cx="24173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smtClean="0">
                          <a:latin typeface="Cambria Math" panose="02040503050406030204" pitchFamily="18" charset="0"/>
                        </a:rPr>
                        <m:t>𝑺</m:t>
                      </m:r>
                    </m:oMath>
                  </m:oMathPara>
                </a14:m>
                <a:endParaRPr lang="en-CA" dirty="0"/>
              </a:p>
            </p:txBody>
          </p:sp>
        </mc:Choice>
        <mc:Fallback xmlns="">
          <p:sp>
            <p:nvSpPr>
              <p:cNvPr id="14" name="TextBox 13"/>
              <p:cNvSpPr txBox="1">
                <a:spLocks noRot="1" noChangeAspect="1" noMove="1" noResize="1" noEditPoints="1" noAdjustHandles="1" noChangeArrowheads="1" noChangeShapeType="1" noTextEdit="1"/>
              </p:cNvSpPr>
              <p:nvPr/>
            </p:nvSpPr>
            <p:spPr>
              <a:xfrm>
                <a:off x="4701066" y="3959798"/>
                <a:ext cx="241738" cy="369332"/>
              </a:xfrm>
              <a:prstGeom prst="rect">
                <a:avLst/>
              </a:prstGeom>
              <a:blipFill>
                <a:blip r:embed="rId3"/>
                <a:stretch>
                  <a:fillRect r="-275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7552155" y="4112015"/>
                <a:ext cx="7984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𝑹</m:t>
                      </m:r>
                      <m:r>
                        <a:rPr lang="en-US" b="1" i="1" smtClean="0">
                          <a:latin typeface="Cambria Math" panose="02040503050406030204" pitchFamily="18" charset="0"/>
                        </a:rPr>
                        <m:t> </m:t>
                      </m:r>
                      <m:r>
                        <a:rPr lang="en-US" b="1" i="1" smtClean="0">
                          <a:latin typeface="Cambria Math" panose="02040503050406030204" pitchFamily="18" charset="0"/>
                        </a:rPr>
                        <m:t>𝒊𝒏𝒏𝒆𝒓</m:t>
                      </m:r>
                      <m:r>
                        <a:rPr lang="en-US" b="1" i="1" smtClean="0">
                          <a:latin typeface="Cambria Math" panose="02040503050406030204" pitchFamily="18" charset="0"/>
                        </a:rPr>
                        <m:t> </m:t>
                      </m:r>
                      <m:r>
                        <a:rPr lang="en-US" b="1" i="1" smtClean="0">
                          <a:latin typeface="Cambria Math" panose="02040503050406030204" pitchFamily="18" charset="0"/>
                        </a:rPr>
                        <m:t>𝒋𝒐𝒊𝒏</m:t>
                      </m:r>
                      <m:r>
                        <a:rPr lang="en-US" b="1" i="1" smtClean="0">
                          <a:latin typeface="Cambria Math" panose="02040503050406030204" pitchFamily="18" charset="0"/>
                        </a:rPr>
                        <m:t> </m:t>
                      </m:r>
                      <m:r>
                        <a:rPr lang="en-US" b="1" i="1" smtClean="0">
                          <a:latin typeface="Cambria Math" panose="02040503050406030204" pitchFamily="18" charset="0"/>
                        </a:rPr>
                        <m:t>𝑺</m:t>
                      </m:r>
                    </m:oMath>
                  </m:oMathPara>
                </a14:m>
                <a:endParaRPr lang="en-CA" b="1" dirty="0"/>
              </a:p>
            </p:txBody>
          </p:sp>
        </mc:Choice>
        <mc:Fallback xmlns="">
          <p:sp>
            <p:nvSpPr>
              <p:cNvPr id="15" name="TextBox 14"/>
              <p:cNvSpPr txBox="1">
                <a:spLocks noRot="1" noChangeAspect="1" noMove="1" noResize="1" noEditPoints="1" noAdjustHandles="1" noChangeArrowheads="1" noChangeShapeType="1" noTextEdit="1"/>
              </p:cNvSpPr>
              <p:nvPr/>
            </p:nvSpPr>
            <p:spPr>
              <a:xfrm>
                <a:off x="7552155" y="4112015"/>
                <a:ext cx="798469" cy="369332"/>
              </a:xfrm>
              <a:prstGeom prst="rect">
                <a:avLst/>
              </a:prstGeom>
              <a:blipFill>
                <a:blip r:embed="rId4"/>
                <a:stretch>
                  <a:fillRect r="-112214" b="-16667"/>
                </a:stretch>
              </a:blipFill>
            </p:spPr>
            <p:txBody>
              <a:bodyPr/>
              <a:lstStyle/>
              <a:p>
                <a:r>
                  <a:rPr lang="en-CA">
                    <a:noFill/>
                  </a:rPr>
                  <a:t> </a:t>
                </a:r>
              </a:p>
            </p:txBody>
          </p:sp>
        </mc:Fallback>
      </mc:AlternateContent>
    </p:spTree>
    <p:extLst>
      <p:ext uri="{BB962C8B-B14F-4D97-AF65-F5344CB8AC3E}">
        <p14:creationId xmlns:p14="http://schemas.microsoft.com/office/powerpoint/2010/main" val="68480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5170" y="365759"/>
            <a:ext cx="9919342" cy="427871"/>
          </a:xfrm>
        </p:spPr>
        <p:txBody>
          <a:bodyPr>
            <a:normAutofit fontScale="90000"/>
          </a:bodyPr>
          <a:lstStyle/>
          <a:p>
            <a:r>
              <a:rPr lang="en-US" dirty="0"/>
              <a:t>Left Join</a:t>
            </a:r>
            <a:endParaRPr lang="en-CA" dirty="0"/>
          </a:p>
        </p:txBody>
      </p:sp>
      <p:sp>
        <p:nvSpPr>
          <p:cNvPr id="3" name="Content Placeholder 2"/>
          <p:cNvSpPr>
            <a:spLocks noGrp="1"/>
          </p:cNvSpPr>
          <p:nvPr>
            <p:ph idx="1"/>
          </p:nvPr>
        </p:nvSpPr>
        <p:spPr/>
        <p:txBody>
          <a:bodyPr/>
          <a:lstStyle/>
          <a:p>
            <a:r>
              <a:rPr lang="en-US" dirty="0"/>
              <a:t>The LEFT JOIN returns all the rows from the table on the left of the join operator even if there is no matching row for them in the table on the right of the join. </a:t>
            </a:r>
          </a:p>
          <a:p>
            <a:r>
              <a:rPr lang="en-US" dirty="0"/>
              <a:t>For the rows from the left table that have no matching rows in the right table, the values for the right table columns will be returned as null. </a:t>
            </a:r>
          </a:p>
          <a:p>
            <a:endParaRPr lang="en-CA" dirty="0"/>
          </a:p>
        </p:txBody>
      </p:sp>
      <p:graphicFrame>
        <p:nvGraphicFramePr>
          <p:cNvPr id="4" name="Table 3"/>
          <p:cNvGraphicFramePr>
            <a:graphicFrameLocks noGrp="1"/>
          </p:cNvGraphicFramePr>
          <p:nvPr>
            <p:extLst>
              <p:ext uri="{D42A27DB-BD31-4B8C-83A1-F6EECF244321}">
                <p14:modId xmlns:p14="http://schemas.microsoft.com/office/powerpoint/2010/main" val="2470537547"/>
              </p:ext>
            </p:extLst>
          </p:nvPr>
        </p:nvGraphicFramePr>
        <p:xfrm>
          <a:off x="1387999" y="4307189"/>
          <a:ext cx="1596945" cy="1494572"/>
        </p:xfrm>
        <a:graphic>
          <a:graphicData uri="http://schemas.openxmlformats.org/drawingml/2006/table">
            <a:tbl>
              <a:tblPr firstRow="1" bandRow="1"/>
              <a:tblGrid>
                <a:gridCol w="779814">
                  <a:extLst>
                    <a:ext uri="{9D8B030D-6E8A-4147-A177-3AD203B41FA5}">
                      <a16:colId xmlns:a16="http://schemas.microsoft.com/office/drawing/2014/main" val="3235706399"/>
                    </a:ext>
                  </a:extLst>
                </a:gridCol>
                <a:gridCol w="817131">
                  <a:extLst>
                    <a:ext uri="{9D8B030D-6E8A-4147-A177-3AD203B41FA5}">
                      <a16:colId xmlns:a16="http://schemas.microsoft.com/office/drawing/2014/main" val="645910953"/>
                    </a:ext>
                  </a:extLst>
                </a:gridCol>
              </a:tblGrid>
              <a:tr h="373643">
                <a:tc>
                  <a:txBody>
                    <a:bodyPr/>
                    <a:lstStyle/>
                    <a:p>
                      <a:r>
                        <a:rPr lang="en-US" dirty="0"/>
                        <a:t>r.col1</a:t>
                      </a:r>
                      <a:endParaRPr lang="en-CA" dirty="0"/>
                    </a:p>
                  </a:txBody>
                  <a:tcPr/>
                </a:tc>
                <a:tc>
                  <a:txBody>
                    <a:bodyPr/>
                    <a:lstStyle/>
                    <a:p>
                      <a:r>
                        <a:rPr lang="en-US" dirty="0"/>
                        <a:t>r.col2</a:t>
                      </a:r>
                      <a:endParaRPr lang="en-CA" dirty="0"/>
                    </a:p>
                  </a:txBody>
                  <a:tcPr/>
                </a:tc>
                <a:extLst>
                  <a:ext uri="{0D108BD9-81ED-4DB2-BD59-A6C34878D82A}">
                    <a16:rowId xmlns:a16="http://schemas.microsoft.com/office/drawing/2014/main" val="2157743169"/>
                  </a:ext>
                </a:extLst>
              </a:tr>
              <a:tr h="373643">
                <a:tc>
                  <a:txBody>
                    <a:bodyPr/>
                    <a:lstStyle/>
                    <a:p>
                      <a:r>
                        <a:rPr lang="en-US" dirty="0"/>
                        <a:t>A</a:t>
                      </a:r>
                      <a:endParaRPr lang="en-CA" dirty="0"/>
                    </a:p>
                  </a:txBody>
                  <a:tcPr/>
                </a:tc>
                <a:tc>
                  <a:txBody>
                    <a:bodyPr/>
                    <a:lstStyle/>
                    <a:p>
                      <a:r>
                        <a:rPr lang="en-US" dirty="0"/>
                        <a:t>10</a:t>
                      </a:r>
                      <a:endParaRPr lang="en-CA" dirty="0"/>
                    </a:p>
                  </a:txBody>
                  <a:tcPr/>
                </a:tc>
                <a:extLst>
                  <a:ext uri="{0D108BD9-81ED-4DB2-BD59-A6C34878D82A}">
                    <a16:rowId xmlns:a16="http://schemas.microsoft.com/office/drawing/2014/main" val="1108540630"/>
                  </a:ext>
                </a:extLst>
              </a:tr>
              <a:tr h="373643">
                <a:tc>
                  <a:txBody>
                    <a:bodyPr/>
                    <a:lstStyle/>
                    <a:p>
                      <a:r>
                        <a:rPr lang="en-US" dirty="0"/>
                        <a:t>B</a:t>
                      </a:r>
                      <a:endParaRPr lang="en-CA" dirty="0"/>
                    </a:p>
                  </a:txBody>
                  <a:tcPr/>
                </a:tc>
                <a:tc>
                  <a:txBody>
                    <a:bodyPr/>
                    <a:lstStyle/>
                    <a:p>
                      <a:r>
                        <a:rPr lang="en-US" dirty="0"/>
                        <a:t>20</a:t>
                      </a:r>
                      <a:endParaRPr lang="en-CA" dirty="0"/>
                    </a:p>
                  </a:txBody>
                  <a:tcPr/>
                </a:tc>
                <a:extLst>
                  <a:ext uri="{0D108BD9-81ED-4DB2-BD59-A6C34878D82A}">
                    <a16:rowId xmlns:a16="http://schemas.microsoft.com/office/drawing/2014/main" val="2855371239"/>
                  </a:ext>
                </a:extLst>
              </a:tr>
              <a:tr h="373643">
                <a:tc>
                  <a:txBody>
                    <a:bodyPr/>
                    <a:lstStyle/>
                    <a:p>
                      <a:r>
                        <a:rPr lang="en-US" dirty="0"/>
                        <a:t>C</a:t>
                      </a:r>
                      <a:endParaRPr lang="en-CA" dirty="0"/>
                    </a:p>
                  </a:txBody>
                  <a:tcPr/>
                </a:tc>
                <a:tc>
                  <a:txBody>
                    <a:bodyPr/>
                    <a:lstStyle/>
                    <a:p>
                      <a:r>
                        <a:rPr lang="en-US" dirty="0"/>
                        <a:t>30</a:t>
                      </a:r>
                      <a:endParaRPr lang="en-CA" dirty="0"/>
                    </a:p>
                  </a:txBody>
                  <a:tcPr/>
                </a:tc>
                <a:extLst>
                  <a:ext uri="{0D108BD9-81ED-4DB2-BD59-A6C34878D82A}">
                    <a16:rowId xmlns:a16="http://schemas.microsoft.com/office/drawing/2014/main" val="226064497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677114358"/>
              </p:ext>
            </p:extLst>
          </p:nvPr>
        </p:nvGraphicFramePr>
        <p:xfrm>
          <a:off x="4031349" y="4307189"/>
          <a:ext cx="1633730" cy="1494572"/>
        </p:xfrm>
        <a:graphic>
          <a:graphicData uri="http://schemas.openxmlformats.org/drawingml/2006/table">
            <a:tbl>
              <a:tblPr firstRow="1" bandRow="1"/>
              <a:tblGrid>
                <a:gridCol w="797777">
                  <a:extLst>
                    <a:ext uri="{9D8B030D-6E8A-4147-A177-3AD203B41FA5}">
                      <a16:colId xmlns:a16="http://schemas.microsoft.com/office/drawing/2014/main" val="3235706399"/>
                    </a:ext>
                  </a:extLst>
                </a:gridCol>
                <a:gridCol w="835953">
                  <a:extLst>
                    <a:ext uri="{9D8B030D-6E8A-4147-A177-3AD203B41FA5}">
                      <a16:colId xmlns:a16="http://schemas.microsoft.com/office/drawing/2014/main" val="645910953"/>
                    </a:ext>
                  </a:extLst>
                </a:gridCol>
              </a:tblGrid>
              <a:tr h="373643">
                <a:tc>
                  <a:txBody>
                    <a:bodyPr/>
                    <a:lstStyle/>
                    <a:p>
                      <a:r>
                        <a:rPr lang="en-US" dirty="0"/>
                        <a:t>s.col1</a:t>
                      </a:r>
                      <a:endParaRPr lang="en-CA" dirty="0"/>
                    </a:p>
                  </a:txBody>
                  <a:tcPr/>
                </a:tc>
                <a:tc>
                  <a:txBody>
                    <a:bodyPr/>
                    <a:lstStyle/>
                    <a:p>
                      <a:r>
                        <a:rPr lang="en-US" dirty="0"/>
                        <a:t>s.col2</a:t>
                      </a:r>
                      <a:endParaRPr lang="en-CA" dirty="0"/>
                    </a:p>
                  </a:txBody>
                  <a:tcPr/>
                </a:tc>
                <a:extLst>
                  <a:ext uri="{0D108BD9-81ED-4DB2-BD59-A6C34878D82A}">
                    <a16:rowId xmlns:a16="http://schemas.microsoft.com/office/drawing/2014/main" val="2157743169"/>
                  </a:ext>
                </a:extLst>
              </a:tr>
              <a:tr h="373643">
                <a:tc>
                  <a:txBody>
                    <a:bodyPr/>
                    <a:lstStyle/>
                    <a:p>
                      <a:r>
                        <a:rPr lang="en-US" dirty="0"/>
                        <a:t>D</a:t>
                      </a:r>
                      <a:endParaRPr lang="en-CA" dirty="0"/>
                    </a:p>
                  </a:txBody>
                  <a:tcPr/>
                </a:tc>
                <a:tc>
                  <a:txBody>
                    <a:bodyPr/>
                    <a:lstStyle/>
                    <a:p>
                      <a:r>
                        <a:rPr lang="en-US" dirty="0"/>
                        <a:t>30</a:t>
                      </a:r>
                      <a:endParaRPr lang="en-CA" dirty="0"/>
                    </a:p>
                  </a:txBody>
                  <a:tcPr/>
                </a:tc>
                <a:extLst>
                  <a:ext uri="{0D108BD9-81ED-4DB2-BD59-A6C34878D82A}">
                    <a16:rowId xmlns:a16="http://schemas.microsoft.com/office/drawing/2014/main" val="1108540630"/>
                  </a:ext>
                </a:extLst>
              </a:tr>
              <a:tr h="373643">
                <a:tc>
                  <a:txBody>
                    <a:bodyPr/>
                    <a:lstStyle/>
                    <a:p>
                      <a:r>
                        <a:rPr lang="en-US" dirty="0"/>
                        <a:t>E</a:t>
                      </a:r>
                      <a:endParaRPr lang="en-CA" dirty="0"/>
                    </a:p>
                  </a:txBody>
                  <a:tcPr/>
                </a:tc>
                <a:tc>
                  <a:txBody>
                    <a:bodyPr/>
                    <a:lstStyle/>
                    <a:p>
                      <a:r>
                        <a:rPr lang="en-US" dirty="0"/>
                        <a:t>50</a:t>
                      </a:r>
                      <a:endParaRPr lang="en-CA" dirty="0"/>
                    </a:p>
                  </a:txBody>
                  <a:tcPr/>
                </a:tc>
                <a:extLst>
                  <a:ext uri="{0D108BD9-81ED-4DB2-BD59-A6C34878D82A}">
                    <a16:rowId xmlns:a16="http://schemas.microsoft.com/office/drawing/2014/main" val="2855371239"/>
                  </a:ext>
                </a:extLst>
              </a:tr>
              <a:tr h="373643">
                <a:tc>
                  <a:txBody>
                    <a:bodyPr/>
                    <a:lstStyle/>
                    <a:p>
                      <a:r>
                        <a:rPr lang="en-US" dirty="0"/>
                        <a:t>F</a:t>
                      </a:r>
                      <a:endParaRPr lang="en-CA" dirty="0"/>
                    </a:p>
                  </a:txBody>
                  <a:tcPr/>
                </a:tc>
                <a:tc>
                  <a:txBody>
                    <a:bodyPr/>
                    <a:lstStyle/>
                    <a:p>
                      <a:r>
                        <a:rPr lang="en-US" dirty="0"/>
                        <a:t>10</a:t>
                      </a:r>
                      <a:endParaRPr lang="en-CA" dirty="0"/>
                    </a:p>
                  </a:txBody>
                  <a:tcPr/>
                </a:tc>
                <a:extLst>
                  <a:ext uri="{0D108BD9-81ED-4DB2-BD59-A6C34878D82A}">
                    <a16:rowId xmlns:a16="http://schemas.microsoft.com/office/drawing/2014/main" val="89728503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057956951"/>
              </p:ext>
            </p:extLst>
          </p:nvPr>
        </p:nvGraphicFramePr>
        <p:xfrm>
          <a:off x="6469746" y="4289739"/>
          <a:ext cx="3292893" cy="1501194"/>
        </p:xfrm>
        <a:graphic>
          <a:graphicData uri="http://schemas.openxmlformats.org/drawingml/2006/table">
            <a:tbl>
              <a:tblPr firstRow="1" bandRow="1"/>
              <a:tblGrid>
                <a:gridCol w="794700">
                  <a:extLst>
                    <a:ext uri="{9D8B030D-6E8A-4147-A177-3AD203B41FA5}">
                      <a16:colId xmlns:a16="http://schemas.microsoft.com/office/drawing/2014/main" val="3235706399"/>
                    </a:ext>
                  </a:extLst>
                </a:gridCol>
                <a:gridCol w="832731">
                  <a:extLst>
                    <a:ext uri="{9D8B030D-6E8A-4147-A177-3AD203B41FA5}">
                      <a16:colId xmlns:a16="http://schemas.microsoft.com/office/drawing/2014/main" val="645910953"/>
                    </a:ext>
                  </a:extLst>
                </a:gridCol>
                <a:gridCol w="832731">
                  <a:extLst>
                    <a:ext uri="{9D8B030D-6E8A-4147-A177-3AD203B41FA5}">
                      <a16:colId xmlns:a16="http://schemas.microsoft.com/office/drawing/2014/main" val="2431734418"/>
                    </a:ext>
                  </a:extLst>
                </a:gridCol>
                <a:gridCol w="832731">
                  <a:extLst>
                    <a:ext uri="{9D8B030D-6E8A-4147-A177-3AD203B41FA5}">
                      <a16:colId xmlns:a16="http://schemas.microsoft.com/office/drawing/2014/main" val="972463235"/>
                    </a:ext>
                  </a:extLst>
                </a:gridCol>
              </a:tblGrid>
              <a:tr h="414742">
                <a:tc>
                  <a:txBody>
                    <a:bodyPr/>
                    <a:lstStyle/>
                    <a:p>
                      <a:r>
                        <a:rPr lang="en-US" dirty="0"/>
                        <a:t>r.col1</a:t>
                      </a:r>
                      <a:endParaRPr lang="en-CA" dirty="0"/>
                    </a:p>
                  </a:txBody>
                  <a:tcPr/>
                </a:tc>
                <a:tc>
                  <a:txBody>
                    <a:bodyPr/>
                    <a:lstStyle/>
                    <a:p>
                      <a:r>
                        <a:rPr lang="en-US" dirty="0"/>
                        <a:t>r.col2</a:t>
                      </a:r>
                      <a:endParaRPr lang="en-CA" dirty="0"/>
                    </a:p>
                  </a:txBody>
                  <a:tcPr/>
                </a:tc>
                <a:tc>
                  <a:txBody>
                    <a:bodyPr/>
                    <a:lstStyle/>
                    <a:p>
                      <a:r>
                        <a:rPr lang="en-US" dirty="0"/>
                        <a:t>s.col1</a:t>
                      </a:r>
                      <a:endParaRPr lang="en-CA" dirty="0"/>
                    </a:p>
                  </a:txBody>
                  <a:tcPr/>
                </a:tc>
                <a:tc>
                  <a:txBody>
                    <a:bodyPr/>
                    <a:lstStyle/>
                    <a:p>
                      <a:r>
                        <a:rPr lang="en-US" dirty="0"/>
                        <a:t>s.col2</a:t>
                      </a:r>
                      <a:endParaRPr lang="en-CA" dirty="0"/>
                    </a:p>
                  </a:txBody>
                  <a:tcPr/>
                </a:tc>
                <a:extLst>
                  <a:ext uri="{0D108BD9-81ED-4DB2-BD59-A6C34878D82A}">
                    <a16:rowId xmlns:a16="http://schemas.microsoft.com/office/drawing/2014/main" val="2157743169"/>
                  </a:ext>
                </a:extLst>
              </a:tr>
              <a:tr h="354932">
                <a:tc>
                  <a:txBody>
                    <a:bodyPr/>
                    <a:lstStyle/>
                    <a:p>
                      <a:r>
                        <a:rPr lang="en-US" dirty="0"/>
                        <a:t>A</a:t>
                      </a:r>
                      <a:endParaRPr lang="en-CA" dirty="0"/>
                    </a:p>
                  </a:txBody>
                  <a:tcPr/>
                </a:tc>
                <a:tc>
                  <a:txBody>
                    <a:bodyPr/>
                    <a:lstStyle/>
                    <a:p>
                      <a:r>
                        <a:rPr lang="en-US" dirty="0"/>
                        <a:t>10</a:t>
                      </a:r>
                      <a:endParaRPr lang="en-CA" dirty="0"/>
                    </a:p>
                  </a:txBody>
                  <a:tcPr/>
                </a:tc>
                <a:tc>
                  <a:txBody>
                    <a:bodyPr/>
                    <a:lstStyle/>
                    <a:p>
                      <a:r>
                        <a:rPr lang="en-US" dirty="0"/>
                        <a:t>F</a:t>
                      </a:r>
                      <a:endParaRPr lang="en-CA" dirty="0"/>
                    </a:p>
                  </a:txBody>
                  <a:tcPr/>
                </a:tc>
                <a:tc>
                  <a:txBody>
                    <a:bodyPr/>
                    <a:lstStyle/>
                    <a:p>
                      <a:r>
                        <a:rPr lang="en-US" dirty="0"/>
                        <a:t>10</a:t>
                      </a:r>
                      <a:endParaRPr lang="en-CA" dirty="0"/>
                    </a:p>
                  </a:txBody>
                  <a:tcPr/>
                </a:tc>
                <a:extLst>
                  <a:ext uri="{0D108BD9-81ED-4DB2-BD59-A6C34878D82A}">
                    <a16:rowId xmlns:a16="http://schemas.microsoft.com/office/drawing/2014/main" val="1108540630"/>
                  </a:ext>
                </a:extLst>
              </a:tr>
              <a:tr h="354932">
                <a:tc>
                  <a:txBody>
                    <a:bodyPr/>
                    <a:lstStyle/>
                    <a:p>
                      <a:r>
                        <a:rPr lang="en-US" sz="1600" b="0" dirty="0">
                          <a:solidFill>
                            <a:schemeClr val="tx1"/>
                          </a:solidFill>
                        </a:rPr>
                        <a:t>B</a:t>
                      </a:r>
                      <a:endParaRPr lang="en-CA" sz="1600" b="0" dirty="0">
                        <a:solidFill>
                          <a:schemeClr val="tx1"/>
                        </a:solidFill>
                      </a:endParaRPr>
                    </a:p>
                  </a:txBody>
                  <a:tcPr/>
                </a:tc>
                <a:tc>
                  <a:txBody>
                    <a:bodyPr/>
                    <a:lstStyle/>
                    <a:p>
                      <a:r>
                        <a:rPr lang="en-US" sz="1600" b="0" dirty="0">
                          <a:solidFill>
                            <a:schemeClr val="tx1"/>
                          </a:solidFill>
                        </a:rPr>
                        <a:t>20</a:t>
                      </a:r>
                      <a:endParaRPr lang="en-CA" sz="1600" b="0" dirty="0">
                        <a:solidFill>
                          <a:schemeClr val="tx1"/>
                        </a:solidFill>
                      </a:endParaRPr>
                    </a:p>
                  </a:txBody>
                  <a:tcPr/>
                </a:tc>
                <a:tc>
                  <a:txBody>
                    <a:bodyPr/>
                    <a:lstStyle/>
                    <a:p>
                      <a:r>
                        <a:rPr lang="en-US" sz="1400" b="1" dirty="0">
                          <a:solidFill>
                            <a:srgbClr val="FF0000"/>
                          </a:solidFill>
                        </a:rPr>
                        <a:t>NULL</a:t>
                      </a:r>
                      <a:endParaRPr lang="en-CA" sz="1400" b="1" dirty="0">
                        <a:solidFill>
                          <a:srgbClr val="FF0000"/>
                        </a:solidFill>
                      </a:endParaRPr>
                    </a:p>
                  </a:txBody>
                  <a:tcPr/>
                </a:tc>
                <a:tc>
                  <a:txBody>
                    <a:bodyPr/>
                    <a:lstStyle/>
                    <a:p>
                      <a:r>
                        <a:rPr lang="en-US" sz="1400" b="1" dirty="0">
                          <a:solidFill>
                            <a:srgbClr val="FF0000"/>
                          </a:solidFill>
                        </a:rPr>
                        <a:t>NULL</a:t>
                      </a:r>
                      <a:endParaRPr lang="en-CA" sz="1400" b="1" dirty="0">
                        <a:solidFill>
                          <a:srgbClr val="FF0000"/>
                        </a:solidFill>
                      </a:endParaRPr>
                    </a:p>
                  </a:txBody>
                  <a:tcPr/>
                </a:tc>
                <a:extLst>
                  <a:ext uri="{0D108BD9-81ED-4DB2-BD59-A6C34878D82A}">
                    <a16:rowId xmlns:a16="http://schemas.microsoft.com/office/drawing/2014/main" val="2854974299"/>
                  </a:ext>
                </a:extLst>
              </a:tr>
              <a:tr h="354932">
                <a:tc>
                  <a:txBody>
                    <a:bodyPr/>
                    <a:lstStyle/>
                    <a:p>
                      <a:r>
                        <a:rPr lang="en-US" dirty="0"/>
                        <a:t>C</a:t>
                      </a:r>
                      <a:endParaRPr lang="en-CA" dirty="0"/>
                    </a:p>
                  </a:txBody>
                  <a:tcPr/>
                </a:tc>
                <a:tc>
                  <a:txBody>
                    <a:bodyPr/>
                    <a:lstStyle/>
                    <a:p>
                      <a:r>
                        <a:rPr lang="en-US" dirty="0"/>
                        <a:t>30</a:t>
                      </a:r>
                      <a:endParaRPr lang="en-CA" dirty="0"/>
                    </a:p>
                  </a:txBody>
                  <a:tcPr/>
                </a:tc>
                <a:tc>
                  <a:txBody>
                    <a:bodyPr/>
                    <a:lstStyle/>
                    <a:p>
                      <a:r>
                        <a:rPr lang="en-US" dirty="0"/>
                        <a:t>D</a:t>
                      </a:r>
                      <a:endParaRPr lang="en-CA" dirty="0"/>
                    </a:p>
                  </a:txBody>
                  <a:tcPr/>
                </a:tc>
                <a:tc>
                  <a:txBody>
                    <a:bodyPr/>
                    <a:lstStyle/>
                    <a:p>
                      <a:r>
                        <a:rPr lang="en-US" dirty="0"/>
                        <a:t>30</a:t>
                      </a:r>
                      <a:endParaRPr lang="en-CA" dirty="0"/>
                    </a:p>
                  </a:txBody>
                  <a:tcPr/>
                </a:tc>
                <a:extLst>
                  <a:ext uri="{0D108BD9-81ED-4DB2-BD59-A6C34878D82A}">
                    <a16:rowId xmlns:a16="http://schemas.microsoft.com/office/drawing/2014/main" val="2097351444"/>
                  </a:ext>
                </a:extLst>
              </a:tr>
            </a:tbl>
          </a:graphicData>
        </a:graphic>
      </p:graphicFrame>
      <mc:AlternateContent xmlns:mc="http://schemas.openxmlformats.org/markup-compatibility/2006" xmlns:a14="http://schemas.microsoft.com/office/drawing/2010/main">
        <mc:Choice Requires="a14">
          <p:sp>
            <p:nvSpPr>
              <p:cNvPr id="9" name="TextBox 8"/>
              <p:cNvSpPr txBox="1"/>
              <p:nvPr/>
            </p:nvSpPr>
            <p:spPr>
              <a:xfrm>
                <a:off x="1944733" y="3933365"/>
                <a:ext cx="24173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a:latin typeface="Cambria Math" panose="02040503050406030204" pitchFamily="18" charset="0"/>
                        </a:rPr>
                        <m:t>𝑹</m:t>
                      </m:r>
                    </m:oMath>
                  </m:oMathPara>
                </a14:m>
                <a:endParaRPr lang="en-CA" dirty="0"/>
              </a:p>
            </p:txBody>
          </p:sp>
        </mc:Choice>
        <mc:Fallback xmlns="">
          <p:sp>
            <p:nvSpPr>
              <p:cNvPr id="9" name="TextBox 8"/>
              <p:cNvSpPr txBox="1">
                <a:spLocks noRot="1" noChangeAspect="1" noMove="1" noResize="1" noEditPoints="1" noAdjustHandles="1" noChangeArrowheads="1" noChangeShapeType="1" noTextEdit="1"/>
              </p:cNvSpPr>
              <p:nvPr/>
            </p:nvSpPr>
            <p:spPr>
              <a:xfrm>
                <a:off x="1944733" y="3933365"/>
                <a:ext cx="241738" cy="369332"/>
              </a:xfrm>
              <a:prstGeom prst="rect">
                <a:avLst/>
              </a:prstGeom>
              <a:blipFill>
                <a:blip r:embed="rId2"/>
                <a:stretch>
                  <a:fillRect r="-375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606476" y="3886540"/>
                <a:ext cx="24173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smtClean="0">
                          <a:latin typeface="Cambria Math" panose="02040503050406030204" pitchFamily="18" charset="0"/>
                        </a:rPr>
                        <m:t>𝑺</m:t>
                      </m:r>
                    </m:oMath>
                  </m:oMathPara>
                </a14:m>
                <a:endParaRPr lang="en-CA" dirty="0"/>
              </a:p>
            </p:txBody>
          </p:sp>
        </mc:Choice>
        <mc:Fallback xmlns="">
          <p:sp>
            <p:nvSpPr>
              <p:cNvPr id="10" name="TextBox 9"/>
              <p:cNvSpPr txBox="1">
                <a:spLocks noRot="1" noChangeAspect="1" noMove="1" noResize="1" noEditPoints="1" noAdjustHandles="1" noChangeArrowheads="1" noChangeShapeType="1" noTextEdit="1"/>
              </p:cNvSpPr>
              <p:nvPr/>
            </p:nvSpPr>
            <p:spPr>
              <a:xfrm>
                <a:off x="4606476" y="3886540"/>
                <a:ext cx="241738" cy="369332"/>
              </a:xfrm>
              <a:prstGeom prst="rect">
                <a:avLst/>
              </a:prstGeom>
              <a:blipFill>
                <a:blip r:embed="rId3"/>
                <a:stretch>
                  <a:fillRect r="-2820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7236845" y="3901833"/>
                <a:ext cx="7984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𝑹</m:t>
                      </m:r>
                      <m:r>
                        <a:rPr lang="en-US" b="1" i="1" smtClean="0">
                          <a:latin typeface="Cambria Math" panose="02040503050406030204" pitchFamily="18" charset="0"/>
                        </a:rPr>
                        <m:t> </m:t>
                      </m:r>
                      <m:r>
                        <a:rPr lang="en-US" b="1" i="1" smtClean="0">
                          <a:latin typeface="Cambria Math" panose="02040503050406030204" pitchFamily="18" charset="0"/>
                        </a:rPr>
                        <m:t>𝒍𝒆𝒇𝒕</m:t>
                      </m:r>
                      <m:r>
                        <a:rPr lang="en-US" b="1" i="1" smtClean="0">
                          <a:latin typeface="Cambria Math" panose="02040503050406030204" pitchFamily="18" charset="0"/>
                        </a:rPr>
                        <m:t> </m:t>
                      </m:r>
                      <m:r>
                        <a:rPr lang="en-US" b="1" i="1" smtClean="0">
                          <a:latin typeface="Cambria Math" panose="02040503050406030204" pitchFamily="18" charset="0"/>
                        </a:rPr>
                        <m:t>𝒋𝒐𝒊𝒏</m:t>
                      </m:r>
                      <m:r>
                        <a:rPr lang="en-US" b="1" i="1" smtClean="0">
                          <a:latin typeface="Cambria Math" panose="02040503050406030204" pitchFamily="18" charset="0"/>
                        </a:rPr>
                        <m:t> </m:t>
                      </m:r>
                      <m:r>
                        <a:rPr lang="en-US" b="1" i="1" smtClean="0">
                          <a:latin typeface="Cambria Math" panose="02040503050406030204" pitchFamily="18" charset="0"/>
                        </a:rPr>
                        <m:t>𝑺</m:t>
                      </m:r>
                    </m:oMath>
                  </m:oMathPara>
                </a14:m>
                <a:endParaRPr lang="en-CA" b="1" dirty="0"/>
              </a:p>
            </p:txBody>
          </p:sp>
        </mc:Choice>
        <mc:Fallback xmlns="">
          <p:sp>
            <p:nvSpPr>
              <p:cNvPr id="11" name="TextBox 10"/>
              <p:cNvSpPr txBox="1">
                <a:spLocks noRot="1" noChangeAspect="1" noMove="1" noResize="1" noEditPoints="1" noAdjustHandles="1" noChangeArrowheads="1" noChangeShapeType="1" noTextEdit="1"/>
              </p:cNvSpPr>
              <p:nvPr/>
            </p:nvSpPr>
            <p:spPr>
              <a:xfrm>
                <a:off x="7236845" y="3901833"/>
                <a:ext cx="798469" cy="369332"/>
              </a:xfrm>
              <a:prstGeom prst="rect">
                <a:avLst/>
              </a:prstGeom>
              <a:blipFill>
                <a:blip r:embed="rId4"/>
                <a:stretch>
                  <a:fillRect r="-89313" b="-16393"/>
                </a:stretch>
              </a:blipFill>
            </p:spPr>
            <p:txBody>
              <a:bodyPr/>
              <a:lstStyle/>
              <a:p>
                <a:r>
                  <a:rPr lang="en-CA">
                    <a:noFill/>
                  </a:rPr>
                  <a:t> </a:t>
                </a:r>
              </a:p>
            </p:txBody>
          </p:sp>
        </mc:Fallback>
      </mc:AlternateContent>
      <p:sp>
        <p:nvSpPr>
          <p:cNvPr id="8" name="TextBox 7">
            <a:extLst>
              <a:ext uri="{FF2B5EF4-FFF2-40B4-BE49-F238E27FC236}">
                <a16:creationId xmlns:a16="http://schemas.microsoft.com/office/drawing/2014/main" id="{647E9D7B-A561-6BE8-C48B-B7AA09931543}"/>
              </a:ext>
            </a:extLst>
          </p:cNvPr>
          <p:cNvSpPr txBox="1"/>
          <p:nvPr/>
        </p:nvSpPr>
        <p:spPr>
          <a:xfrm>
            <a:off x="2013004" y="707995"/>
            <a:ext cx="6103188" cy="923330"/>
          </a:xfrm>
          <a:prstGeom prst="rect">
            <a:avLst/>
          </a:prstGeom>
          <a:noFill/>
        </p:spPr>
        <p:txBody>
          <a:bodyPr wrap="square">
            <a:spAutoFit/>
          </a:bodyPr>
          <a:lstStyle/>
          <a:p>
            <a:pPr marL="0" indent="0">
              <a:buNone/>
            </a:pPr>
            <a:r>
              <a:rPr lang="en-US" b="1" dirty="0">
                <a:latin typeface="Courier New" panose="02070309020205020404" pitchFamily="49" charset="0"/>
                <a:cs typeface="Courier New" panose="02070309020205020404" pitchFamily="49" charset="0"/>
              </a:rPr>
              <a:t>SELECT</a:t>
            </a:r>
            <a:r>
              <a:rPr lang="en-US" dirty="0">
                <a:latin typeface="Courier New" panose="02070309020205020404" pitchFamily="49" charset="0"/>
                <a:cs typeface="Courier New" panose="02070309020205020404" pitchFamily="49" charset="0"/>
              </a:rPr>
              <a:t>  R.*,S.*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FROM</a:t>
            </a:r>
            <a:r>
              <a:rPr lang="en-US" dirty="0">
                <a:latin typeface="Courier New" panose="02070309020205020404" pitchFamily="49" charset="0"/>
                <a:cs typeface="Courier New" panose="02070309020205020404" pitchFamily="49" charset="0"/>
              </a:rPr>
              <a:t>  </a:t>
            </a:r>
            <a:r>
              <a:rPr lang="en-US">
                <a:latin typeface="Courier New" panose="02070309020205020404" pitchFamily="49" charset="0"/>
                <a:cs typeface="Courier New" panose="02070309020205020404" pitchFamily="49" charset="0"/>
              </a:rPr>
              <a:t>R LEFT</a:t>
            </a:r>
            <a:r>
              <a:rPr lang="en-US" b="1">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JOIN</a:t>
            </a:r>
            <a:r>
              <a:rPr lang="en-US" dirty="0">
                <a:latin typeface="Courier New" panose="02070309020205020404" pitchFamily="49" charset="0"/>
                <a:cs typeface="Courier New" panose="02070309020205020404" pitchFamily="49" charset="0"/>
              </a:rPr>
              <a:t> 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ON</a:t>
            </a:r>
            <a:r>
              <a:rPr lang="en-US" dirty="0">
                <a:latin typeface="Courier New" panose="02070309020205020404" pitchFamily="49" charset="0"/>
                <a:cs typeface="Courier New" panose="02070309020205020404" pitchFamily="49" charset="0"/>
              </a:rPr>
              <a:t> R.col2 = S.col2;</a:t>
            </a:r>
          </a:p>
        </p:txBody>
      </p:sp>
    </p:spTree>
    <p:extLst>
      <p:ext uri="{BB962C8B-B14F-4D97-AF65-F5344CB8AC3E}">
        <p14:creationId xmlns:p14="http://schemas.microsoft.com/office/powerpoint/2010/main" val="4045681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Right Join</a:t>
            </a:r>
            <a:endParaRPr lang="en-CA" dirty="0"/>
          </a:p>
        </p:txBody>
      </p:sp>
      <p:sp>
        <p:nvSpPr>
          <p:cNvPr id="3" name="Content Placeholder 2"/>
          <p:cNvSpPr>
            <a:spLocks noGrp="1"/>
          </p:cNvSpPr>
          <p:nvPr>
            <p:ph idx="1"/>
          </p:nvPr>
        </p:nvSpPr>
        <p:spPr/>
        <p:txBody>
          <a:bodyPr/>
          <a:lstStyle/>
          <a:p>
            <a:r>
              <a:rPr lang="en-US" dirty="0"/>
              <a:t>The Right JOIN returns all the rows from the table on the right of the join operator even if there is no matching row for them in the table on the left of the join. </a:t>
            </a:r>
          </a:p>
          <a:p>
            <a:r>
              <a:rPr lang="en-US" dirty="0"/>
              <a:t>For the rows from the right table that have no matching rows in the left table, the values for the left table columns will be returned as null.</a:t>
            </a:r>
            <a:endParaRPr lang="en-CA" dirty="0"/>
          </a:p>
        </p:txBody>
      </p:sp>
      <p:graphicFrame>
        <p:nvGraphicFramePr>
          <p:cNvPr id="4" name="Table 3"/>
          <p:cNvGraphicFramePr>
            <a:graphicFrameLocks noGrp="1"/>
          </p:cNvGraphicFramePr>
          <p:nvPr>
            <p:extLst>
              <p:ext uri="{D42A27DB-BD31-4B8C-83A1-F6EECF244321}">
                <p14:modId xmlns:p14="http://schemas.microsoft.com/office/powerpoint/2010/main" val="4025847149"/>
              </p:ext>
            </p:extLst>
          </p:nvPr>
        </p:nvGraphicFramePr>
        <p:xfrm>
          <a:off x="1387999" y="4307189"/>
          <a:ext cx="1596945" cy="1494572"/>
        </p:xfrm>
        <a:graphic>
          <a:graphicData uri="http://schemas.openxmlformats.org/drawingml/2006/table">
            <a:tbl>
              <a:tblPr firstRow="1" bandRow="1"/>
              <a:tblGrid>
                <a:gridCol w="779814">
                  <a:extLst>
                    <a:ext uri="{9D8B030D-6E8A-4147-A177-3AD203B41FA5}">
                      <a16:colId xmlns:a16="http://schemas.microsoft.com/office/drawing/2014/main" val="3235706399"/>
                    </a:ext>
                  </a:extLst>
                </a:gridCol>
                <a:gridCol w="817131">
                  <a:extLst>
                    <a:ext uri="{9D8B030D-6E8A-4147-A177-3AD203B41FA5}">
                      <a16:colId xmlns:a16="http://schemas.microsoft.com/office/drawing/2014/main" val="645910953"/>
                    </a:ext>
                  </a:extLst>
                </a:gridCol>
              </a:tblGrid>
              <a:tr h="373643">
                <a:tc>
                  <a:txBody>
                    <a:bodyPr/>
                    <a:lstStyle/>
                    <a:p>
                      <a:r>
                        <a:rPr lang="en-US" dirty="0"/>
                        <a:t>r.col1</a:t>
                      </a:r>
                      <a:endParaRPr lang="en-CA" dirty="0"/>
                    </a:p>
                  </a:txBody>
                  <a:tcPr/>
                </a:tc>
                <a:tc>
                  <a:txBody>
                    <a:bodyPr/>
                    <a:lstStyle/>
                    <a:p>
                      <a:r>
                        <a:rPr lang="en-US" dirty="0"/>
                        <a:t>r.col2</a:t>
                      </a:r>
                      <a:endParaRPr lang="en-CA" dirty="0"/>
                    </a:p>
                  </a:txBody>
                  <a:tcPr/>
                </a:tc>
                <a:extLst>
                  <a:ext uri="{0D108BD9-81ED-4DB2-BD59-A6C34878D82A}">
                    <a16:rowId xmlns:a16="http://schemas.microsoft.com/office/drawing/2014/main" val="2157743169"/>
                  </a:ext>
                </a:extLst>
              </a:tr>
              <a:tr h="373643">
                <a:tc>
                  <a:txBody>
                    <a:bodyPr/>
                    <a:lstStyle/>
                    <a:p>
                      <a:r>
                        <a:rPr lang="en-US" dirty="0"/>
                        <a:t>A</a:t>
                      </a:r>
                      <a:endParaRPr lang="en-CA" dirty="0"/>
                    </a:p>
                  </a:txBody>
                  <a:tcPr/>
                </a:tc>
                <a:tc>
                  <a:txBody>
                    <a:bodyPr/>
                    <a:lstStyle/>
                    <a:p>
                      <a:r>
                        <a:rPr lang="en-US" dirty="0"/>
                        <a:t>10</a:t>
                      </a:r>
                      <a:endParaRPr lang="en-CA" dirty="0"/>
                    </a:p>
                  </a:txBody>
                  <a:tcPr/>
                </a:tc>
                <a:extLst>
                  <a:ext uri="{0D108BD9-81ED-4DB2-BD59-A6C34878D82A}">
                    <a16:rowId xmlns:a16="http://schemas.microsoft.com/office/drawing/2014/main" val="1108540630"/>
                  </a:ext>
                </a:extLst>
              </a:tr>
              <a:tr h="373643">
                <a:tc>
                  <a:txBody>
                    <a:bodyPr/>
                    <a:lstStyle/>
                    <a:p>
                      <a:r>
                        <a:rPr lang="en-US" dirty="0"/>
                        <a:t>B</a:t>
                      </a:r>
                      <a:endParaRPr lang="en-CA" dirty="0"/>
                    </a:p>
                  </a:txBody>
                  <a:tcPr/>
                </a:tc>
                <a:tc>
                  <a:txBody>
                    <a:bodyPr/>
                    <a:lstStyle/>
                    <a:p>
                      <a:r>
                        <a:rPr lang="en-US" dirty="0"/>
                        <a:t>20</a:t>
                      </a:r>
                      <a:endParaRPr lang="en-CA" dirty="0"/>
                    </a:p>
                  </a:txBody>
                  <a:tcPr/>
                </a:tc>
                <a:extLst>
                  <a:ext uri="{0D108BD9-81ED-4DB2-BD59-A6C34878D82A}">
                    <a16:rowId xmlns:a16="http://schemas.microsoft.com/office/drawing/2014/main" val="2855371239"/>
                  </a:ext>
                </a:extLst>
              </a:tr>
              <a:tr h="373643">
                <a:tc>
                  <a:txBody>
                    <a:bodyPr/>
                    <a:lstStyle/>
                    <a:p>
                      <a:r>
                        <a:rPr lang="en-US" dirty="0"/>
                        <a:t>C</a:t>
                      </a:r>
                      <a:endParaRPr lang="en-CA" dirty="0"/>
                    </a:p>
                  </a:txBody>
                  <a:tcPr/>
                </a:tc>
                <a:tc>
                  <a:txBody>
                    <a:bodyPr/>
                    <a:lstStyle/>
                    <a:p>
                      <a:r>
                        <a:rPr lang="en-US" dirty="0"/>
                        <a:t>30</a:t>
                      </a:r>
                      <a:endParaRPr lang="en-CA" dirty="0"/>
                    </a:p>
                  </a:txBody>
                  <a:tcPr/>
                </a:tc>
                <a:extLst>
                  <a:ext uri="{0D108BD9-81ED-4DB2-BD59-A6C34878D82A}">
                    <a16:rowId xmlns:a16="http://schemas.microsoft.com/office/drawing/2014/main" val="226064497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651075956"/>
              </p:ext>
            </p:extLst>
          </p:nvPr>
        </p:nvGraphicFramePr>
        <p:xfrm>
          <a:off x="4031349" y="4307189"/>
          <a:ext cx="1633730" cy="1868215"/>
        </p:xfrm>
        <a:graphic>
          <a:graphicData uri="http://schemas.openxmlformats.org/drawingml/2006/table">
            <a:tbl>
              <a:tblPr firstRow="1" bandRow="1"/>
              <a:tblGrid>
                <a:gridCol w="797777">
                  <a:extLst>
                    <a:ext uri="{9D8B030D-6E8A-4147-A177-3AD203B41FA5}">
                      <a16:colId xmlns:a16="http://schemas.microsoft.com/office/drawing/2014/main" val="3235706399"/>
                    </a:ext>
                  </a:extLst>
                </a:gridCol>
                <a:gridCol w="835953">
                  <a:extLst>
                    <a:ext uri="{9D8B030D-6E8A-4147-A177-3AD203B41FA5}">
                      <a16:colId xmlns:a16="http://schemas.microsoft.com/office/drawing/2014/main" val="645910953"/>
                    </a:ext>
                  </a:extLst>
                </a:gridCol>
              </a:tblGrid>
              <a:tr h="373643">
                <a:tc>
                  <a:txBody>
                    <a:bodyPr/>
                    <a:lstStyle/>
                    <a:p>
                      <a:r>
                        <a:rPr lang="en-US" dirty="0"/>
                        <a:t>s.col1</a:t>
                      </a:r>
                      <a:endParaRPr lang="en-CA" dirty="0"/>
                    </a:p>
                  </a:txBody>
                  <a:tcPr/>
                </a:tc>
                <a:tc>
                  <a:txBody>
                    <a:bodyPr/>
                    <a:lstStyle/>
                    <a:p>
                      <a:r>
                        <a:rPr lang="en-US" dirty="0"/>
                        <a:t>s.col2</a:t>
                      </a:r>
                      <a:endParaRPr lang="en-CA" dirty="0"/>
                    </a:p>
                  </a:txBody>
                  <a:tcPr/>
                </a:tc>
                <a:extLst>
                  <a:ext uri="{0D108BD9-81ED-4DB2-BD59-A6C34878D82A}">
                    <a16:rowId xmlns:a16="http://schemas.microsoft.com/office/drawing/2014/main" val="2157743169"/>
                  </a:ext>
                </a:extLst>
              </a:tr>
              <a:tr h="373643">
                <a:tc>
                  <a:txBody>
                    <a:bodyPr/>
                    <a:lstStyle/>
                    <a:p>
                      <a:r>
                        <a:rPr lang="en-US" dirty="0"/>
                        <a:t>D</a:t>
                      </a:r>
                      <a:endParaRPr lang="en-CA" dirty="0"/>
                    </a:p>
                  </a:txBody>
                  <a:tcPr/>
                </a:tc>
                <a:tc>
                  <a:txBody>
                    <a:bodyPr/>
                    <a:lstStyle/>
                    <a:p>
                      <a:r>
                        <a:rPr lang="en-US" dirty="0"/>
                        <a:t>30</a:t>
                      </a:r>
                      <a:endParaRPr lang="en-CA" dirty="0"/>
                    </a:p>
                  </a:txBody>
                  <a:tcPr/>
                </a:tc>
                <a:extLst>
                  <a:ext uri="{0D108BD9-81ED-4DB2-BD59-A6C34878D82A}">
                    <a16:rowId xmlns:a16="http://schemas.microsoft.com/office/drawing/2014/main" val="1108540630"/>
                  </a:ext>
                </a:extLst>
              </a:tr>
              <a:tr h="373643">
                <a:tc>
                  <a:txBody>
                    <a:bodyPr/>
                    <a:lstStyle/>
                    <a:p>
                      <a:r>
                        <a:rPr lang="en-US" dirty="0"/>
                        <a:t>E</a:t>
                      </a:r>
                      <a:endParaRPr lang="en-CA" dirty="0"/>
                    </a:p>
                  </a:txBody>
                  <a:tcPr/>
                </a:tc>
                <a:tc>
                  <a:txBody>
                    <a:bodyPr/>
                    <a:lstStyle/>
                    <a:p>
                      <a:r>
                        <a:rPr lang="en-US" dirty="0"/>
                        <a:t>50</a:t>
                      </a:r>
                      <a:endParaRPr lang="en-CA" dirty="0"/>
                    </a:p>
                  </a:txBody>
                  <a:tcPr/>
                </a:tc>
                <a:extLst>
                  <a:ext uri="{0D108BD9-81ED-4DB2-BD59-A6C34878D82A}">
                    <a16:rowId xmlns:a16="http://schemas.microsoft.com/office/drawing/2014/main" val="2855371239"/>
                  </a:ext>
                </a:extLst>
              </a:tr>
              <a:tr h="373643">
                <a:tc>
                  <a:txBody>
                    <a:bodyPr/>
                    <a:lstStyle/>
                    <a:p>
                      <a:r>
                        <a:rPr lang="en-US" dirty="0"/>
                        <a:t>F</a:t>
                      </a:r>
                      <a:endParaRPr lang="en-CA" dirty="0"/>
                    </a:p>
                  </a:txBody>
                  <a:tcPr/>
                </a:tc>
                <a:tc>
                  <a:txBody>
                    <a:bodyPr/>
                    <a:lstStyle/>
                    <a:p>
                      <a:r>
                        <a:rPr lang="en-US" dirty="0"/>
                        <a:t>10</a:t>
                      </a:r>
                      <a:endParaRPr lang="en-CA" dirty="0"/>
                    </a:p>
                  </a:txBody>
                  <a:tcPr/>
                </a:tc>
                <a:extLst>
                  <a:ext uri="{0D108BD9-81ED-4DB2-BD59-A6C34878D82A}">
                    <a16:rowId xmlns:a16="http://schemas.microsoft.com/office/drawing/2014/main" val="897285038"/>
                  </a:ext>
                </a:extLst>
              </a:tr>
              <a:tr h="373643">
                <a:tc>
                  <a:txBody>
                    <a:bodyPr/>
                    <a:lstStyle/>
                    <a:p>
                      <a:r>
                        <a:rPr lang="en-US" dirty="0"/>
                        <a:t>G</a:t>
                      </a:r>
                      <a:endParaRPr lang="en-CA" dirty="0"/>
                    </a:p>
                  </a:txBody>
                  <a:tcPr/>
                </a:tc>
                <a:tc>
                  <a:txBody>
                    <a:bodyPr/>
                    <a:lstStyle/>
                    <a:p>
                      <a:r>
                        <a:rPr lang="en-US" dirty="0"/>
                        <a:t>20</a:t>
                      </a:r>
                      <a:endParaRPr lang="en-CA" dirty="0"/>
                    </a:p>
                  </a:txBody>
                  <a:tcPr/>
                </a:tc>
                <a:extLst>
                  <a:ext uri="{0D108BD9-81ED-4DB2-BD59-A6C34878D82A}">
                    <a16:rowId xmlns:a16="http://schemas.microsoft.com/office/drawing/2014/main" val="81966277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120804224"/>
              </p:ext>
            </p:extLst>
          </p:nvPr>
        </p:nvGraphicFramePr>
        <p:xfrm>
          <a:off x="6469746" y="4289739"/>
          <a:ext cx="3292893" cy="1877782"/>
        </p:xfrm>
        <a:graphic>
          <a:graphicData uri="http://schemas.openxmlformats.org/drawingml/2006/table">
            <a:tbl>
              <a:tblPr firstRow="1" bandRow="1"/>
              <a:tblGrid>
                <a:gridCol w="794700">
                  <a:extLst>
                    <a:ext uri="{9D8B030D-6E8A-4147-A177-3AD203B41FA5}">
                      <a16:colId xmlns:a16="http://schemas.microsoft.com/office/drawing/2014/main" val="3235706399"/>
                    </a:ext>
                  </a:extLst>
                </a:gridCol>
                <a:gridCol w="832731">
                  <a:extLst>
                    <a:ext uri="{9D8B030D-6E8A-4147-A177-3AD203B41FA5}">
                      <a16:colId xmlns:a16="http://schemas.microsoft.com/office/drawing/2014/main" val="645910953"/>
                    </a:ext>
                  </a:extLst>
                </a:gridCol>
                <a:gridCol w="832731">
                  <a:extLst>
                    <a:ext uri="{9D8B030D-6E8A-4147-A177-3AD203B41FA5}">
                      <a16:colId xmlns:a16="http://schemas.microsoft.com/office/drawing/2014/main" val="2431734418"/>
                    </a:ext>
                  </a:extLst>
                </a:gridCol>
                <a:gridCol w="832731">
                  <a:extLst>
                    <a:ext uri="{9D8B030D-6E8A-4147-A177-3AD203B41FA5}">
                      <a16:colId xmlns:a16="http://schemas.microsoft.com/office/drawing/2014/main" val="972463235"/>
                    </a:ext>
                  </a:extLst>
                </a:gridCol>
              </a:tblGrid>
              <a:tr h="414742">
                <a:tc>
                  <a:txBody>
                    <a:bodyPr/>
                    <a:lstStyle/>
                    <a:p>
                      <a:r>
                        <a:rPr lang="en-US" dirty="0"/>
                        <a:t>r.col1</a:t>
                      </a:r>
                      <a:endParaRPr lang="en-CA" dirty="0"/>
                    </a:p>
                  </a:txBody>
                  <a:tcPr/>
                </a:tc>
                <a:tc>
                  <a:txBody>
                    <a:bodyPr/>
                    <a:lstStyle/>
                    <a:p>
                      <a:r>
                        <a:rPr lang="en-US" dirty="0"/>
                        <a:t>r.col2</a:t>
                      </a:r>
                      <a:endParaRPr lang="en-CA" dirty="0"/>
                    </a:p>
                  </a:txBody>
                  <a:tcPr/>
                </a:tc>
                <a:tc>
                  <a:txBody>
                    <a:bodyPr/>
                    <a:lstStyle/>
                    <a:p>
                      <a:r>
                        <a:rPr lang="en-US" dirty="0"/>
                        <a:t>s.col1</a:t>
                      </a:r>
                      <a:endParaRPr lang="en-CA" dirty="0"/>
                    </a:p>
                  </a:txBody>
                  <a:tcPr/>
                </a:tc>
                <a:tc>
                  <a:txBody>
                    <a:bodyPr/>
                    <a:lstStyle/>
                    <a:p>
                      <a:r>
                        <a:rPr lang="en-US" dirty="0"/>
                        <a:t>s.col2</a:t>
                      </a:r>
                      <a:endParaRPr lang="en-CA" dirty="0"/>
                    </a:p>
                  </a:txBody>
                  <a:tcPr/>
                </a:tc>
                <a:extLst>
                  <a:ext uri="{0D108BD9-81ED-4DB2-BD59-A6C34878D82A}">
                    <a16:rowId xmlns:a16="http://schemas.microsoft.com/office/drawing/2014/main" val="2157743169"/>
                  </a:ext>
                </a:extLst>
              </a:tr>
              <a:tr h="354932">
                <a:tc>
                  <a:txBody>
                    <a:bodyPr/>
                    <a:lstStyle/>
                    <a:p>
                      <a:r>
                        <a:rPr lang="en-US" dirty="0"/>
                        <a:t>C</a:t>
                      </a:r>
                      <a:endParaRPr lang="en-CA" dirty="0"/>
                    </a:p>
                  </a:txBody>
                  <a:tcPr/>
                </a:tc>
                <a:tc>
                  <a:txBody>
                    <a:bodyPr/>
                    <a:lstStyle/>
                    <a:p>
                      <a:r>
                        <a:rPr lang="en-US" dirty="0"/>
                        <a:t>30</a:t>
                      </a:r>
                      <a:endParaRPr lang="en-CA" dirty="0"/>
                    </a:p>
                  </a:txBody>
                  <a:tcPr/>
                </a:tc>
                <a:tc>
                  <a:txBody>
                    <a:bodyPr/>
                    <a:lstStyle/>
                    <a:p>
                      <a:r>
                        <a:rPr lang="en-US" dirty="0"/>
                        <a:t>D</a:t>
                      </a:r>
                      <a:endParaRPr lang="en-CA" dirty="0"/>
                    </a:p>
                  </a:txBody>
                  <a:tcPr/>
                </a:tc>
                <a:tc>
                  <a:txBody>
                    <a:bodyPr/>
                    <a:lstStyle/>
                    <a:p>
                      <a:r>
                        <a:rPr lang="en-US" dirty="0"/>
                        <a:t>30</a:t>
                      </a:r>
                      <a:endParaRPr lang="en-CA" dirty="0"/>
                    </a:p>
                  </a:txBody>
                  <a:tcPr/>
                </a:tc>
                <a:extLst>
                  <a:ext uri="{0D108BD9-81ED-4DB2-BD59-A6C34878D82A}">
                    <a16:rowId xmlns:a16="http://schemas.microsoft.com/office/drawing/2014/main" val="1108540630"/>
                  </a:ext>
                </a:extLst>
              </a:tr>
              <a:tr h="354932">
                <a:tc>
                  <a:txBody>
                    <a:bodyPr/>
                    <a:lstStyle/>
                    <a:p>
                      <a:r>
                        <a:rPr lang="en-US" sz="1400" b="1" dirty="0">
                          <a:solidFill>
                            <a:srgbClr val="FF0000"/>
                          </a:solidFill>
                        </a:rPr>
                        <a:t>NULL</a:t>
                      </a:r>
                      <a:endParaRPr lang="en-CA" sz="1400" b="1" dirty="0">
                        <a:solidFill>
                          <a:srgbClr val="FF0000"/>
                        </a:solidFill>
                      </a:endParaRPr>
                    </a:p>
                  </a:txBody>
                  <a:tcPr/>
                </a:tc>
                <a:tc>
                  <a:txBody>
                    <a:bodyPr/>
                    <a:lstStyle/>
                    <a:p>
                      <a:r>
                        <a:rPr lang="en-US" sz="1400" b="1" dirty="0">
                          <a:solidFill>
                            <a:srgbClr val="FF0000"/>
                          </a:solidFill>
                        </a:rPr>
                        <a:t>NULL</a:t>
                      </a:r>
                      <a:endParaRPr lang="en-CA" sz="1400" b="1" dirty="0">
                        <a:solidFill>
                          <a:srgbClr val="FF0000"/>
                        </a:solidFill>
                      </a:endParaRPr>
                    </a:p>
                  </a:txBody>
                  <a:tcPr/>
                </a:tc>
                <a:tc>
                  <a:txBody>
                    <a:bodyPr/>
                    <a:lstStyle/>
                    <a:p>
                      <a:r>
                        <a:rPr lang="en-US" dirty="0"/>
                        <a:t>E</a:t>
                      </a:r>
                      <a:endParaRPr lang="en-CA" dirty="0"/>
                    </a:p>
                  </a:txBody>
                  <a:tcPr/>
                </a:tc>
                <a:tc>
                  <a:txBody>
                    <a:bodyPr/>
                    <a:lstStyle/>
                    <a:p>
                      <a:r>
                        <a:rPr lang="en-US" dirty="0"/>
                        <a:t>50</a:t>
                      </a:r>
                      <a:endParaRPr lang="en-CA" dirty="0"/>
                    </a:p>
                  </a:txBody>
                  <a:tcPr/>
                </a:tc>
                <a:extLst>
                  <a:ext uri="{0D108BD9-81ED-4DB2-BD59-A6C34878D82A}">
                    <a16:rowId xmlns:a16="http://schemas.microsoft.com/office/drawing/2014/main" val="2854974299"/>
                  </a:ext>
                </a:extLst>
              </a:tr>
              <a:tr h="354932">
                <a:tc>
                  <a:txBody>
                    <a:bodyPr/>
                    <a:lstStyle/>
                    <a:p>
                      <a:r>
                        <a:rPr lang="en-US" dirty="0"/>
                        <a:t>A</a:t>
                      </a:r>
                      <a:endParaRPr lang="en-CA" dirty="0"/>
                    </a:p>
                  </a:txBody>
                  <a:tcPr/>
                </a:tc>
                <a:tc>
                  <a:txBody>
                    <a:bodyPr/>
                    <a:lstStyle/>
                    <a:p>
                      <a:r>
                        <a:rPr lang="en-US" dirty="0"/>
                        <a:t>10</a:t>
                      </a:r>
                      <a:endParaRPr lang="en-CA" dirty="0"/>
                    </a:p>
                  </a:txBody>
                  <a:tcPr/>
                </a:tc>
                <a:tc>
                  <a:txBody>
                    <a:bodyPr/>
                    <a:lstStyle/>
                    <a:p>
                      <a:r>
                        <a:rPr lang="en-US" dirty="0"/>
                        <a:t>F</a:t>
                      </a:r>
                      <a:endParaRPr lang="en-CA" dirty="0"/>
                    </a:p>
                  </a:txBody>
                  <a:tcPr/>
                </a:tc>
                <a:tc>
                  <a:txBody>
                    <a:bodyPr/>
                    <a:lstStyle/>
                    <a:p>
                      <a:r>
                        <a:rPr lang="en-US" dirty="0"/>
                        <a:t>10</a:t>
                      </a:r>
                      <a:endParaRPr lang="en-CA" dirty="0"/>
                    </a:p>
                  </a:txBody>
                  <a:tcPr/>
                </a:tc>
                <a:extLst>
                  <a:ext uri="{0D108BD9-81ED-4DB2-BD59-A6C34878D82A}">
                    <a16:rowId xmlns:a16="http://schemas.microsoft.com/office/drawing/2014/main" val="2097351444"/>
                  </a:ext>
                </a:extLst>
              </a:tr>
              <a:tr h="354932">
                <a:tc>
                  <a:txBody>
                    <a:bodyPr/>
                    <a:lstStyle/>
                    <a:p>
                      <a:r>
                        <a:rPr lang="en-US" sz="1600" b="0" dirty="0">
                          <a:solidFill>
                            <a:schemeClr val="tx1"/>
                          </a:solidFill>
                        </a:rPr>
                        <a:t>B</a:t>
                      </a:r>
                      <a:endParaRPr lang="en-CA" sz="1600" b="0" dirty="0">
                        <a:solidFill>
                          <a:schemeClr val="tx1"/>
                        </a:solidFill>
                      </a:endParaRPr>
                    </a:p>
                  </a:txBody>
                  <a:tcPr/>
                </a:tc>
                <a:tc>
                  <a:txBody>
                    <a:bodyPr/>
                    <a:lstStyle/>
                    <a:p>
                      <a:r>
                        <a:rPr lang="en-US" sz="1600" b="0" dirty="0">
                          <a:solidFill>
                            <a:schemeClr val="tx1"/>
                          </a:solidFill>
                        </a:rPr>
                        <a:t>20</a:t>
                      </a:r>
                      <a:endParaRPr lang="en-CA" sz="1600" b="0" dirty="0">
                        <a:solidFill>
                          <a:schemeClr val="tx1"/>
                        </a:solidFill>
                      </a:endParaRPr>
                    </a:p>
                  </a:txBody>
                  <a:tcPr/>
                </a:tc>
                <a:tc>
                  <a:txBody>
                    <a:bodyPr/>
                    <a:lstStyle/>
                    <a:p>
                      <a:r>
                        <a:rPr lang="en-US" dirty="0"/>
                        <a:t>G</a:t>
                      </a:r>
                      <a:endParaRPr lang="en-CA" dirty="0"/>
                    </a:p>
                  </a:txBody>
                  <a:tcPr/>
                </a:tc>
                <a:tc>
                  <a:txBody>
                    <a:bodyPr/>
                    <a:lstStyle/>
                    <a:p>
                      <a:r>
                        <a:rPr lang="en-US" dirty="0"/>
                        <a:t>20</a:t>
                      </a:r>
                      <a:endParaRPr lang="en-CA" dirty="0"/>
                    </a:p>
                  </a:txBody>
                  <a:tcPr/>
                </a:tc>
                <a:extLst>
                  <a:ext uri="{0D108BD9-81ED-4DB2-BD59-A6C34878D82A}">
                    <a16:rowId xmlns:a16="http://schemas.microsoft.com/office/drawing/2014/main" val="3760083895"/>
                  </a:ext>
                </a:extLst>
              </a:tr>
            </a:tbl>
          </a:graphicData>
        </a:graphic>
      </p:graphicFrame>
      <mc:AlternateContent xmlns:mc="http://schemas.openxmlformats.org/markup-compatibility/2006" xmlns:a14="http://schemas.microsoft.com/office/drawing/2010/main">
        <mc:Choice Requires="a14">
          <p:sp>
            <p:nvSpPr>
              <p:cNvPr id="7" name="TextBox 6"/>
              <p:cNvSpPr txBox="1"/>
              <p:nvPr/>
            </p:nvSpPr>
            <p:spPr>
              <a:xfrm>
                <a:off x="1944733" y="3933365"/>
                <a:ext cx="24173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a:latin typeface="Cambria Math" panose="02040503050406030204" pitchFamily="18" charset="0"/>
                        </a:rPr>
                        <m:t>𝑹</m:t>
                      </m:r>
                    </m:oMath>
                  </m:oMathPara>
                </a14:m>
                <a:endParaRPr lang="en-CA" dirty="0"/>
              </a:p>
            </p:txBody>
          </p:sp>
        </mc:Choice>
        <mc:Fallback xmlns="">
          <p:sp>
            <p:nvSpPr>
              <p:cNvPr id="7" name="TextBox 6"/>
              <p:cNvSpPr txBox="1">
                <a:spLocks noRot="1" noChangeAspect="1" noMove="1" noResize="1" noEditPoints="1" noAdjustHandles="1" noChangeArrowheads="1" noChangeShapeType="1" noTextEdit="1"/>
              </p:cNvSpPr>
              <p:nvPr/>
            </p:nvSpPr>
            <p:spPr>
              <a:xfrm>
                <a:off x="1944733" y="3933365"/>
                <a:ext cx="241738" cy="369332"/>
              </a:xfrm>
              <a:prstGeom prst="rect">
                <a:avLst/>
              </a:prstGeom>
              <a:blipFill>
                <a:blip r:embed="rId2"/>
                <a:stretch>
                  <a:fillRect r="-375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606476" y="3886540"/>
                <a:ext cx="24173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dirty="0" smtClean="0">
                          <a:latin typeface="Cambria Math" panose="02040503050406030204" pitchFamily="18" charset="0"/>
                        </a:rPr>
                        <m:t>𝑺</m:t>
                      </m:r>
                    </m:oMath>
                  </m:oMathPara>
                </a14:m>
                <a:endParaRPr lang="en-CA" dirty="0"/>
              </a:p>
            </p:txBody>
          </p:sp>
        </mc:Choice>
        <mc:Fallback xmlns="">
          <p:sp>
            <p:nvSpPr>
              <p:cNvPr id="8" name="TextBox 7"/>
              <p:cNvSpPr txBox="1">
                <a:spLocks noRot="1" noChangeAspect="1" noMove="1" noResize="1" noEditPoints="1" noAdjustHandles="1" noChangeArrowheads="1" noChangeShapeType="1" noTextEdit="1"/>
              </p:cNvSpPr>
              <p:nvPr/>
            </p:nvSpPr>
            <p:spPr>
              <a:xfrm>
                <a:off x="4606476" y="3886540"/>
                <a:ext cx="241738" cy="369332"/>
              </a:xfrm>
              <a:prstGeom prst="rect">
                <a:avLst/>
              </a:prstGeom>
              <a:blipFill>
                <a:blip r:embed="rId3"/>
                <a:stretch>
                  <a:fillRect r="-2820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7236845" y="3901833"/>
                <a:ext cx="7984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𝑹</m:t>
                      </m:r>
                      <m:r>
                        <a:rPr lang="en-US" b="1" i="1" smtClean="0">
                          <a:latin typeface="Cambria Math" panose="02040503050406030204" pitchFamily="18" charset="0"/>
                        </a:rPr>
                        <m:t> </m:t>
                      </m:r>
                      <m:r>
                        <a:rPr lang="en-US" b="1" i="1" smtClean="0">
                          <a:latin typeface="Cambria Math" panose="02040503050406030204" pitchFamily="18" charset="0"/>
                        </a:rPr>
                        <m:t>𝒓𝒊𝒈𝒉𝒕</m:t>
                      </m:r>
                      <m:r>
                        <a:rPr lang="en-US" b="1" i="1" smtClean="0">
                          <a:latin typeface="Cambria Math" panose="02040503050406030204" pitchFamily="18" charset="0"/>
                        </a:rPr>
                        <m:t> </m:t>
                      </m:r>
                      <m:r>
                        <a:rPr lang="en-US" b="1" i="1" smtClean="0">
                          <a:latin typeface="Cambria Math" panose="02040503050406030204" pitchFamily="18" charset="0"/>
                        </a:rPr>
                        <m:t>𝒋𝒐𝒊𝒏</m:t>
                      </m:r>
                      <m:r>
                        <a:rPr lang="en-US" b="1" i="1" smtClean="0">
                          <a:latin typeface="Cambria Math" panose="02040503050406030204" pitchFamily="18" charset="0"/>
                        </a:rPr>
                        <m:t> </m:t>
                      </m:r>
                      <m:r>
                        <a:rPr lang="en-US" b="1" i="1" smtClean="0">
                          <a:latin typeface="Cambria Math" panose="02040503050406030204" pitchFamily="18" charset="0"/>
                        </a:rPr>
                        <m:t>𝑺</m:t>
                      </m:r>
                    </m:oMath>
                  </m:oMathPara>
                </a14:m>
                <a:endParaRPr lang="en-CA" b="1" dirty="0"/>
              </a:p>
            </p:txBody>
          </p:sp>
        </mc:Choice>
        <mc:Fallback xmlns="">
          <p:sp>
            <p:nvSpPr>
              <p:cNvPr id="9" name="TextBox 8"/>
              <p:cNvSpPr txBox="1">
                <a:spLocks noRot="1" noChangeAspect="1" noMove="1" noResize="1" noEditPoints="1" noAdjustHandles="1" noChangeArrowheads="1" noChangeShapeType="1" noTextEdit="1"/>
              </p:cNvSpPr>
              <p:nvPr/>
            </p:nvSpPr>
            <p:spPr>
              <a:xfrm>
                <a:off x="7236845" y="3901833"/>
                <a:ext cx="798469" cy="369332"/>
              </a:xfrm>
              <a:prstGeom prst="rect">
                <a:avLst/>
              </a:prstGeom>
              <a:blipFill>
                <a:blip r:embed="rId4"/>
                <a:stretch>
                  <a:fillRect r="-109924" b="-16393"/>
                </a:stretch>
              </a:blipFill>
            </p:spPr>
            <p:txBody>
              <a:bodyPr/>
              <a:lstStyle/>
              <a:p>
                <a:r>
                  <a:rPr lang="en-CA">
                    <a:noFill/>
                  </a:rPr>
                  <a:t> </a:t>
                </a:r>
              </a:p>
            </p:txBody>
          </p:sp>
        </mc:Fallback>
      </mc:AlternateContent>
    </p:spTree>
    <p:extLst>
      <p:ext uri="{BB962C8B-B14F-4D97-AF65-F5344CB8AC3E}">
        <p14:creationId xmlns:p14="http://schemas.microsoft.com/office/powerpoint/2010/main" val="3989253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0583" y="517238"/>
            <a:ext cx="8599053" cy="2419926"/>
          </a:xfrm>
        </p:spPr>
        <p:txBody>
          <a:bodyPr>
            <a:noAutofit/>
          </a:bodyPr>
          <a:lstStyle/>
          <a:p>
            <a:pPr lvl="0" eaLnBrk="0" fontAlgn="base" hangingPunct="0">
              <a:lnSpc>
                <a:spcPct val="100000"/>
              </a:lnSpc>
              <a:spcAft>
                <a:spcPct val="0"/>
              </a:spcAft>
            </a:pPr>
            <a:br>
              <a:rPr lang="en-US" altLang="en-US" sz="2400" dirty="0">
                <a:latin typeface="Arial Unicode MS"/>
              </a:rPr>
            </a:br>
            <a:br>
              <a:rPr lang="en-US" altLang="en-US" sz="2400" dirty="0">
                <a:latin typeface="Arial Unicode MS"/>
              </a:rPr>
            </a:br>
            <a:br>
              <a:rPr lang="en-US" altLang="en-US" sz="2400" dirty="0">
                <a:latin typeface="Arial Unicode MS"/>
              </a:rPr>
            </a:br>
            <a:br>
              <a:rPr lang="en-US" altLang="en-US" sz="2400" dirty="0">
                <a:latin typeface="Arial Unicode MS"/>
              </a:rPr>
            </a:br>
            <a:br>
              <a:rPr lang="en-US" altLang="en-US" sz="2400" dirty="0">
                <a:latin typeface="Arial Unicode MS"/>
              </a:rPr>
            </a:br>
            <a:br>
              <a:rPr lang="en-US" altLang="en-US" sz="2400" dirty="0">
                <a:latin typeface="Arial Unicode MS"/>
              </a:rPr>
            </a:br>
            <a:br>
              <a:rPr lang="en-US" altLang="en-US" sz="2400" dirty="0">
                <a:latin typeface="Arial Unicode MS"/>
              </a:rPr>
            </a:br>
            <a:r>
              <a:rPr lang="en-US" altLang="en-US" sz="2400" dirty="0">
                <a:latin typeface="Arial Unicode MS"/>
              </a:rPr>
              <a:t>CREATE TABLE teams (</a:t>
            </a:r>
            <a:br>
              <a:rPr lang="en-US" altLang="en-US" sz="2400" dirty="0">
                <a:latin typeface="Arial Unicode MS"/>
              </a:rPr>
            </a:br>
            <a:r>
              <a:rPr lang="en-US" altLang="en-US" sz="2400" dirty="0" err="1">
                <a:latin typeface="Arial Unicode MS"/>
              </a:rPr>
              <a:t>teamID</a:t>
            </a:r>
            <a:r>
              <a:rPr lang="en-US" altLang="en-US" sz="2400" dirty="0">
                <a:latin typeface="Arial Unicode MS"/>
              </a:rPr>
              <a:t> INT PRIMARY KEY, </a:t>
            </a:r>
            <a:br>
              <a:rPr lang="en-US" altLang="en-US" sz="2400" dirty="0">
                <a:latin typeface="Arial Unicode MS"/>
              </a:rPr>
            </a:br>
            <a:r>
              <a:rPr lang="en-US" altLang="en-US" sz="2400" dirty="0" err="1">
                <a:latin typeface="Arial Unicode MS"/>
              </a:rPr>
              <a:t>teamName</a:t>
            </a:r>
            <a:r>
              <a:rPr lang="en-US" altLang="en-US" sz="2400" dirty="0">
                <a:latin typeface="Arial Unicode MS"/>
              </a:rPr>
              <a:t> varchar(15),</a:t>
            </a:r>
            <a:br>
              <a:rPr lang="en-US" altLang="en-US" sz="2400" dirty="0">
                <a:latin typeface="Arial Unicode MS"/>
              </a:rPr>
            </a:br>
            <a:r>
              <a:rPr lang="en-US" altLang="en-US" sz="2400" dirty="0" err="1">
                <a:latin typeface="Arial Unicode MS"/>
              </a:rPr>
              <a:t>shirtColor</a:t>
            </a:r>
            <a:r>
              <a:rPr lang="en-US" altLang="en-US" sz="2400" dirty="0">
                <a:latin typeface="Arial Unicode MS"/>
              </a:rPr>
              <a:t> varchar(10),</a:t>
            </a:r>
            <a:br>
              <a:rPr lang="en-US" altLang="en-US" sz="2400" dirty="0">
                <a:latin typeface="Arial Unicode MS"/>
              </a:rPr>
            </a:br>
            <a:r>
              <a:rPr lang="en-US" altLang="en-US" sz="2400" dirty="0" err="1">
                <a:latin typeface="Arial Unicode MS"/>
              </a:rPr>
              <a:t>homeField</a:t>
            </a:r>
            <a:r>
              <a:rPr lang="en-US" altLang="en-US" sz="2400" dirty="0">
                <a:latin typeface="Arial Unicode MS"/>
              </a:rPr>
              <a:t> varchar(15) );</a:t>
            </a:r>
            <a:r>
              <a:rPr lang="en-US" altLang="en-US" sz="2400" dirty="0"/>
              <a:t> </a:t>
            </a:r>
            <a:br>
              <a:rPr lang="en-US" altLang="en-US" sz="2400" dirty="0">
                <a:latin typeface="Arial" panose="020B0604020202020204" pitchFamily="34" charset="0"/>
              </a:rPr>
            </a:br>
            <a:endParaRPr lang="en-CA" sz="2400" dirty="0"/>
          </a:p>
        </p:txBody>
      </p:sp>
      <p:sp>
        <p:nvSpPr>
          <p:cNvPr id="3" name="Content Placeholder 2"/>
          <p:cNvSpPr>
            <a:spLocks noGrp="1"/>
          </p:cNvSpPr>
          <p:nvPr>
            <p:ph idx="1"/>
          </p:nvPr>
        </p:nvSpPr>
        <p:spPr>
          <a:xfrm>
            <a:off x="1529727" y="3186546"/>
            <a:ext cx="8595360" cy="4351337"/>
          </a:xfrm>
        </p:spPr>
        <p:txBody>
          <a:bodyPr>
            <a:normAutofit/>
          </a:bodyPr>
          <a:lstStyle/>
          <a:p>
            <a:pPr marL="0" indent="0">
              <a:buNone/>
            </a:pPr>
            <a:r>
              <a:rPr lang="en-US" altLang="en-US" sz="2400" dirty="0">
                <a:latin typeface="Arial Unicode MS"/>
              </a:rPr>
              <a:t>CREATE TABLE players ( </a:t>
            </a:r>
            <a:br>
              <a:rPr lang="en-US" altLang="en-US" sz="2400" dirty="0">
                <a:latin typeface="Arial Unicode MS"/>
              </a:rPr>
            </a:br>
            <a:r>
              <a:rPr lang="en-US" altLang="en-US" sz="2400" dirty="0" err="1">
                <a:latin typeface="Arial Unicode MS"/>
              </a:rPr>
              <a:t>playerID</a:t>
            </a:r>
            <a:r>
              <a:rPr lang="en-US" altLang="en-US" sz="2400" dirty="0">
                <a:latin typeface="Arial Unicode MS"/>
              </a:rPr>
              <a:t> INT PRIMARY KEY, </a:t>
            </a:r>
            <a:br>
              <a:rPr lang="en-US" altLang="en-US" sz="2400" dirty="0">
                <a:latin typeface="Arial Unicode MS"/>
              </a:rPr>
            </a:br>
            <a:r>
              <a:rPr lang="en-US" altLang="en-US" sz="2400" dirty="0" err="1">
                <a:latin typeface="Arial Unicode MS"/>
              </a:rPr>
              <a:t>firstName</a:t>
            </a:r>
            <a:r>
              <a:rPr lang="en-US" altLang="en-US" sz="2400" dirty="0">
                <a:latin typeface="Arial Unicode MS"/>
              </a:rPr>
              <a:t> varchar(20),</a:t>
            </a:r>
            <a:br>
              <a:rPr lang="en-US" altLang="en-US" sz="2400" dirty="0">
                <a:latin typeface="Arial Unicode MS"/>
              </a:rPr>
            </a:br>
            <a:r>
              <a:rPr lang="en-US" altLang="en-US" sz="2400" dirty="0" err="1">
                <a:latin typeface="Arial Unicode MS"/>
              </a:rPr>
              <a:t>lastName</a:t>
            </a:r>
            <a:r>
              <a:rPr lang="en-US" altLang="en-US" sz="2400" dirty="0">
                <a:latin typeface="Arial Unicode MS"/>
              </a:rPr>
              <a:t> varchar(20), </a:t>
            </a:r>
            <a:br>
              <a:rPr lang="en-US" altLang="en-US" sz="2400" dirty="0">
                <a:latin typeface="Arial Unicode MS"/>
              </a:rPr>
            </a:br>
            <a:r>
              <a:rPr lang="en-US" altLang="en-US" sz="2400" dirty="0" err="1">
                <a:latin typeface="Arial Unicode MS"/>
              </a:rPr>
              <a:t>teamID</a:t>
            </a:r>
            <a:r>
              <a:rPr lang="en-US" altLang="en-US" sz="2400" dirty="0">
                <a:latin typeface="Arial Unicode MS"/>
              </a:rPr>
              <a:t> INT ); </a:t>
            </a:r>
            <a:endParaRPr lang="en-CA" sz="2400" dirty="0"/>
          </a:p>
        </p:txBody>
      </p:sp>
    </p:spTree>
    <p:extLst>
      <p:ext uri="{BB962C8B-B14F-4D97-AF65-F5344CB8AC3E}">
        <p14:creationId xmlns:p14="http://schemas.microsoft.com/office/powerpoint/2010/main" val="403095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018" y="849745"/>
            <a:ext cx="9763022" cy="1719031"/>
          </a:xfrm>
        </p:spPr>
        <p:txBody>
          <a:bodyPr>
            <a:noAutofit/>
          </a:bodyPr>
          <a:lstStyle/>
          <a:p>
            <a:r>
              <a:rPr lang="en-US" sz="4000" dirty="0"/>
              <a:t>Create a query that lists the teams that do not yet have any players linked to them:</a:t>
            </a:r>
            <a:endParaRPr lang="en-CA" sz="4000" dirty="0"/>
          </a:p>
        </p:txBody>
      </p:sp>
      <p:sp>
        <p:nvSpPr>
          <p:cNvPr id="4" name="Rectangle 1"/>
          <p:cNvSpPr>
            <a:spLocks noGrp="1" noChangeArrowheads="1"/>
          </p:cNvSpPr>
          <p:nvPr>
            <p:ph idx="1"/>
          </p:nvPr>
        </p:nvSpPr>
        <p:spPr bwMode="auto">
          <a:xfrm>
            <a:off x="1579418" y="3274174"/>
            <a:ext cx="552334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rPr>
              <a:t>SELECT </a:t>
            </a:r>
            <a:r>
              <a:rPr kumimoji="0" lang="en-US" altLang="en-US" sz="2000" b="0" i="0" u="none" strike="noStrike" cap="none" normalizeH="0" baseline="0" dirty="0" err="1">
                <a:ln>
                  <a:noFill/>
                </a:ln>
                <a:solidFill>
                  <a:schemeClr val="tx1"/>
                </a:solidFill>
                <a:effectLst/>
                <a:latin typeface="Arial Unicode MS"/>
              </a:rPr>
              <a:t>teamID</a:t>
            </a:r>
            <a:r>
              <a:rPr kumimoji="0" lang="en-US" altLang="en-US" sz="2000" b="0" i="0" u="none" strike="noStrike" cap="none" normalizeH="0" baseline="0" dirty="0">
                <a:ln>
                  <a:noFill/>
                </a:ln>
                <a:solidFill>
                  <a:schemeClr val="tx1"/>
                </a:solidFill>
                <a:effectLst/>
                <a:latin typeface="Arial Unicode MS"/>
              </a:rPr>
              <a:t>, </a:t>
            </a:r>
            <a:r>
              <a:rPr kumimoji="0" lang="en-US" altLang="en-US" sz="2000" b="0" i="0" u="none" strike="noStrike" cap="none" normalizeH="0" baseline="0" dirty="0" err="1">
                <a:ln>
                  <a:noFill/>
                </a:ln>
                <a:solidFill>
                  <a:schemeClr val="tx1"/>
                </a:solidFill>
                <a:effectLst/>
                <a:latin typeface="Arial Unicode MS"/>
              </a:rPr>
              <a:t>teamName</a:t>
            </a:r>
            <a:endParaRPr kumimoji="0" lang="en-US" altLang="en-US" sz="2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rPr>
              <a:t> FROM teams LEFT JOIN players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rPr>
              <a:t>ON TEAMS.TEAMID=</a:t>
            </a:r>
            <a:r>
              <a:rPr kumimoji="0" lang="en-US" altLang="en-US" sz="2000" b="0" i="0" u="none" strike="noStrike" cap="none" normalizeH="0" baseline="0" dirty="0" err="1">
                <a:ln>
                  <a:noFill/>
                </a:ln>
                <a:solidFill>
                  <a:schemeClr val="tx1"/>
                </a:solidFill>
                <a:effectLst/>
                <a:latin typeface="Arial Unicode MS"/>
              </a:rPr>
              <a:t>players.teamid</a:t>
            </a:r>
            <a:endParaRPr kumimoji="0" lang="en-US" altLang="en-US" sz="2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rPr>
              <a:t>WHERE </a:t>
            </a:r>
            <a:r>
              <a:rPr kumimoji="0" lang="en-US" altLang="en-US" sz="2000" b="0" i="0" u="none" strike="noStrike" cap="none" normalizeH="0" baseline="0" dirty="0" err="1">
                <a:ln>
                  <a:noFill/>
                </a:ln>
                <a:solidFill>
                  <a:schemeClr val="tx1"/>
                </a:solidFill>
                <a:effectLst/>
                <a:latin typeface="Arial Unicode MS"/>
              </a:rPr>
              <a:t>playerID</a:t>
            </a:r>
            <a:r>
              <a:rPr kumimoji="0" lang="en-US" altLang="en-US" sz="2000" b="0" i="0" u="none" strike="noStrike" cap="none" normalizeH="0" baseline="0" dirty="0">
                <a:ln>
                  <a:noFill/>
                </a:ln>
                <a:solidFill>
                  <a:schemeClr val="tx1"/>
                </a:solidFill>
                <a:effectLst/>
                <a:latin typeface="Arial Unicode MS"/>
              </a:rPr>
              <a:t> IS NULL;</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90485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View</a:t>
            </a:r>
            <a:endParaRPr lang="en-CA" dirty="0">
              <a:solidFill>
                <a:srgbClr val="C00000"/>
              </a:solidFill>
            </a:endParaRPr>
          </a:p>
        </p:txBody>
      </p:sp>
      <p:sp>
        <p:nvSpPr>
          <p:cNvPr id="3" name="Content Placeholder 2"/>
          <p:cNvSpPr>
            <a:spLocks noGrp="1"/>
          </p:cNvSpPr>
          <p:nvPr>
            <p:ph idx="1"/>
          </p:nvPr>
        </p:nvSpPr>
        <p:spPr/>
        <p:txBody>
          <a:bodyPr/>
          <a:lstStyle/>
          <a:p>
            <a:pPr marL="0" indent="0">
              <a:buNone/>
            </a:pPr>
            <a:r>
              <a:rPr lang="en-US" dirty="0"/>
              <a:t>A view is like a virtual table. </a:t>
            </a:r>
          </a:p>
          <a:p>
            <a:pPr lvl="1"/>
            <a:r>
              <a:rPr lang="en-US" dirty="0"/>
              <a:t>It does not physically exist. </a:t>
            </a:r>
          </a:p>
          <a:p>
            <a:pPr lvl="1"/>
            <a:r>
              <a:rPr lang="en-US" dirty="0"/>
              <a:t>It cannot store data.</a:t>
            </a:r>
          </a:p>
          <a:p>
            <a:pPr lvl="1"/>
            <a:r>
              <a:rPr lang="en-US" dirty="0"/>
              <a:t>It can be created by a select statement selecting rows and columns from one or more tables.</a:t>
            </a:r>
          </a:p>
          <a:p>
            <a:pPr lvl="1">
              <a:spcBef>
                <a:spcPct val="30000"/>
              </a:spcBef>
            </a:pPr>
            <a:r>
              <a:rPr lang="en-US" altLang="en-US" dirty="0"/>
              <a:t>It can be used to save a Select statement for repeated execution (don’t have to re-enter the SELECT statement every time).</a:t>
            </a:r>
          </a:p>
          <a:p>
            <a:pPr marL="457200" lvl="1" indent="0">
              <a:spcBef>
                <a:spcPct val="30000"/>
              </a:spcBef>
              <a:buNone/>
            </a:pPr>
            <a:endParaRPr lang="en-US" altLang="en-US" dirty="0"/>
          </a:p>
          <a:p>
            <a:pPr>
              <a:spcBef>
                <a:spcPct val="30000"/>
              </a:spcBef>
            </a:pPr>
            <a:r>
              <a:rPr lang="en-US" altLang="en-US" dirty="0"/>
              <a:t>The user “sees” the VIEW as a table.</a:t>
            </a:r>
          </a:p>
          <a:p>
            <a:pPr lvl="1"/>
            <a:endParaRPr lang="en-US" dirty="0"/>
          </a:p>
        </p:txBody>
      </p:sp>
    </p:spTree>
    <p:extLst>
      <p:ext uri="{BB962C8B-B14F-4D97-AF65-F5344CB8AC3E}">
        <p14:creationId xmlns:p14="http://schemas.microsoft.com/office/powerpoint/2010/main" val="1851639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solidFill>
                  <a:srgbClr val="C00000"/>
                </a:solidFill>
              </a:rPr>
              <a:t>Create VIEW</a:t>
            </a:r>
          </a:p>
        </p:txBody>
      </p:sp>
      <p:sp>
        <p:nvSpPr>
          <p:cNvPr id="3" name="Content Placeholder 2"/>
          <p:cNvSpPr>
            <a:spLocks noGrp="1"/>
          </p:cNvSpPr>
          <p:nvPr>
            <p:ph idx="1"/>
          </p:nvPr>
        </p:nvSpPr>
        <p:spPr/>
        <p:txBody>
          <a:bodyPr>
            <a:normAutofit lnSpcReduction="10000"/>
          </a:bodyPr>
          <a:lstStyle/>
          <a:p>
            <a:r>
              <a:rPr lang="en-US" dirty="0"/>
              <a:t>Syntax:</a:t>
            </a:r>
            <a:br>
              <a:rPr lang="en-US" dirty="0"/>
            </a:br>
            <a:endParaRPr lang="en-US" dirty="0"/>
          </a:p>
          <a:p>
            <a:pPr marL="457200" lvl="1" indent="0">
              <a:buNone/>
            </a:pPr>
            <a:r>
              <a:rPr lang="en-US" sz="2000" b="1" dirty="0">
                <a:latin typeface="Courier New" panose="02070309020205020404" pitchFamily="49" charset="0"/>
                <a:cs typeface="Courier New" panose="02070309020205020404" pitchFamily="49" charset="0"/>
              </a:rPr>
              <a:t>CREATE</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VIEW</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view_name</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AS</a:t>
            </a:r>
            <a:r>
              <a:rPr lang="en-US" sz="2000" dirty="0">
                <a:latin typeface="Courier New" panose="02070309020205020404" pitchFamily="49" charset="0"/>
                <a:cs typeface="Courier New" panose="02070309020205020404" pitchFamily="49" charset="0"/>
              </a:rPr>
              <a:t> </a:t>
            </a:r>
          </a:p>
          <a:p>
            <a:pPr marL="457200" lvl="1" indent="0">
              <a:buNone/>
            </a:pPr>
            <a:r>
              <a:rPr lang="en-US" sz="2000" b="1" dirty="0">
                <a:latin typeface="Courier New" panose="02070309020205020404" pitchFamily="49" charset="0"/>
                <a:cs typeface="Courier New" panose="02070309020205020404" pitchFamily="49" charset="0"/>
              </a:rPr>
              <a:t>SELECT</a:t>
            </a:r>
            <a:r>
              <a:rPr lang="en-US" sz="2000" dirty="0">
                <a:latin typeface="Courier New" panose="02070309020205020404" pitchFamily="49" charset="0"/>
                <a:cs typeface="Courier New" panose="02070309020205020404" pitchFamily="49" charset="0"/>
              </a:rPr>
              <a:t> columns </a:t>
            </a:r>
          </a:p>
          <a:p>
            <a:pPr marL="457200" lvl="1" indent="0">
              <a:buNone/>
            </a:pPr>
            <a:r>
              <a:rPr lang="en-US" sz="2000" b="1" dirty="0">
                <a:latin typeface="Courier New" panose="02070309020205020404" pitchFamily="49" charset="0"/>
                <a:cs typeface="Courier New" panose="02070309020205020404" pitchFamily="49" charset="0"/>
              </a:rPr>
              <a:t>FROM</a:t>
            </a:r>
            <a:r>
              <a:rPr lang="en-US" sz="2000" dirty="0">
                <a:latin typeface="Courier New" panose="02070309020205020404" pitchFamily="49" charset="0"/>
                <a:cs typeface="Courier New" panose="02070309020205020404" pitchFamily="49" charset="0"/>
              </a:rPr>
              <a:t> tables </a:t>
            </a:r>
          </a:p>
          <a:p>
            <a:pPr marL="457200" lvl="1" indent="0">
              <a:buNone/>
            </a:pPr>
            <a:r>
              <a:rPr lang="en-US" sz="2000" dirty="0">
                <a:latin typeface="Courier New" panose="02070309020205020404" pitchFamily="49" charset="0"/>
                <a:cs typeface="Courier New" panose="02070309020205020404" pitchFamily="49" charset="0"/>
              </a:rPr>
              <a:t>[</a:t>
            </a:r>
            <a:r>
              <a:rPr lang="en-US" sz="2000" b="1" dirty="0">
                <a:latin typeface="Courier New" panose="02070309020205020404" pitchFamily="49" charset="0"/>
                <a:cs typeface="Courier New" panose="02070309020205020404" pitchFamily="49" charset="0"/>
              </a:rPr>
              <a:t>WHERE</a:t>
            </a:r>
            <a:r>
              <a:rPr lang="en-US" sz="2000" dirty="0">
                <a:latin typeface="Courier New" panose="02070309020205020404" pitchFamily="49" charset="0"/>
                <a:cs typeface="Courier New" panose="02070309020205020404" pitchFamily="49" charset="0"/>
              </a:rPr>
              <a:t> conditions];</a:t>
            </a:r>
          </a:p>
          <a:p>
            <a:pPr marL="0" indent="0">
              <a:buNone/>
            </a:pPr>
            <a:r>
              <a:rPr lang="en-US" i="1" dirty="0"/>
              <a:t>Example:</a:t>
            </a:r>
          </a:p>
          <a:p>
            <a:pPr marL="457200" lvl="1" indent="0">
              <a:buNone/>
            </a:pPr>
            <a:r>
              <a:rPr lang="en-US" sz="2000" b="1" dirty="0">
                <a:latin typeface="Courier New" panose="02070309020205020404" pitchFamily="49" charset="0"/>
                <a:cs typeface="Courier New" panose="02070309020205020404" pitchFamily="49" charset="0"/>
              </a:rPr>
              <a:t>CREATE</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VIEW</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prod_supllier</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AS</a:t>
            </a:r>
            <a:r>
              <a:rPr lang="en-US" sz="2000"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	</a:t>
            </a:r>
          </a:p>
          <a:p>
            <a:pPr marL="457200" lvl="1" indent="0">
              <a:buNone/>
            </a:pPr>
            <a:r>
              <a:rPr lang="en-US" altLang="en-US" sz="2000" dirty="0">
                <a:latin typeface="Courier New" panose="02070309020205020404" pitchFamily="49" charset="0"/>
                <a:cs typeface="Courier New" panose="02070309020205020404" pitchFamily="49" charset="0"/>
              </a:rPr>
              <a:t>(</a:t>
            </a:r>
            <a:r>
              <a:rPr lang="en-US" altLang="en-US" sz="2000" b="1" dirty="0">
                <a:latin typeface="Courier New" panose="02070309020205020404" pitchFamily="49" charset="0"/>
                <a:cs typeface="Courier New" panose="02070309020205020404" pitchFamily="49" charset="0"/>
              </a:rPr>
              <a:t>SELECT</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p.Product_ID</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p.Product_Name</a:t>
            </a:r>
            <a:r>
              <a:rPr lang="en-US" altLang="en-US" sz="2000" dirty="0">
                <a:latin typeface="Courier New" panose="02070309020205020404" pitchFamily="49" charset="0"/>
                <a:cs typeface="Courier New" panose="02070309020205020404" pitchFamily="49" charset="0"/>
              </a:rPr>
              <a:t>,  </a:t>
            </a:r>
          </a:p>
          <a:p>
            <a:pPr marL="457200" lvl="1" indent="0">
              <a:buNone/>
            </a:pP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p.SID</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s.Supplier_Name</a:t>
            </a:r>
            <a:r>
              <a:rPr lang="en-US" altLang="en-US" sz="2000" dirty="0">
                <a:latin typeface="Courier New" panose="02070309020205020404" pitchFamily="49" charset="0"/>
                <a:cs typeface="Courier New" panose="02070309020205020404" pitchFamily="49" charset="0"/>
              </a:rPr>
              <a:t> </a:t>
            </a:r>
          </a:p>
          <a:p>
            <a:pPr marL="457200" lvl="1" indent="0">
              <a:buNone/>
            </a:pPr>
            <a:r>
              <a:rPr lang="en-US" altLang="en-US" sz="2000" b="1" dirty="0">
                <a:latin typeface="Courier New" panose="02070309020205020404" pitchFamily="49" charset="0"/>
                <a:cs typeface="Courier New" panose="02070309020205020404" pitchFamily="49" charset="0"/>
              </a:rPr>
              <a:t>FROM</a:t>
            </a:r>
            <a:r>
              <a:rPr lang="en-US" altLang="en-US" sz="2000" dirty="0">
                <a:latin typeface="Courier New" panose="02070309020205020404" pitchFamily="49" charset="0"/>
                <a:cs typeface="Courier New" panose="02070309020205020404" pitchFamily="49" charset="0"/>
              </a:rPr>
              <a:t>  	PRODUCTS  p</a:t>
            </a:r>
          </a:p>
          <a:p>
            <a:pPr marL="457200" lvl="1" indent="0">
              <a:buNone/>
            </a:pPr>
            <a:r>
              <a:rPr lang="en-US" altLang="en-US" sz="2000" b="1" dirty="0">
                <a:latin typeface="Courier New" panose="02070309020205020404" pitchFamily="49" charset="0"/>
                <a:cs typeface="Courier New" panose="02070309020205020404" pitchFamily="49" charset="0"/>
              </a:rPr>
              <a:t>JOIN </a:t>
            </a:r>
            <a:r>
              <a:rPr lang="en-US" altLang="en-US" sz="2000" dirty="0">
                <a:latin typeface="Courier New" panose="02070309020205020404" pitchFamily="49" charset="0"/>
                <a:cs typeface="Courier New" panose="02070309020205020404" pitchFamily="49" charset="0"/>
              </a:rPr>
              <a:t>    SUPPLIERS  s </a:t>
            </a:r>
          </a:p>
          <a:p>
            <a:pPr marL="457200" lvl="1" indent="0">
              <a:buNone/>
            </a:pPr>
            <a:r>
              <a:rPr lang="en-US" altLang="en-US" sz="2000" b="1" dirty="0">
                <a:latin typeface="Courier New" panose="02070309020205020404" pitchFamily="49" charset="0"/>
                <a:cs typeface="Courier New" panose="02070309020205020404" pitchFamily="49" charset="0"/>
              </a:rPr>
              <a:t>ON</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p.SID</a:t>
            </a:r>
            <a:r>
              <a:rPr lang="en-US" altLang="en-US" sz="2000" dirty="0">
                <a:latin typeface="Courier New" panose="02070309020205020404" pitchFamily="49" charset="0"/>
                <a:cs typeface="Courier New" panose="02070309020205020404" pitchFamily="49" charset="0"/>
              </a:rPr>
              <a:t> = </a:t>
            </a:r>
            <a:r>
              <a:rPr lang="en-US" altLang="en-US" sz="2000" dirty="0" err="1">
                <a:latin typeface="Courier New" panose="02070309020205020404" pitchFamily="49" charset="0"/>
                <a:cs typeface="Courier New" panose="02070309020205020404" pitchFamily="49" charset="0"/>
              </a:rPr>
              <a:t>s.Supp_ID</a:t>
            </a:r>
            <a:r>
              <a:rPr lang="en-US" altLang="en-US" sz="2000" dirty="0">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64533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solidFill>
                  <a:srgbClr val="C00000"/>
                </a:solidFill>
              </a:rPr>
              <a:t>Update VIEW</a:t>
            </a:r>
            <a:endParaRPr lang="en-CA" dirty="0"/>
          </a:p>
        </p:txBody>
      </p:sp>
      <p:sp>
        <p:nvSpPr>
          <p:cNvPr id="3" name="Content Placeholder 2"/>
          <p:cNvSpPr>
            <a:spLocks noGrp="1"/>
          </p:cNvSpPr>
          <p:nvPr>
            <p:ph idx="1"/>
          </p:nvPr>
        </p:nvSpPr>
        <p:spPr/>
        <p:txBody>
          <a:bodyPr>
            <a:normAutofit fontScale="70000" lnSpcReduction="20000"/>
          </a:bodyPr>
          <a:lstStyle/>
          <a:p>
            <a:r>
              <a:rPr lang="en-US" dirty="0"/>
              <a:t>The </a:t>
            </a:r>
            <a:r>
              <a:rPr lang="en-US" b="1" dirty="0"/>
              <a:t>CREATE VIEW </a:t>
            </a:r>
            <a:r>
              <a:rPr lang="en-US" dirty="0"/>
              <a:t>statement creates a new view.</a:t>
            </a:r>
          </a:p>
          <a:p>
            <a:r>
              <a:rPr lang="en-US" dirty="0"/>
              <a:t>If the view does not exist, </a:t>
            </a:r>
            <a:r>
              <a:rPr lang="en-US" b="1" dirty="0"/>
              <a:t>CREATE OR REPLACE VIEW</a:t>
            </a:r>
            <a:r>
              <a:rPr lang="en-US" dirty="0"/>
              <a:t> creates the view. </a:t>
            </a:r>
          </a:p>
          <a:p>
            <a:r>
              <a:rPr lang="en-US" dirty="0"/>
              <a:t>If the view does exist, </a:t>
            </a:r>
            <a:r>
              <a:rPr lang="en-US" b="1" dirty="0"/>
              <a:t>CREATE OR REPLACE VIEW</a:t>
            </a:r>
            <a:r>
              <a:rPr lang="en-US" dirty="0"/>
              <a:t> replaces the old view with the new one. </a:t>
            </a:r>
          </a:p>
          <a:p>
            <a:r>
              <a:rPr lang="en-US" dirty="0"/>
              <a:t>Syntax:</a:t>
            </a:r>
            <a:br>
              <a:rPr lang="en-US" dirty="0"/>
            </a:br>
            <a:endParaRPr lang="en-US" dirty="0"/>
          </a:p>
          <a:p>
            <a:pPr marL="457200" lvl="1" indent="0">
              <a:buNone/>
            </a:pPr>
            <a:r>
              <a:rPr lang="en-US" sz="2000" b="1" dirty="0">
                <a:latin typeface="Courier New" panose="02070309020205020404" pitchFamily="49" charset="0"/>
                <a:cs typeface="Courier New" panose="02070309020205020404" pitchFamily="49" charset="0"/>
              </a:rPr>
              <a:t>CREATE OR REPLACE VIEW</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view_name</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AS</a:t>
            </a:r>
            <a:r>
              <a:rPr lang="en-US" sz="2000" dirty="0">
                <a:latin typeface="Courier New" panose="02070309020205020404" pitchFamily="49" charset="0"/>
                <a:cs typeface="Courier New" panose="02070309020205020404" pitchFamily="49" charset="0"/>
              </a:rPr>
              <a:t> </a:t>
            </a:r>
          </a:p>
          <a:p>
            <a:pPr marL="457200" lvl="1" indent="0">
              <a:buNone/>
            </a:pPr>
            <a:r>
              <a:rPr lang="en-US" sz="2000" b="1" dirty="0">
                <a:latin typeface="Courier New" panose="02070309020205020404" pitchFamily="49" charset="0"/>
                <a:cs typeface="Courier New" panose="02070309020205020404" pitchFamily="49" charset="0"/>
              </a:rPr>
              <a:t>SELECT</a:t>
            </a:r>
            <a:r>
              <a:rPr lang="en-US" sz="2000" dirty="0">
                <a:latin typeface="Courier New" panose="02070309020205020404" pitchFamily="49" charset="0"/>
                <a:cs typeface="Courier New" panose="02070309020205020404" pitchFamily="49" charset="0"/>
              </a:rPr>
              <a:t> columns </a:t>
            </a:r>
          </a:p>
          <a:p>
            <a:pPr marL="457200" lvl="1" indent="0">
              <a:buNone/>
            </a:pPr>
            <a:r>
              <a:rPr lang="en-US" sz="2000" b="1" dirty="0">
                <a:latin typeface="Courier New" panose="02070309020205020404" pitchFamily="49" charset="0"/>
                <a:cs typeface="Courier New" panose="02070309020205020404" pitchFamily="49" charset="0"/>
              </a:rPr>
              <a:t>FROM</a:t>
            </a:r>
            <a:r>
              <a:rPr lang="en-US" sz="2000" dirty="0">
                <a:latin typeface="Courier New" panose="02070309020205020404" pitchFamily="49" charset="0"/>
                <a:cs typeface="Courier New" panose="02070309020205020404" pitchFamily="49" charset="0"/>
              </a:rPr>
              <a:t> table </a:t>
            </a:r>
          </a:p>
          <a:p>
            <a:pPr marL="457200" lvl="1" indent="0">
              <a:buNone/>
            </a:pPr>
            <a:r>
              <a:rPr lang="en-US" sz="2000" dirty="0">
                <a:latin typeface="Courier New" panose="02070309020205020404" pitchFamily="49" charset="0"/>
                <a:cs typeface="Courier New" panose="02070309020205020404" pitchFamily="49" charset="0"/>
              </a:rPr>
              <a:t>[</a:t>
            </a:r>
            <a:r>
              <a:rPr lang="en-US" sz="2000" b="1" dirty="0">
                <a:latin typeface="Courier New" panose="02070309020205020404" pitchFamily="49" charset="0"/>
                <a:cs typeface="Courier New" panose="02070309020205020404" pitchFamily="49" charset="0"/>
              </a:rPr>
              <a:t>WHERE</a:t>
            </a:r>
            <a:r>
              <a:rPr lang="en-US" sz="2000" dirty="0">
                <a:latin typeface="Courier New" panose="02070309020205020404" pitchFamily="49" charset="0"/>
                <a:cs typeface="Courier New" panose="02070309020205020404" pitchFamily="49" charset="0"/>
              </a:rPr>
              <a:t> conditions];</a:t>
            </a:r>
          </a:p>
          <a:p>
            <a:pPr marL="0" indent="0">
              <a:buNone/>
            </a:pPr>
            <a:r>
              <a:rPr lang="en-US" dirty="0"/>
              <a:t>Example:</a:t>
            </a:r>
          </a:p>
          <a:p>
            <a:pPr marL="457200" lvl="1" indent="0">
              <a:buNone/>
            </a:pPr>
            <a:r>
              <a:rPr lang="en-US" sz="2000" b="1" dirty="0">
                <a:latin typeface="Courier New" panose="02070309020205020404" pitchFamily="49" charset="0"/>
                <a:cs typeface="Courier New" panose="02070309020205020404" pitchFamily="49" charset="0"/>
              </a:rPr>
              <a:t>CREATE OR REPLACE</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VIEW</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prod_supllier</a:t>
            </a: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AS</a:t>
            </a:r>
            <a:r>
              <a:rPr lang="en-US" sz="2000"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	</a:t>
            </a:r>
          </a:p>
          <a:p>
            <a:pPr marL="457200" lvl="1" indent="0">
              <a:buNone/>
            </a:pPr>
            <a:r>
              <a:rPr lang="en-US" altLang="en-US" sz="2000" dirty="0">
                <a:latin typeface="Courier New" panose="02070309020205020404" pitchFamily="49" charset="0"/>
                <a:cs typeface="Courier New" panose="02070309020205020404" pitchFamily="49" charset="0"/>
              </a:rPr>
              <a:t>(</a:t>
            </a:r>
            <a:r>
              <a:rPr lang="en-US" altLang="en-US" sz="2000" b="1" dirty="0">
                <a:latin typeface="Courier New" panose="02070309020205020404" pitchFamily="49" charset="0"/>
                <a:cs typeface="Courier New" panose="02070309020205020404" pitchFamily="49" charset="0"/>
              </a:rPr>
              <a:t>SELECT</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p.Product_ID</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p.Product_Name</a:t>
            </a:r>
            <a:r>
              <a:rPr lang="en-US" altLang="en-US" sz="2000" dirty="0">
                <a:latin typeface="Courier New" panose="02070309020205020404" pitchFamily="49" charset="0"/>
                <a:cs typeface="Courier New" panose="02070309020205020404" pitchFamily="49" charset="0"/>
              </a:rPr>
              <a:t>,  </a:t>
            </a:r>
          </a:p>
          <a:p>
            <a:pPr marL="457200" lvl="1" indent="0">
              <a:buNone/>
            </a:pP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p.SID</a:t>
            </a: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s.Supplier_Name</a:t>
            </a:r>
            <a:r>
              <a:rPr lang="en-US" altLang="en-US" sz="2000" dirty="0">
                <a:latin typeface="Courier New" panose="02070309020205020404" pitchFamily="49" charset="0"/>
                <a:cs typeface="Courier New" panose="02070309020205020404" pitchFamily="49" charset="0"/>
              </a:rPr>
              <a:t> </a:t>
            </a:r>
          </a:p>
          <a:p>
            <a:pPr marL="457200" lvl="1" indent="0">
              <a:buNone/>
            </a:pPr>
            <a:r>
              <a:rPr lang="en-US" altLang="en-US" sz="2000" b="1" dirty="0">
                <a:latin typeface="Courier New" panose="02070309020205020404" pitchFamily="49" charset="0"/>
                <a:cs typeface="Courier New" panose="02070309020205020404" pitchFamily="49" charset="0"/>
              </a:rPr>
              <a:t>FROM</a:t>
            </a:r>
            <a:r>
              <a:rPr lang="en-US" altLang="en-US" sz="2000" dirty="0">
                <a:latin typeface="Courier New" panose="02070309020205020404" pitchFamily="49" charset="0"/>
                <a:cs typeface="Courier New" panose="02070309020205020404" pitchFamily="49" charset="0"/>
              </a:rPr>
              <a:t>  	PRODUCTS  P  </a:t>
            </a:r>
          </a:p>
          <a:p>
            <a:pPr marL="457200" lvl="1" indent="0">
              <a:buNone/>
            </a:pPr>
            <a:r>
              <a:rPr lang="en-US" altLang="en-US" sz="2000" b="1" dirty="0">
                <a:latin typeface="Courier New" panose="02070309020205020404" pitchFamily="49" charset="0"/>
                <a:cs typeface="Courier New" panose="02070309020205020404" pitchFamily="49" charset="0"/>
              </a:rPr>
              <a:t>JOIN</a:t>
            </a:r>
            <a:r>
              <a:rPr lang="en-US" altLang="en-US" sz="2000" dirty="0">
                <a:latin typeface="Courier New" panose="02070309020205020404" pitchFamily="49" charset="0"/>
                <a:cs typeface="Courier New" panose="02070309020205020404" pitchFamily="49" charset="0"/>
              </a:rPr>
              <a:t>         SUPPLIERS  S </a:t>
            </a:r>
          </a:p>
          <a:p>
            <a:pPr marL="457200" lvl="1" indent="0">
              <a:buNone/>
            </a:pPr>
            <a:r>
              <a:rPr lang="en-US" altLang="en-US" sz="2000" b="1" dirty="0">
                <a:latin typeface="Courier New" panose="02070309020205020404" pitchFamily="49" charset="0"/>
                <a:cs typeface="Courier New" panose="02070309020205020404" pitchFamily="49" charset="0"/>
              </a:rPr>
              <a:t>ON</a:t>
            </a:r>
            <a:r>
              <a:rPr lang="en-US" altLang="en-US" sz="2000" dirty="0">
                <a:latin typeface="Courier New" panose="02070309020205020404" pitchFamily="49" charset="0"/>
                <a:cs typeface="Courier New" panose="02070309020205020404" pitchFamily="49" charset="0"/>
              </a:rPr>
              <a:t>   	P.SID = </a:t>
            </a:r>
            <a:r>
              <a:rPr lang="en-US" altLang="en-US" sz="2000" dirty="0" err="1">
                <a:latin typeface="Courier New" panose="02070309020205020404" pitchFamily="49" charset="0"/>
                <a:cs typeface="Courier New" panose="02070309020205020404" pitchFamily="49" charset="0"/>
              </a:rPr>
              <a:t>s.Supp_ID</a:t>
            </a:r>
            <a:r>
              <a:rPr lang="en-US" altLang="en-US" sz="2000" dirty="0">
                <a:latin typeface="Courier New" panose="02070309020205020404" pitchFamily="49" charset="0"/>
                <a:cs typeface="Courier New" panose="02070309020205020404" pitchFamily="49" charset="0"/>
              </a:rPr>
              <a:t> </a:t>
            </a:r>
          </a:p>
          <a:p>
            <a:pPr marL="457200" lvl="1" indent="0">
              <a:buNone/>
            </a:pPr>
            <a:r>
              <a:rPr lang="en-US" altLang="en-US" sz="2000" b="1" dirty="0">
                <a:latin typeface="Courier New" panose="02070309020205020404" pitchFamily="49" charset="0"/>
                <a:cs typeface="Courier New" panose="02070309020205020404" pitchFamily="49" charset="0"/>
              </a:rPr>
              <a:t>WHERE</a:t>
            </a:r>
            <a:r>
              <a:rPr lang="en-US" altLang="en-US" sz="2000" dirty="0">
                <a:latin typeface="Courier New" panose="02070309020205020404" pitchFamily="49" charset="0"/>
                <a:cs typeface="Courier New" panose="02070309020205020404" pitchFamily="49" charset="0"/>
              </a:rPr>
              <a:t>        </a:t>
            </a:r>
            <a:r>
              <a:rPr lang="en-US" altLang="en-US" sz="2000" dirty="0" err="1">
                <a:solidFill>
                  <a:srgbClr val="C00000"/>
                </a:solidFill>
                <a:latin typeface="Courier New" panose="02070309020205020404" pitchFamily="49" charset="0"/>
                <a:cs typeface="Courier New" panose="02070309020205020404" pitchFamily="49" charset="0"/>
              </a:rPr>
              <a:t>S.Supplier_Name</a:t>
            </a:r>
            <a:r>
              <a:rPr lang="en-US" altLang="en-US" sz="2000" dirty="0">
                <a:solidFill>
                  <a:srgbClr val="C00000"/>
                </a:solidFill>
                <a:latin typeface="Courier New" panose="02070309020205020404" pitchFamily="49" charset="0"/>
                <a:cs typeface="Courier New" panose="02070309020205020404" pitchFamily="49" charset="0"/>
              </a:rPr>
              <a:t> like ‘S%’</a:t>
            </a:r>
            <a:r>
              <a:rPr lang="en-US" altLang="en-US" sz="2000" dirty="0">
                <a:latin typeface="Courier New" panose="02070309020205020404" pitchFamily="49" charset="0"/>
                <a:cs typeface="Courier New" panose="02070309020205020404" pitchFamily="49" charset="0"/>
              </a:rPr>
              <a:t>)</a:t>
            </a:r>
            <a:endParaRPr lang="en-CA"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61101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Drop View</a:t>
            </a:r>
            <a:endParaRPr lang="en-CA" dirty="0">
              <a:solidFill>
                <a:srgbClr val="C00000"/>
              </a:solidFill>
            </a:endParaRPr>
          </a:p>
        </p:txBody>
      </p:sp>
      <p:sp>
        <p:nvSpPr>
          <p:cNvPr id="3" name="Content Placeholder 2"/>
          <p:cNvSpPr>
            <a:spLocks noGrp="1"/>
          </p:cNvSpPr>
          <p:nvPr>
            <p:ph idx="1"/>
          </p:nvPr>
        </p:nvSpPr>
        <p:spPr/>
        <p:txBody>
          <a:bodyPr/>
          <a:lstStyle/>
          <a:p>
            <a:r>
              <a:rPr lang="en-US" dirty="0"/>
              <a:t>Syntax</a:t>
            </a:r>
          </a:p>
          <a:p>
            <a:pPr marL="0" indent="0">
              <a:buNone/>
            </a:pPr>
            <a:r>
              <a:rPr lang="en-CA" dirty="0"/>
              <a:t>	</a:t>
            </a:r>
            <a:r>
              <a:rPr lang="en-CA" b="1" dirty="0">
                <a:latin typeface="Courier New" panose="02070309020205020404" pitchFamily="49" charset="0"/>
                <a:cs typeface="Courier New" panose="02070309020205020404" pitchFamily="49" charset="0"/>
              </a:rPr>
              <a:t>DROP VIEW</a:t>
            </a:r>
            <a:r>
              <a:rPr lang="en-CA" dirty="0">
                <a:latin typeface="Courier New" panose="02070309020205020404" pitchFamily="49" charset="0"/>
                <a:cs typeface="Courier New" panose="02070309020205020404" pitchFamily="49" charset="0"/>
              </a:rPr>
              <a:t> </a:t>
            </a:r>
            <a:r>
              <a:rPr lang="en-CA" dirty="0" err="1">
                <a:latin typeface="Courier New" panose="02070309020205020404" pitchFamily="49" charset="0"/>
                <a:cs typeface="Courier New" panose="02070309020205020404" pitchFamily="49" charset="0"/>
              </a:rPr>
              <a:t>view_name</a:t>
            </a:r>
            <a:r>
              <a:rPr lang="en-CA"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t>Example:</a:t>
            </a:r>
          </a:p>
          <a:p>
            <a:pPr marL="0" indent="0">
              <a:buNone/>
            </a:pPr>
            <a:endParaRPr lang="en-US" dirty="0"/>
          </a:p>
          <a:p>
            <a:pPr marL="0" indent="0">
              <a:buNone/>
            </a:pPr>
            <a:r>
              <a:rPr lang="en-US" dirty="0">
                <a:latin typeface="Courier New" panose="02070309020205020404" pitchFamily="49" charset="0"/>
                <a:cs typeface="Courier New" panose="02070309020205020404" pitchFamily="49" charset="0"/>
              </a:rPr>
              <a:t>	</a:t>
            </a:r>
            <a:r>
              <a:rPr lang="en-CA" dirty="0">
                <a:latin typeface="Courier New" panose="02070309020205020404" pitchFamily="49" charset="0"/>
                <a:cs typeface="Courier New" panose="02070309020205020404" pitchFamily="49" charset="0"/>
              </a:rPr>
              <a:t> </a:t>
            </a:r>
            <a:r>
              <a:rPr lang="en-CA" b="1" dirty="0">
                <a:latin typeface="Courier New" panose="02070309020205020404" pitchFamily="49" charset="0"/>
                <a:cs typeface="Courier New" panose="02070309020205020404" pitchFamily="49" charset="0"/>
              </a:rPr>
              <a:t>DROP VIEW </a:t>
            </a:r>
            <a:r>
              <a:rPr lang="en-US" dirty="0" err="1">
                <a:latin typeface="Courier New" panose="02070309020205020404" pitchFamily="49" charset="0"/>
                <a:cs typeface="Courier New" panose="02070309020205020404" pitchFamily="49" charset="0"/>
              </a:rPr>
              <a:t>prod_supllier</a:t>
            </a:r>
            <a:r>
              <a:rPr lang="en-CA" dirty="0">
                <a:latin typeface="Courier New" panose="02070309020205020404" pitchFamily="49" charset="0"/>
                <a:cs typeface="Courier New" panose="02070309020205020404" pitchFamily="49" charset="0"/>
              </a:rPr>
              <a:t>;</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70867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Using a View</a:t>
            </a:r>
            <a:endParaRPr lang="en-CA" dirty="0">
              <a:solidFill>
                <a:srgbClr val="C00000"/>
              </a:solidFill>
            </a:endParaRPr>
          </a:p>
        </p:txBody>
      </p:sp>
      <p:sp>
        <p:nvSpPr>
          <p:cNvPr id="3" name="Content Placeholder 2"/>
          <p:cNvSpPr>
            <a:spLocks noGrp="1"/>
          </p:cNvSpPr>
          <p:nvPr>
            <p:ph idx="1"/>
          </p:nvPr>
        </p:nvSpPr>
        <p:spPr/>
        <p:txBody>
          <a:bodyPr>
            <a:normAutofit/>
          </a:bodyPr>
          <a:lstStyle/>
          <a:p>
            <a:r>
              <a:rPr lang="en-US" dirty="0"/>
              <a:t>The database user sees a view as a table. You can select from a view as if it is a table.</a:t>
            </a:r>
          </a:p>
          <a:p>
            <a:pPr marL="457200" lvl="1" indent="0">
              <a:buNone/>
            </a:pPr>
            <a:br>
              <a:rPr lang="en-US" altLang="en-US"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SELECT</a:t>
            </a:r>
            <a:r>
              <a:rPr lang="en-US" altLang="en-US" dirty="0">
                <a:latin typeface="Courier New" panose="02070309020205020404" pitchFamily="49" charset="0"/>
                <a:cs typeface="Courier New" panose="02070309020205020404" pitchFamily="49" charset="0"/>
              </a:rPr>
              <a:t> columns </a:t>
            </a:r>
          </a:p>
          <a:p>
            <a:pPr marL="457200" lvl="1" indent="0">
              <a:buNone/>
            </a:pPr>
            <a:r>
              <a:rPr lang="en-US" altLang="en-US" b="1" dirty="0">
                <a:latin typeface="Courier New" panose="02070309020205020404" pitchFamily="49" charset="0"/>
                <a:cs typeface="Courier New" panose="02070309020205020404" pitchFamily="49" charset="0"/>
              </a:rPr>
              <a:t>FROM</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view_name</a:t>
            </a:r>
            <a:endParaRPr lang="en-US" altLang="en-US" dirty="0">
              <a:latin typeface="Courier New" panose="02070309020205020404" pitchFamily="49" charset="0"/>
              <a:cs typeface="Courier New" panose="02070309020205020404" pitchFamily="49" charset="0"/>
            </a:endParaRPr>
          </a:p>
          <a:p>
            <a:pPr marL="457200" lvl="1" indent="0">
              <a:buNone/>
            </a:pPr>
            <a:r>
              <a:rPr lang="en-US" dirty="0">
                <a:latin typeface="Courier New" panose="02070309020205020404" pitchFamily="49" charset="0"/>
                <a:cs typeface="Courier New" panose="02070309020205020404" pitchFamily="49" charset="0"/>
              </a:rPr>
              <a:t>[</a:t>
            </a:r>
            <a:r>
              <a:rPr lang="en-US" b="1" dirty="0">
                <a:latin typeface="Courier New" panose="02070309020205020404" pitchFamily="49" charset="0"/>
                <a:cs typeface="Courier New" panose="02070309020205020404" pitchFamily="49" charset="0"/>
              </a:rPr>
              <a:t>WHERE</a:t>
            </a:r>
            <a:r>
              <a:rPr lang="en-US" dirty="0">
                <a:latin typeface="Courier New" panose="02070309020205020404" pitchFamily="49" charset="0"/>
                <a:cs typeface="Courier New" panose="02070309020205020404" pitchFamily="49" charset="0"/>
              </a:rPr>
              <a:t> conditions]</a:t>
            </a:r>
            <a:br>
              <a:rPr lang="en-US" dirty="0">
                <a:latin typeface="Courier New" panose="02070309020205020404" pitchFamily="49" charset="0"/>
                <a:cs typeface="Courier New" panose="02070309020205020404" pitchFamily="49" charset="0"/>
              </a:rPr>
            </a:br>
            <a:endParaRPr lang="en-US" dirty="0">
              <a:latin typeface="Courier New" panose="02070309020205020404" pitchFamily="49" charset="0"/>
              <a:cs typeface="Courier New" panose="02070309020205020404" pitchFamily="49" charset="0"/>
            </a:endParaRPr>
          </a:p>
          <a:p>
            <a:r>
              <a:rPr lang="en-US" dirty="0"/>
              <a:t>Example:</a:t>
            </a:r>
            <a:br>
              <a:rPr lang="en-US" dirty="0"/>
            </a:br>
            <a:endParaRPr lang="en-US" dirty="0"/>
          </a:p>
          <a:p>
            <a:pPr marL="457200" lvl="1" indent="0">
              <a:buNone/>
            </a:pPr>
            <a:r>
              <a:rPr lang="en-US" altLang="en-US" b="1" dirty="0">
                <a:latin typeface="Courier New" panose="02070309020205020404" pitchFamily="49" charset="0"/>
                <a:cs typeface="Courier New" panose="02070309020205020404" pitchFamily="49" charset="0"/>
              </a:rPr>
              <a:t>SELECT</a:t>
            </a:r>
            <a:r>
              <a:rPr lang="en-US" altLang="en-US" dirty="0">
                <a:latin typeface="Courier New" panose="02070309020205020404" pitchFamily="49" charset="0"/>
                <a:cs typeface="Courier New" panose="02070309020205020404" pitchFamily="49" charset="0"/>
              </a:rPr>
              <a:t> * </a:t>
            </a:r>
          </a:p>
          <a:p>
            <a:pPr marL="457200" lvl="1" indent="0">
              <a:buNone/>
            </a:pPr>
            <a:r>
              <a:rPr lang="en-US" altLang="en-US" b="1" dirty="0">
                <a:latin typeface="Courier New" panose="02070309020205020404" pitchFamily="49" charset="0"/>
                <a:cs typeface="Courier New" panose="02070309020205020404" pitchFamily="49" charset="0"/>
              </a:rPr>
              <a:t>FROM</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prod_supplier</a:t>
            </a:r>
            <a:r>
              <a:rPr lang="en-US" altLang="en-US" dirty="0">
                <a:latin typeface="Courier New" panose="02070309020205020404" pitchFamily="49" charset="0"/>
                <a:cs typeface="Courier New" panose="02070309020205020404" pitchFamily="49" charset="0"/>
              </a:rPr>
              <a:t>;</a:t>
            </a:r>
          </a:p>
          <a:p>
            <a:endParaRPr lang="en-US" dirty="0"/>
          </a:p>
        </p:txBody>
      </p:sp>
    </p:spTree>
    <p:extLst>
      <p:ext uri="{BB962C8B-B14F-4D97-AF65-F5344CB8AC3E}">
        <p14:creationId xmlns:p14="http://schemas.microsoft.com/office/powerpoint/2010/main" val="4217871507"/>
      </p:ext>
    </p:extLst>
  </p:cSld>
  <p:clrMapOvr>
    <a:masterClrMapping/>
  </p:clrMapOvr>
</p:sld>
</file>

<file path=ppt/theme/theme1.xml><?xml version="1.0" encoding="utf-8"?>
<a:theme xmlns:a="http://schemas.openxmlformats.org/drawingml/2006/main" name="View">
  <a:themeElements>
    <a:clrScheme name="Custom 3">
      <a:dk1>
        <a:srgbClr val="000000"/>
      </a:dk1>
      <a:lt1>
        <a:srgbClr val="FFFFFF"/>
      </a:lt1>
      <a:dk2>
        <a:srgbClr val="46464A"/>
      </a:dk2>
      <a:lt2>
        <a:srgbClr val="D6D3CC"/>
      </a:lt2>
      <a:accent1>
        <a:srgbClr val="FF0000"/>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View</Template>
  <TotalTime>2764</TotalTime>
  <Words>1436</Words>
  <Application>Microsoft Office PowerPoint</Application>
  <PresentationFormat>Widescreen</PresentationFormat>
  <Paragraphs>329</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Arial Unicode MS</vt:lpstr>
      <vt:lpstr>Calibri</vt:lpstr>
      <vt:lpstr>Cambria Math</vt:lpstr>
      <vt:lpstr>Century Schoolbook</vt:lpstr>
      <vt:lpstr>Courier New</vt:lpstr>
      <vt:lpstr>Times New Roman</vt:lpstr>
      <vt:lpstr>Wingdings 2</vt:lpstr>
      <vt:lpstr>View</vt:lpstr>
      <vt:lpstr>Advanced SQL</vt:lpstr>
      <vt:lpstr>Agenda</vt:lpstr>
      <vt:lpstr>Join</vt:lpstr>
      <vt:lpstr>Alias</vt:lpstr>
      <vt:lpstr>Joining Two Tables</vt:lpstr>
      <vt:lpstr>Joining Two Tables</vt:lpstr>
      <vt:lpstr>Joining Two Tables (Example)</vt:lpstr>
      <vt:lpstr>Joining Two Tables (Example)</vt:lpstr>
      <vt:lpstr>Joins</vt:lpstr>
      <vt:lpstr>The basic syntax of ANSI-92 Joins is:</vt:lpstr>
      <vt:lpstr>Cross Join</vt:lpstr>
      <vt:lpstr>Inner Join</vt:lpstr>
      <vt:lpstr>Left Join</vt:lpstr>
      <vt:lpstr>Right Join</vt:lpstr>
      <vt:lpstr>       CREATE TABLE teams ( teamID INT PRIMARY KEY,  teamName varchar(15), shirtColor varchar(10), homeField varchar(15) );  </vt:lpstr>
      <vt:lpstr>Create a query that lists the teams that do not yet have any players linked to them:</vt:lpstr>
      <vt:lpstr>View</vt:lpstr>
      <vt:lpstr>Create VIEW</vt:lpstr>
      <vt:lpstr>Update VIEW</vt:lpstr>
      <vt:lpstr>Drop View</vt:lpstr>
      <vt:lpstr>Using a 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SQL</dc:title>
  <dc:creator>Nasim</dc:creator>
  <cp:lastModifiedBy>Lydia Li</cp:lastModifiedBy>
  <cp:revision>69</cp:revision>
  <dcterms:created xsi:type="dcterms:W3CDTF">2019-07-09T03:54:30Z</dcterms:created>
  <dcterms:modified xsi:type="dcterms:W3CDTF">2024-02-05T16:13:32Z</dcterms:modified>
</cp:coreProperties>
</file>