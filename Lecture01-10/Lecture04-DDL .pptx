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90" r:id="rId2"/>
    <p:sldId id="257" r:id="rId3"/>
    <p:sldId id="28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9" r:id="rId13"/>
    <p:sldId id="270" r:id="rId14"/>
    <p:sldId id="276" r:id="rId15"/>
    <p:sldId id="271" r:id="rId16"/>
    <p:sldId id="272" r:id="rId17"/>
    <p:sldId id="273" r:id="rId18"/>
    <p:sldId id="274" r:id="rId19"/>
    <p:sldId id="275" r:id="rId20"/>
    <p:sldId id="297" r:id="rId21"/>
    <p:sldId id="301" r:id="rId22"/>
    <p:sldId id="299" r:id="rId23"/>
    <p:sldId id="279" r:id="rId24"/>
    <p:sldId id="280" r:id="rId25"/>
    <p:sldId id="281" r:id="rId26"/>
    <p:sldId id="282" r:id="rId27"/>
    <p:sldId id="287" r:id="rId28"/>
    <p:sldId id="283" r:id="rId29"/>
    <p:sldId id="284" r:id="rId30"/>
    <p:sldId id="286" r:id="rId31"/>
    <p:sldId id="302" r:id="rId32"/>
    <p:sldId id="285" r:id="rId33"/>
    <p:sldId id="289" r:id="rId34"/>
    <p:sldId id="291" r:id="rId35"/>
    <p:sldId id="292" r:id="rId36"/>
    <p:sldId id="293" r:id="rId37"/>
    <p:sldId id="294" r:id="rId38"/>
    <p:sldId id="295" r:id="rId39"/>
    <p:sldId id="296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ydia Li" userId="ea0578a6-1f9b-4b91-a2cb-da76beaf9494" providerId="ADAL" clId="{0BF7A762-AEA3-41CB-BF88-C2F4AA823322}"/>
    <pc:docChg chg="modSld">
      <pc:chgData name="Lydia Li" userId="ea0578a6-1f9b-4b91-a2cb-da76beaf9494" providerId="ADAL" clId="{0BF7A762-AEA3-41CB-BF88-C2F4AA823322}" dt="2023-09-19T21:09:21.434" v="0" actId="1076"/>
      <pc:docMkLst>
        <pc:docMk/>
      </pc:docMkLst>
      <pc:sldChg chg="modSp mod">
        <pc:chgData name="Lydia Li" userId="ea0578a6-1f9b-4b91-a2cb-da76beaf9494" providerId="ADAL" clId="{0BF7A762-AEA3-41CB-BF88-C2F4AA823322}" dt="2023-09-19T21:09:21.434" v="0" actId="1076"/>
        <pc:sldMkLst>
          <pc:docMk/>
          <pc:sldMk cId="1659309533" sldId="299"/>
        </pc:sldMkLst>
        <pc:spChg chg="mod">
          <ac:chgData name="Lydia Li" userId="ea0578a6-1f9b-4b91-a2cb-da76beaf9494" providerId="ADAL" clId="{0BF7A762-AEA3-41CB-BF88-C2F4AA823322}" dt="2023-09-19T21:09:21.434" v="0" actId="1076"/>
          <ac:spMkLst>
            <pc:docMk/>
            <pc:sldMk cId="1659309533" sldId="299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6C570D03-5752-4FFB-8B3B-BE826E4E4334}" type="datetimeFigureOut">
              <a:rPr lang="en-CA" smtClean="0"/>
              <a:t>2023-09-19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63A77740-9590-49D7-9B69-D789565318BD}" type="slidenum">
              <a:rPr lang="en-CA" smtClean="0"/>
              <a:t>‹#›</a:t>
            </a:fld>
            <a:endParaRPr lang="en-CA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666632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70D03-5752-4FFB-8B3B-BE826E4E4334}" type="datetimeFigureOut">
              <a:rPr lang="en-CA" smtClean="0"/>
              <a:t>2023-09-19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77740-9590-49D7-9B69-D789565318B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5237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70D03-5752-4FFB-8B3B-BE826E4E4334}" type="datetimeFigureOut">
              <a:rPr lang="en-CA" smtClean="0"/>
              <a:t>2023-09-19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77740-9590-49D7-9B69-D789565318BD}" type="slidenum">
              <a:rPr lang="en-CA" smtClean="0"/>
              <a:t>‹#›</a:t>
            </a:fld>
            <a:endParaRPr lang="en-CA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89674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70D03-5752-4FFB-8B3B-BE826E4E4334}" type="datetimeFigureOut">
              <a:rPr lang="en-CA" smtClean="0"/>
              <a:t>2023-09-19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77740-9590-49D7-9B69-D789565318B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2568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70D03-5752-4FFB-8B3B-BE826E4E4334}" type="datetimeFigureOut">
              <a:rPr lang="en-CA" smtClean="0"/>
              <a:t>2023-09-19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77740-9590-49D7-9B69-D789565318B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3448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70D03-5752-4FFB-8B3B-BE826E4E4334}" type="datetimeFigureOut">
              <a:rPr lang="en-CA" smtClean="0"/>
              <a:t>2023-09-19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77740-9590-49D7-9B69-D789565318B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08500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70D03-5752-4FFB-8B3B-BE826E4E4334}" type="datetimeFigureOut">
              <a:rPr lang="en-CA" smtClean="0"/>
              <a:t>2023-09-19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77740-9590-49D7-9B69-D789565318B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3860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70D03-5752-4FFB-8B3B-BE826E4E4334}" type="datetimeFigureOut">
              <a:rPr lang="en-CA" smtClean="0"/>
              <a:t>2023-09-19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77740-9590-49D7-9B69-D789565318B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57437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70D03-5752-4FFB-8B3B-BE826E4E4334}" type="datetimeFigureOut">
              <a:rPr lang="en-CA" smtClean="0"/>
              <a:t>2023-09-19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77740-9590-49D7-9B69-D789565318B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33349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70D03-5752-4FFB-8B3B-BE826E4E4334}" type="datetimeFigureOut">
              <a:rPr lang="en-CA" smtClean="0"/>
              <a:t>2023-09-19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77740-9590-49D7-9B69-D789565318B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65128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70D03-5752-4FFB-8B3B-BE826E4E4334}" type="datetimeFigureOut">
              <a:rPr lang="en-CA" smtClean="0"/>
              <a:t>2023-09-19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77740-9590-49D7-9B69-D789565318B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3681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6C570D03-5752-4FFB-8B3B-BE826E4E4334}" type="datetimeFigureOut">
              <a:rPr lang="en-CA" smtClean="0"/>
              <a:t>2023-09-19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63A77740-9590-49D7-9B69-D789565318B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14800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SQL </a:t>
            </a:r>
            <a:br>
              <a:rPr lang="en-US" dirty="0"/>
            </a:br>
            <a:r>
              <a:rPr lang="en-US" sz="6000" dirty="0"/>
              <a:t>Data Definition Language</a:t>
            </a:r>
            <a:br>
              <a:rPr lang="en-US" sz="6000" dirty="0"/>
            </a:br>
            <a:r>
              <a:rPr lang="en-US" sz="6000" dirty="0"/>
              <a:t>DDL</a:t>
            </a:r>
            <a:endParaRPr lang="en-CA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CA" dirty="0"/>
              <a:t>Lecture 04</a:t>
            </a:r>
          </a:p>
        </p:txBody>
      </p:sp>
    </p:spTree>
    <p:extLst>
      <p:ext uri="{BB962C8B-B14F-4D97-AF65-F5344CB8AC3E}">
        <p14:creationId xmlns:p14="http://schemas.microsoft.com/office/powerpoint/2010/main" val="881388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Agenda</a:t>
            </a:r>
            <a:endParaRPr lang="en-CA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r>
              <a:rPr lang="en-US" altLang="en-US" dirty="0"/>
              <a:t>How to create a table</a:t>
            </a:r>
          </a:p>
          <a:p>
            <a:pPr>
              <a:spcBef>
                <a:spcPct val="0"/>
              </a:spcBef>
            </a:pPr>
            <a:r>
              <a:rPr lang="en-US" altLang="en-US" dirty="0"/>
              <a:t>How to modify a table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44030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DDL</a:t>
            </a:r>
            <a:endParaRPr lang="en-CA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r>
              <a:rPr lang="en-US" altLang="en-US" dirty="0"/>
              <a:t>Data Definition Language</a:t>
            </a:r>
          </a:p>
          <a:p>
            <a:pPr lvl="1">
              <a:spcBef>
                <a:spcPct val="0"/>
              </a:spcBef>
            </a:pPr>
            <a:r>
              <a:rPr lang="en-US" altLang="en-US" dirty="0"/>
              <a:t>Is used to define or update database Objects </a:t>
            </a:r>
            <a:r>
              <a:rPr lang="en-US" altLang="en-US"/>
              <a:t>(such as </a:t>
            </a:r>
            <a:r>
              <a:rPr lang="en-US" altLang="en-US" dirty="0"/>
              <a:t>tables):</a:t>
            </a:r>
          </a:p>
          <a:p>
            <a:pPr lvl="2">
              <a:spcBef>
                <a:spcPct val="0"/>
              </a:spcBef>
            </a:pPr>
            <a:r>
              <a:rPr lang="en-US" altLang="en-US" dirty="0"/>
              <a:t>Create</a:t>
            </a:r>
          </a:p>
          <a:p>
            <a:pPr lvl="2">
              <a:spcBef>
                <a:spcPct val="0"/>
              </a:spcBef>
            </a:pPr>
            <a:r>
              <a:rPr lang="en-US" altLang="en-US" dirty="0"/>
              <a:t>Alter</a:t>
            </a:r>
          </a:p>
          <a:p>
            <a:pPr lvl="2">
              <a:spcBef>
                <a:spcPct val="0"/>
              </a:spcBef>
            </a:pPr>
            <a:r>
              <a:rPr lang="en-US" altLang="en-US" dirty="0"/>
              <a:t>Drop 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65685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Create a Table</a:t>
            </a:r>
            <a:endParaRPr lang="en-CA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r>
              <a:rPr lang="en-US" altLang="en-US" dirty="0"/>
              <a:t>First write a Database Structure chart.</a:t>
            </a:r>
          </a:p>
          <a:p>
            <a:pPr>
              <a:spcBef>
                <a:spcPct val="0"/>
              </a:spcBef>
            </a:pPr>
            <a:r>
              <a:rPr lang="en-US" altLang="en-US" dirty="0"/>
              <a:t>We can also call this a Data Dictionary of your table.</a:t>
            </a:r>
          </a:p>
          <a:p>
            <a:endParaRPr lang="en-CA" dirty="0"/>
          </a:p>
        </p:txBody>
      </p:sp>
      <p:graphicFrame>
        <p:nvGraphicFramePr>
          <p:cNvPr id="4" name="Group 8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0104412"/>
              </p:ext>
            </p:extLst>
          </p:nvPr>
        </p:nvGraphicFramePr>
        <p:xfrm>
          <a:off x="1802524" y="3560379"/>
          <a:ext cx="7924800" cy="1394100"/>
        </p:xfrm>
        <a:graphic>
          <a:graphicData uri="http://schemas.openxmlformats.org/drawingml/2006/table">
            <a:tbl>
              <a:tblPr/>
              <a:tblGrid>
                <a:gridCol w="146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2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82012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Column</a:t>
                      </a:r>
                    </a:p>
                  </a:txBody>
                  <a:tcPr marL="90488" marR="90488" marT="44390" marB="443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Type</a:t>
                      </a:r>
                    </a:p>
                  </a:txBody>
                  <a:tcPr marL="90488" marR="90488" marT="44390" marB="443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Length</a:t>
                      </a:r>
                    </a:p>
                  </a:txBody>
                  <a:tcPr marL="90488" marR="90488" marT="44390" marB="443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PK</a:t>
                      </a:r>
                    </a:p>
                  </a:txBody>
                  <a:tcPr marL="90488" marR="90488" marT="44390" marB="443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FK reference</a:t>
                      </a:r>
                    </a:p>
                  </a:txBody>
                  <a:tcPr marL="90488" marR="90488" marT="44390" marB="443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Req’d ?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488" marR="90488" marT="44390" marB="443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Unique ?</a:t>
                      </a:r>
                    </a:p>
                  </a:txBody>
                  <a:tcPr marL="90488" marR="90488" marT="44390" marB="443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Validation</a:t>
                      </a:r>
                    </a:p>
                  </a:txBody>
                  <a:tcPr marL="90488" marR="90488" marT="44390" marB="443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85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marL="90488" marR="90488" marT="44390" marB="443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marL="90488" marR="90488" marT="44390" marB="443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marL="90488" marR="90488" marT="44390" marB="443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marL="90488" marR="90488" marT="44390" marB="443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488" marR="90488" marT="44390" marB="443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marL="90488" marR="90488" marT="44390" marB="443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</a:t>
                      </a:r>
                    </a:p>
                  </a:txBody>
                  <a:tcPr marL="90488" marR="90488" marT="44390" marB="443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marL="90488" marR="90488" marT="44390" marB="443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85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marL="90488" marR="90488" marT="44390" marB="443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marL="90488" marR="90488" marT="44390" marB="443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marL="90488" marR="90488" marT="44390" marB="443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488" marR="90488" marT="44390" marB="443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marL="90488" marR="90488" marT="44390" marB="443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marL="90488" marR="90488" marT="44390" marB="443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488" marR="90488" marT="44390" marB="443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488" marR="90488" marT="44390" marB="443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1839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-179186"/>
            <a:ext cx="9692640" cy="1325562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Basic Data Types</a:t>
            </a:r>
            <a:endParaRPr lang="en-CA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H="1">
            <a:off x="-1422399" y="-1828799"/>
            <a:ext cx="2342526" cy="2975175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endParaRPr lang="en-US" altLang="en-US" dirty="0">
              <a:solidFill>
                <a:srgbClr val="C00000"/>
              </a:solidFill>
            </a:endParaRPr>
          </a:p>
          <a:p>
            <a:pPr marL="457200" lvl="1" indent="0">
              <a:spcBef>
                <a:spcPct val="30000"/>
              </a:spcBef>
              <a:buNone/>
            </a:pPr>
            <a:endParaRPr lang="en-US" altLang="en-US" dirty="0"/>
          </a:p>
          <a:p>
            <a:pPr>
              <a:spcBef>
                <a:spcPct val="0"/>
              </a:spcBef>
            </a:pPr>
            <a:endParaRPr lang="en-US" altLang="en-US" dirty="0">
              <a:solidFill>
                <a:srgbClr val="C00000"/>
              </a:solidFill>
            </a:endParaRPr>
          </a:p>
          <a:p>
            <a:endParaRPr lang="en-CA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744672"/>
              </p:ext>
            </p:extLst>
          </p:nvPr>
        </p:nvGraphicFramePr>
        <p:xfrm>
          <a:off x="1261872" y="1605280"/>
          <a:ext cx="8594724" cy="4662795"/>
        </p:xfrm>
        <a:graphic>
          <a:graphicData uri="http://schemas.openxmlformats.org/drawingml/2006/table">
            <a:tbl>
              <a:tblPr/>
              <a:tblGrid>
                <a:gridCol w="4297362">
                  <a:extLst>
                    <a:ext uri="{9D8B030D-6E8A-4147-A177-3AD203B41FA5}">
                      <a16:colId xmlns:a16="http://schemas.microsoft.com/office/drawing/2014/main" val="1617762296"/>
                    </a:ext>
                  </a:extLst>
                </a:gridCol>
                <a:gridCol w="4297362">
                  <a:extLst>
                    <a:ext uri="{9D8B030D-6E8A-4147-A177-3AD203B41FA5}">
                      <a16:colId xmlns:a16="http://schemas.microsoft.com/office/drawing/2014/main" val="2325976939"/>
                    </a:ext>
                  </a:extLst>
                </a:gridCol>
              </a:tblGrid>
              <a:tr h="426158">
                <a:tc>
                  <a:txBody>
                    <a:bodyPr/>
                    <a:lstStyle/>
                    <a:p>
                      <a:r>
                        <a:rPr lang="en-CA" sz="3200" dirty="0">
                          <a:solidFill>
                            <a:srgbClr val="002060"/>
                          </a:solidFill>
                        </a:rPr>
                        <a:t>Required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sz="3200" dirty="0">
                          <a:solidFill>
                            <a:srgbClr val="002060"/>
                          </a:solidFill>
                        </a:rPr>
                        <a:t>Choice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8724113"/>
                  </a:ext>
                </a:extLst>
              </a:tr>
              <a:tr h="479731">
                <a:tc>
                  <a:txBody>
                    <a:bodyPr/>
                    <a:lstStyle/>
                    <a:p>
                      <a:r>
                        <a:rPr lang="en-CA" sz="1800" dirty="0"/>
                        <a:t>Fixed width strings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dirty="0"/>
                        <a:t>char(n)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2053452"/>
                  </a:ext>
                </a:extLst>
              </a:tr>
              <a:tr h="479731">
                <a:tc>
                  <a:txBody>
                    <a:bodyPr/>
                    <a:lstStyle/>
                    <a:p>
                      <a:r>
                        <a:rPr lang="en-CA" sz="1800" dirty="0"/>
                        <a:t>Variable width strings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sz="1800"/>
                        <a:t>varchar(n)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3722868"/>
                  </a:ext>
                </a:extLst>
              </a:tr>
              <a:tr h="208938">
                <a:tc>
                  <a:txBody>
                    <a:bodyPr/>
                    <a:lstStyle/>
                    <a:p>
                      <a:r>
                        <a:rPr lang="en-CA" sz="1800" dirty="0"/>
                        <a:t>Integers (up to 255)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dirty="0"/>
                        <a:t>number(3)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95928538"/>
                  </a:ext>
                </a:extLst>
              </a:tr>
              <a:tr h="479731">
                <a:tc>
                  <a:txBody>
                    <a:bodyPr/>
                    <a:lstStyle/>
                    <a:p>
                      <a:r>
                        <a:rPr lang="en-CA" sz="1800"/>
                        <a:t>Integers (up to 32,000)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dirty="0" err="1"/>
                        <a:t>Shortinteger</a:t>
                      </a:r>
                      <a:endParaRPr lang="en-CA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002519"/>
                  </a:ext>
                </a:extLst>
              </a:tr>
              <a:tr h="839529">
                <a:tc>
                  <a:txBody>
                    <a:bodyPr/>
                    <a:lstStyle/>
                    <a:p>
                      <a:r>
                        <a:rPr lang="en-US" sz="1800" dirty="0"/>
                        <a:t>Integers (over 32,000 up to 2,000,000,000)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dirty="0"/>
                        <a:t>integer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8741866"/>
                  </a:ext>
                </a:extLst>
              </a:tr>
              <a:tr h="479731">
                <a:tc>
                  <a:txBody>
                    <a:bodyPr/>
                    <a:lstStyle/>
                    <a:p>
                      <a:r>
                        <a:rPr lang="en-CA" sz="1800"/>
                        <a:t>Decimals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dirty="0"/>
                        <a:t>number(</a:t>
                      </a:r>
                      <a:r>
                        <a:rPr lang="en-CA" sz="1800" dirty="0" err="1"/>
                        <a:t>p,s</a:t>
                      </a:r>
                      <a:r>
                        <a:rPr lang="en-CA" sz="180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6664314"/>
                  </a:ext>
                </a:extLst>
              </a:tr>
              <a:tr h="479731">
                <a:tc>
                  <a:txBody>
                    <a:bodyPr/>
                    <a:lstStyle/>
                    <a:p>
                      <a:r>
                        <a:rPr lang="en-CA" sz="1800"/>
                        <a:t>Dates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dirty="0"/>
                        <a:t>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2409232"/>
                  </a:ext>
                </a:extLst>
              </a:tr>
              <a:tr h="479731">
                <a:tc>
                  <a:txBody>
                    <a:bodyPr/>
                    <a:lstStyle/>
                    <a:p>
                      <a:r>
                        <a:rPr lang="en-CA" sz="1800"/>
                        <a:t>Booleans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dirty="0"/>
                        <a:t>number(1)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22254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7760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Constraints</a:t>
            </a:r>
            <a:endParaRPr lang="en-CA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0"/>
              </a:spcBef>
              <a:defRPr/>
            </a:pPr>
            <a:r>
              <a:rPr lang="en-US" altLang="en-US" b="1" dirty="0"/>
              <a:t>Primary Keys</a:t>
            </a:r>
          </a:p>
          <a:p>
            <a:pPr lvl="1">
              <a:spcBef>
                <a:spcPct val="0"/>
              </a:spcBef>
              <a:defRPr/>
            </a:pPr>
            <a:r>
              <a:rPr lang="en-US" altLang="en-US" dirty="0"/>
              <a:t>For concatenated Primary Keys, pay close attention to the order of the attributes within the Primary Key</a:t>
            </a:r>
          </a:p>
          <a:p>
            <a:pPr lvl="1">
              <a:defRPr/>
            </a:pPr>
            <a:r>
              <a:rPr lang="en-US" altLang="en-US" dirty="0"/>
              <a:t>PK:</a:t>
            </a:r>
          </a:p>
          <a:p>
            <a:pPr lvl="2">
              <a:spcBef>
                <a:spcPct val="0"/>
              </a:spcBef>
              <a:defRPr/>
            </a:pPr>
            <a:r>
              <a:rPr lang="en-US" altLang="en-US" dirty="0"/>
              <a:t>Specify ‘Y’ if this column name is a part of the PK, otherwise leave blank</a:t>
            </a:r>
          </a:p>
          <a:p>
            <a:pPr marL="914400" lvl="2" indent="0">
              <a:spcBef>
                <a:spcPct val="0"/>
              </a:spcBef>
              <a:buNone/>
              <a:defRPr/>
            </a:pPr>
            <a:endParaRPr lang="en-US" altLang="en-US" dirty="0"/>
          </a:p>
          <a:p>
            <a:pPr>
              <a:spcBef>
                <a:spcPct val="0"/>
              </a:spcBef>
            </a:pPr>
            <a:r>
              <a:rPr lang="en-US" altLang="en-US" b="1" dirty="0"/>
              <a:t>Foreign key</a:t>
            </a:r>
          </a:p>
          <a:p>
            <a:pPr lvl="1">
              <a:spcBef>
                <a:spcPct val="0"/>
              </a:spcBef>
            </a:pPr>
            <a:r>
              <a:rPr lang="en-US" altLang="en-US" b="1" dirty="0"/>
              <a:t>FK Reference:</a:t>
            </a:r>
          </a:p>
          <a:p>
            <a:pPr lvl="2">
              <a:spcBef>
                <a:spcPct val="0"/>
              </a:spcBef>
            </a:pPr>
            <a:r>
              <a:rPr lang="en-US" altLang="en-US" dirty="0"/>
              <a:t>Specify the table name </a:t>
            </a:r>
            <a:r>
              <a:rPr lang="en-US" altLang="en-US" i="1" dirty="0"/>
              <a:t>and</a:t>
            </a:r>
            <a:r>
              <a:rPr lang="en-US" altLang="en-US" dirty="0"/>
              <a:t> the column name where this field is a PK</a:t>
            </a:r>
            <a:r>
              <a:rPr lang="en-US" altLang="en-US" sz="2200" dirty="0"/>
              <a:t> 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71312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More Constraints</a:t>
            </a:r>
            <a:endParaRPr lang="en-CA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r>
              <a:rPr lang="en-US" altLang="en-US" b="1" dirty="0" err="1"/>
              <a:t>Req’d</a:t>
            </a:r>
            <a:r>
              <a:rPr lang="en-US" altLang="en-US" b="1" dirty="0"/>
              <a:t>?:</a:t>
            </a:r>
          </a:p>
          <a:p>
            <a:pPr lvl="1">
              <a:spcBef>
                <a:spcPct val="0"/>
              </a:spcBef>
            </a:pPr>
            <a:r>
              <a:rPr lang="en-US" altLang="en-US" dirty="0"/>
              <a:t>PKs, by default are required</a:t>
            </a:r>
          </a:p>
          <a:p>
            <a:pPr lvl="1">
              <a:spcBef>
                <a:spcPct val="0"/>
              </a:spcBef>
            </a:pPr>
            <a:r>
              <a:rPr lang="en-US" altLang="en-US" dirty="0"/>
              <a:t>If this column must be present, specify ‘Y’</a:t>
            </a:r>
          </a:p>
          <a:p>
            <a:pPr lvl="1">
              <a:spcBef>
                <a:spcPct val="0"/>
              </a:spcBef>
            </a:pPr>
            <a:r>
              <a:rPr lang="en-US" altLang="en-US" dirty="0"/>
              <a:t>Means that this column can not be left blank or NULL – enforces data integrity</a:t>
            </a:r>
          </a:p>
          <a:p>
            <a:pPr marL="457200" lvl="1" indent="0">
              <a:spcBef>
                <a:spcPct val="0"/>
              </a:spcBef>
              <a:buNone/>
            </a:pPr>
            <a:endParaRPr lang="en-US" altLang="en-US" dirty="0"/>
          </a:p>
          <a:p>
            <a:pPr>
              <a:spcBef>
                <a:spcPct val="0"/>
              </a:spcBef>
            </a:pPr>
            <a:r>
              <a:rPr lang="en-US" altLang="en-US" b="1" dirty="0"/>
              <a:t>Unique?:</a:t>
            </a:r>
          </a:p>
          <a:p>
            <a:pPr lvl="1">
              <a:spcBef>
                <a:spcPct val="0"/>
              </a:spcBef>
            </a:pPr>
            <a:r>
              <a:rPr lang="en-US" altLang="en-US" dirty="0"/>
              <a:t>Means only that the value can only appear once in this column </a:t>
            </a:r>
          </a:p>
          <a:p>
            <a:pPr marL="457200" lvl="1" indent="0">
              <a:spcBef>
                <a:spcPct val="0"/>
              </a:spcBef>
              <a:buNone/>
            </a:pPr>
            <a:endParaRPr lang="en-US" altLang="en-US" dirty="0"/>
          </a:p>
          <a:p>
            <a:pPr>
              <a:spcBef>
                <a:spcPct val="0"/>
              </a:spcBef>
            </a:pPr>
            <a:r>
              <a:rPr lang="en-US" altLang="en-US" b="1" dirty="0"/>
              <a:t>Validation:</a:t>
            </a:r>
          </a:p>
          <a:p>
            <a:pPr lvl="1"/>
            <a:r>
              <a:rPr lang="en-US" altLang="en-US" dirty="0"/>
              <a:t>Specify the range of values or the specific values that are allowed for this column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42595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Table Definition</a:t>
            </a:r>
            <a:endParaRPr lang="en-CA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Format for defining the table PAINTER:</a:t>
            </a:r>
          </a:p>
          <a:p>
            <a:endParaRPr lang="en-CA" dirty="0"/>
          </a:p>
        </p:txBody>
      </p:sp>
      <p:graphicFrame>
        <p:nvGraphicFramePr>
          <p:cNvPr id="4" name="Group 7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5488644"/>
              </p:ext>
            </p:extLst>
          </p:nvPr>
        </p:nvGraphicFramePr>
        <p:xfrm>
          <a:off x="1016001" y="2611122"/>
          <a:ext cx="8829564" cy="2601687"/>
        </p:xfrm>
        <a:graphic>
          <a:graphicData uri="http://schemas.openxmlformats.org/drawingml/2006/table">
            <a:tbl>
              <a:tblPr/>
              <a:tblGrid>
                <a:gridCol w="1422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27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1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76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13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69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976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372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Column</a:t>
                      </a:r>
                    </a:p>
                  </a:txBody>
                  <a:tcPr marL="90488" marR="90488" marT="44439" marB="444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Type</a:t>
                      </a:r>
                    </a:p>
                  </a:txBody>
                  <a:tcPr marL="90488" marR="90488" marT="44439" marB="44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Len</a:t>
                      </a:r>
                    </a:p>
                  </a:txBody>
                  <a:tcPr marL="90488" marR="90488" marT="44439" marB="44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PK</a:t>
                      </a:r>
                    </a:p>
                  </a:txBody>
                  <a:tcPr marL="90488" marR="90488" marT="44439" marB="44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FK</a:t>
                      </a:r>
                    </a:p>
                  </a:txBody>
                  <a:tcPr marL="90488" marR="90488" marT="44439" marB="44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Req’d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488" marR="90488" marT="44439" marB="44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Unique</a:t>
                      </a:r>
                    </a:p>
                  </a:txBody>
                  <a:tcPr marL="90488" marR="90488" marT="44439" marB="44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Validation</a:t>
                      </a:r>
                    </a:p>
                  </a:txBody>
                  <a:tcPr marL="90488" marR="90488" marT="44439" marB="44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17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PTR_NUM</a:t>
                      </a:r>
                    </a:p>
                  </a:txBody>
                  <a:tcPr marL="90488" marR="90488" marT="44439" marB="444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</a:t>
                      </a:r>
                    </a:p>
                  </a:txBody>
                  <a:tcPr marL="90488" marR="90488" marT="44439" marB="44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0488" marR="90488" marT="44439" marB="44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90488" marR="90488" marT="44439" marB="44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488" marR="90488" marT="44439" marB="44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90488" marR="90488" marT="44439" marB="44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90488" marR="90488" marT="44439" marB="44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marL="90488" marR="90488" marT="44439" marB="44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68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PTR_LNAME</a:t>
                      </a:r>
                    </a:p>
                  </a:txBody>
                  <a:tcPr marL="90488" marR="90488" marT="44439" marB="444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VARCHAR</a:t>
                      </a:r>
                    </a:p>
                  </a:txBody>
                  <a:tcPr marL="90488" marR="90488" marT="44439" marB="44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</a:t>
                      </a:r>
                    </a:p>
                  </a:txBody>
                  <a:tcPr marL="90488" marR="90488" marT="44439" marB="44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488" marR="90488" marT="44439" marB="44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marL="90488" marR="90488" marT="44439" marB="44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90488" marR="90488" marT="44439" marB="44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488" marR="90488" marT="44439" marB="44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488" marR="90488" marT="44439" marB="44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17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PTR_FNAME</a:t>
                      </a:r>
                    </a:p>
                  </a:txBody>
                  <a:tcPr marL="90488" marR="90488" marT="44439" marB="444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VARCHAR</a:t>
                      </a:r>
                    </a:p>
                  </a:txBody>
                  <a:tcPr marL="90488" marR="90488" marT="44439" marB="44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</a:t>
                      </a:r>
                    </a:p>
                  </a:txBody>
                  <a:tcPr marL="90488" marR="90488" marT="44439" marB="44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488" marR="90488" marT="44439" marB="44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488" marR="90488" marT="44439" marB="44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90488" marR="90488" marT="44439" marB="44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488" marR="90488" marT="44439" marB="44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488" marR="90488" marT="44439" marB="44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4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3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PTR_CITY</a:t>
                      </a:r>
                      <a:endParaRPr kumimoji="0" lang="en-US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488" marR="90488" marT="44439" marB="444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VARCHAR</a:t>
                      </a:r>
                    </a:p>
                  </a:txBody>
                  <a:tcPr marL="90488" marR="90488" marT="44439" marB="44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</a:t>
                      </a:r>
                    </a:p>
                  </a:txBody>
                  <a:tcPr marL="90488" marR="90488" marT="44439" marB="44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488" marR="90488" marT="44439" marB="44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marL="90488" marR="90488" marT="44439" marB="44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488" marR="90488" marT="44439" marB="44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488" marR="90488" marT="44439" marB="44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marL="90488" marR="90488" marT="44439" marB="44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17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PTR_PHONE</a:t>
                      </a:r>
                    </a:p>
                  </a:txBody>
                  <a:tcPr marL="90488" marR="90488" marT="44439" marB="444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CHAR</a:t>
                      </a:r>
                    </a:p>
                  </a:txBody>
                  <a:tcPr marL="90488" marR="90488" marT="44439" marB="44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L="90488" marR="90488" marT="44439" marB="44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488" marR="90488" marT="44439" marB="44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488" marR="90488" marT="44439" marB="44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488" marR="90488" marT="44439" marB="44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488" marR="90488" marT="44439" marB="44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marL="90488" marR="90488" marT="44439" marB="444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0751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Creating Tables in SQL</a:t>
            </a:r>
            <a:endParaRPr lang="en-CA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80000"/>
              </a:lnSpc>
              <a:spcBef>
                <a:spcPct val="30000"/>
              </a:spcBef>
            </a:pPr>
            <a:r>
              <a:rPr lang="en-US" altLang="en-US" dirty="0"/>
              <a:t>CREATE TABLE</a:t>
            </a:r>
            <a:r>
              <a:rPr lang="en-US" altLang="en-US" b="1" dirty="0"/>
              <a:t> </a:t>
            </a:r>
            <a:endParaRPr lang="en-US" altLang="en-US" dirty="0"/>
          </a:p>
          <a:p>
            <a:pPr lvl="1">
              <a:lnSpc>
                <a:spcPct val="80000"/>
              </a:lnSpc>
              <a:spcBef>
                <a:spcPct val="30000"/>
              </a:spcBef>
            </a:pPr>
            <a:r>
              <a:rPr lang="en-US" altLang="en-US" dirty="0"/>
              <a:t>Used to create a table</a:t>
            </a:r>
          </a:p>
          <a:p>
            <a:pPr>
              <a:lnSpc>
                <a:spcPct val="80000"/>
              </a:lnSpc>
              <a:spcBef>
                <a:spcPct val="30000"/>
              </a:spcBef>
            </a:pPr>
            <a:r>
              <a:rPr lang="en-US" altLang="en-US" dirty="0"/>
              <a:t>Syntax </a:t>
            </a:r>
          </a:p>
          <a:p>
            <a:pPr marL="457200" lvl="1" indent="0">
              <a:lnSpc>
                <a:spcPct val="80000"/>
              </a:lnSpc>
              <a:spcBef>
                <a:spcPct val="30000"/>
              </a:spcBef>
              <a:buNone/>
            </a:pPr>
            <a:r>
              <a:rPr lang="en-US" alt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CREATE TABLE </a:t>
            </a:r>
            <a:r>
              <a:rPr lang="en-US" altLang="en-US" sz="22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tablename</a:t>
            </a:r>
            <a:r>
              <a:rPr lang="en-US" alt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marL="457200" lvl="1" indent="0">
              <a:lnSpc>
                <a:spcPct val="80000"/>
              </a:lnSpc>
              <a:spcBef>
                <a:spcPct val="30000"/>
              </a:spcBef>
              <a:buNone/>
            </a:pPr>
            <a:r>
              <a:rPr lang="en-US" alt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  <a:t>	field1 datatype  </a:t>
            </a:r>
            <a:r>
              <a:rPr lang="en-US" altLang="en-US" sz="22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fieldsize</a:t>
            </a:r>
            <a:r>
              <a:rPr lang="en-US" alt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pPr lvl="1">
              <a:lnSpc>
                <a:spcPct val="80000"/>
              </a:lnSpc>
              <a:spcBef>
                <a:spcPct val="30000"/>
              </a:spcBef>
              <a:buNone/>
            </a:pPr>
            <a:r>
              <a:rPr lang="en-US" alt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  <a:t>		field2 datatype  </a:t>
            </a:r>
            <a:r>
              <a:rPr lang="en-US" altLang="en-US" sz="22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fieldsize</a:t>
            </a:r>
            <a:r>
              <a:rPr lang="en-US" alt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pPr lvl="1">
              <a:lnSpc>
                <a:spcPct val="80000"/>
              </a:lnSpc>
              <a:spcBef>
                <a:spcPct val="30000"/>
              </a:spcBef>
              <a:buNone/>
            </a:pPr>
            <a:r>
              <a:rPr lang="en-US" alt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  <a:t>		.</a:t>
            </a:r>
            <a:br>
              <a:rPr lang="en-US" alt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  <a:t>	.</a:t>
            </a:r>
            <a:br>
              <a:rPr lang="en-US" alt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  <a:t>	.</a:t>
            </a:r>
            <a:br>
              <a:rPr lang="en-US" alt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  <a:t>	field</a:t>
            </a:r>
            <a:r>
              <a:rPr lang="en-CA" alt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alt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  <a:t> datatype  </a:t>
            </a:r>
            <a:r>
              <a:rPr lang="en-US" altLang="en-US" sz="22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fieldsize</a:t>
            </a:r>
            <a:r>
              <a:rPr lang="en-US" alt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lvl="1">
              <a:lnSpc>
                <a:spcPct val="80000"/>
              </a:lnSpc>
              <a:spcBef>
                <a:spcPct val="30000"/>
              </a:spcBef>
              <a:buNone/>
            </a:pPr>
            <a:r>
              <a:rPr lang="en-US" alt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  <a:t>		UNIQUE (…),			</a:t>
            </a:r>
          </a:p>
          <a:p>
            <a:pPr lvl="1">
              <a:lnSpc>
                <a:spcPct val="80000"/>
              </a:lnSpc>
              <a:spcBef>
                <a:spcPct val="30000"/>
              </a:spcBef>
              <a:buNone/>
            </a:pPr>
            <a:r>
              <a:rPr lang="en-US" alt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  <a:t>		CHECK (…),</a:t>
            </a:r>
          </a:p>
          <a:p>
            <a:pPr lvl="1">
              <a:lnSpc>
                <a:spcPct val="80000"/>
              </a:lnSpc>
              <a:spcBef>
                <a:spcPct val="30000"/>
              </a:spcBef>
              <a:buNone/>
            </a:pPr>
            <a:r>
              <a:rPr lang="en-US" alt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  <a:t>  	PRIMARY KEY (fieldname(s)), </a:t>
            </a:r>
          </a:p>
          <a:p>
            <a:pPr lvl="1">
              <a:lnSpc>
                <a:spcPct val="80000"/>
              </a:lnSpc>
              <a:spcBef>
                <a:spcPct val="30000"/>
              </a:spcBef>
              <a:buNone/>
            </a:pPr>
            <a:r>
              <a:rPr lang="en-US" alt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  <a:t>		FOREIGN KEY (fieldname) REFERENCES </a:t>
            </a:r>
            <a:r>
              <a:rPr lang="en-US" altLang="en-US" sz="22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tablename</a:t>
            </a:r>
            <a:r>
              <a:rPr lang="en-US" alt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en-US" sz="22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PKfieldname</a:t>
            </a:r>
            <a:r>
              <a:rPr lang="en-US" altLang="en-US" sz="2200" i="1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52332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Creating Table Players</a:t>
            </a:r>
            <a:endParaRPr lang="en-CA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1965960"/>
            <a:ext cx="8595360" cy="4351337"/>
          </a:xfrm>
        </p:spPr>
        <p:txBody>
          <a:bodyPr>
            <a:normAutofit/>
          </a:bodyPr>
          <a:lstStyle/>
          <a:p>
            <a:pPr marL="179388" lvl="1" indent="0">
              <a:spcBef>
                <a:spcPct val="30000"/>
              </a:spcBef>
              <a:buNone/>
              <a:defRPr/>
            </a:pPr>
            <a:endParaRPr lang="en-US" alt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79388" lvl="1" indent="0">
              <a:spcBef>
                <a:spcPct val="30000"/>
              </a:spcBef>
              <a:buNone/>
              <a:defRPr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CREATE TABLE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players (                         </a:t>
            </a:r>
          </a:p>
          <a:p>
            <a:pPr marL="179388" lvl="1" indent="0">
              <a:spcBef>
                <a:spcPct val="30000"/>
              </a:spcBef>
              <a:buNone/>
              <a:defRPr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INT   PRIMARY KEY,  </a:t>
            </a:r>
          </a:p>
          <a:p>
            <a:pPr marL="179388" lvl="1" indent="0">
              <a:spcBef>
                <a:spcPct val="30000"/>
              </a:spcBef>
              <a:buNone/>
              <a:defRPr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plname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varchar   (20) 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not null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179388" lvl="1" indent="0">
              <a:spcBef>
                <a:spcPct val="30000"/>
              </a:spcBef>
              <a:buNone/>
              <a:defRPr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pfname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varchar   (20) 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not null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179388" lvl="1" indent="0">
              <a:spcBef>
                <a:spcPct val="30000"/>
              </a:spcBef>
              <a:buNone/>
              <a:defRPr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teamID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INT );</a:t>
            </a:r>
          </a:p>
          <a:p>
            <a:pPr marL="179388" lvl="1" indent="0">
              <a:spcBef>
                <a:spcPct val="30000"/>
              </a:spcBef>
              <a:buNone/>
              <a:defRPr/>
            </a:pP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79388" lvl="1" indent="0">
              <a:spcBef>
                <a:spcPct val="30000"/>
              </a:spcBef>
              <a:buNone/>
              <a:defRPr/>
            </a:pP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 flipV="1">
            <a:off x="-1403927" y="-222775"/>
            <a:ext cx="1617447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-535688" y="0"/>
            <a:ext cx="213520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7115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solidFill>
                  <a:srgbClr val="C00000"/>
                </a:solidFill>
              </a:rPr>
              <a:t>Default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22288" lvl="1" indent="-342900">
              <a:spcBef>
                <a:spcPct val="30000"/>
              </a:spcBef>
              <a:defRPr/>
            </a:pPr>
            <a:r>
              <a:rPr lang="en-US" sz="2800" dirty="0"/>
              <a:t>You can specify a default value for a column. </a:t>
            </a:r>
          </a:p>
          <a:p>
            <a:pPr marL="522288" lvl="1" indent="-342900">
              <a:spcBef>
                <a:spcPct val="30000"/>
              </a:spcBef>
              <a:defRPr/>
            </a:pPr>
            <a:r>
              <a:rPr lang="en-US" sz="2800" dirty="0"/>
              <a:t>A default value is the value to be inserted into a column if no other value is specified. </a:t>
            </a:r>
          </a:p>
          <a:p>
            <a:pPr marL="522288" lvl="1" indent="-342900">
              <a:spcBef>
                <a:spcPct val="30000"/>
              </a:spcBef>
              <a:defRPr/>
            </a:pPr>
            <a:r>
              <a:rPr lang="en-US" sz="2800" dirty="0"/>
              <a:t>If not explicitly specified, the default value of a column is NULL.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2841190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solidFill>
                  <a:srgbClr val="C00000"/>
                </a:solidFill>
              </a:rPr>
              <a:t>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Constraints are used to ensure that the database receives “good” data</a:t>
            </a:r>
          </a:p>
          <a:p>
            <a:pPr lvl="1"/>
            <a:r>
              <a:rPr lang="en-US" altLang="en-US" sz="2600" dirty="0"/>
              <a:t>PRIMARY KEY</a:t>
            </a:r>
          </a:p>
          <a:p>
            <a:pPr lvl="2"/>
            <a:r>
              <a:rPr lang="en-US" altLang="en-US" sz="2600" dirty="0"/>
              <a:t>unique and not null</a:t>
            </a:r>
          </a:p>
          <a:p>
            <a:pPr lvl="1"/>
            <a:r>
              <a:rPr lang="en-US" altLang="en-US" sz="2600" dirty="0"/>
              <a:t>NOT NULL </a:t>
            </a:r>
            <a:endParaRPr lang="en-US" altLang="en-US" sz="2600" dirty="0">
              <a:sym typeface="Wingdings" pitchFamily="2" charset="2"/>
            </a:endParaRPr>
          </a:p>
          <a:p>
            <a:pPr lvl="2"/>
            <a:r>
              <a:rPr lang="en-US" altLang="en-US" sz="2600" dirty="0">
                <a:sym typeface="Wingdings" pitchFamily="2" charset="2"/>
              </a:rPr>
              <a:t>a value must exist</a:t>
            </a:r>
          </a:p>
          <a:p>
            <a:pPr lvl="1"/>
            <a:r>
              <a:rPr lang="en-US" altLang="en-US" sz="2600" dirty="0">
                <a:sym typeface="Wingdings" pitchFamily="2" charset="2"/>
              </a:rPr>
              <a:t>UNIQUE</a:t>
            </a:r>
          </a:p>
          <a:p>
            <a:pPr lvl="2"/>
            <a:r>
              <a:rPr lang="en-US" altLang="en-US" sz="2600" dirty="0">
                <a:sym typeface="Wingdings" pitchFamily="2" charset="2"/>
              </a:rPr>
              <a:t>value exists only once in a column</a:t>
            </a:r>
          </a:p>
          <a:p>
            <a:pPr lvl="1"/>
            <a:r>
              <a:rPr lang="en-US" altLang="en-US" sz="2600" dirty="0">
                <a:sym typeface="Wingdings" pitchFamily="2" charset="2"/>
              </a:rPr>
              <a:t>CHECK</a:t>
            </a:r>
          </a:p>
          <a:p>
            <a:pPr lvl="2"/>
            <a:r>
              <a:rPr lang="en-US" altLang="en-US" sz="2200" dirty="0">
                <a:sym typeface="Wingdings" pitchFamily="2" charset="2"/>
              </a:rPr>
              <a:t>value must pass validation criteria</a:t>
            </a:r>
          </a:p>
          <a:p>
            <a:pPr lvl="1">
              <a:spcBef>
                <a:spcPct val="0"/>
              </a:spcBef>
              <a:defRPr/>
            </a:pPr>
            <a:r>
              <a:rPr lang="en-US" altLang="en-US" sz="2600" dirty="0">
                <a:sym typeface="Wingdings" pitchFamily="2" charset="2"/>
              </a:rPr>
              <a:t>FOREIGN KEY</a:t>
            </a:r>
          </a:p>
          <a:p>
            <a:pPr lvl="2">
              <a:spcBef>
                <a:spcPct val="0"/>
              </a:spcBef>
              <a:defRPr/>
            </a:pPr>
            <a:r>
              <a:rPr lang="en-US" altLang="en-US" sz="2200" dirty="0">
                <a:sym typeface="Wingdings" pitchFamily="2" charset="2"/>
              </a:rPr>
              <a:t>used to enforce Relational Integrity between two tables</a:t>
            </a:r>
            <a:endParaRPr lang="en-US" altLang="en-US" sz="2200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76673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solidFill>
                  <a:srgbClr val="C00000"/>
                </a:solidFill>
              </a:rPr>
              <a:t>Primary Key Constraint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30000"/>
              </a:spcBef>
              <a:buClr>
                <a:srgbClr val="660066"/>
              </a:buClr>
            </a:pPr>
            <a:r>
              <a:rPr lang="en-US" altLang="en-US" dirty="0"/>
              <a:t>The primary key ensures the value of the PK column is specified for every row.</a:t>
            </a:r>
          </a:p>
          <a:p>
            <a:pPr>
              <a:spcBef>
                <a:spcPct val="30000"/>
              </a:spcBef>
              <a:buClr>
                <a:srgbClr val="660066"/>
              </a:buClr>
            </a:pPr>
            <a:r>
              <a:rPr lang="en-US" altLang="en-US" dirty="0"/>
              <a:t> A row can be accessed rapidly by using the primary </a:t>
            </a:r>
          </a:p>
          <a:p>
            <a:pPr>
              <a:spcBef>
                <a:spcPct val="30000"/>
              </a:spcBef>
              <a:buClr>
                <a:srgbClr val="660066"/>
              </a:buClr>
            </a:pPr>
            <a:r>
              <a:rPr lang="en-US" altLang="en-US" dirty="0"/>
              <a:t>The primary key guarantees the uniqueness of the PK column</a:t>
            </a:r>
          </a:p>
          <a:p>
            <a:pPr marL="0" indent="0">
              <a:spcBef>
                <a:spcPct val="30000"/>
              </a:spcBef>
              <a:buNone/>
            </a:pPr>
            <a:endParaRPr lang="en-US" altLang="en-US" dirty="0"/>
          </a:p>
          <a:p>
            <a:pPr>
              <a:spcBef>
                <a:spcPct val="30000"/>
              </a:spcBef>
            </a:pPr>
            <a:r>
              <a:rPr lang="en-US" altLang="en-US" dirty="0"/>
              <a:t>What happens if you create the table without specifying a primary key, insert rows and then apply the primary key constraint?</a:t>
            </a:r>
          </a:p>
          <a:p>
            <a:pPr>
              <a:spcBef>
                <a:spcPct val="30000"/>
              </a:spcBef>
              <a:buClr>
                <a:srgbClr val="660066"/>
              </a:buClr>
            </a:pPr>
            <a:endParaRPr lang="en-US" altLang="en-US" dirty="0"/>
          </a:p>
          <a:p>
            <a:pPr marL="0" indent="0">
              <a:spcBef>
                <a:spcPct val="30000"/>
              </a:spcBef>
              <a:buClr>
                <a:srgbClr val="660066"/>
              </a:buClr>
              <a:buNone/>
            </a:pP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412694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solidFill>
                  <a:srgbClr val="C00000"/>
                </a:solidFill>
              </a:rPr>
              <a:t>Primary Key Constraint (Continued)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799" y="1691322"/>
            <a:ext cx="8595360" cy="4351337"/>
          </a:xfrm>
        </p:spPr>
        <p:txBody>
          <a:bodyPr>
            <a:normAutofit/>
          </a:bodyPr>
          <a:lstStyle/>
          <a:p>
            <a:pPr marL="0" indent="0">
              <a:spcBef>
                <a:spcPct val="30000"/>
              </a:spcBef>
              <a:buClr>
                <a:srgbClr val="660066"/>
              </a:buClr>
              <a:buNone/>
            </a:pP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ct val="30000"/>
              </a:spcBef>
              <a:buClr>
                <a:srgbClr val="660066"/>
              </a:buClr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CREATE TABLE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teams ( </a:t>
            </a:r>
          </a:p>
          <a:p>
            <a:pPr marL="0" indent="0">
              <a:spcBef>
                <a:spcPct val="30000"/>
              </a:spcBef>
              <a:buClr>
                <a:srgbClr val="660066"/>
              </a:buClr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teamID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INT, 	</a:t>
            </a:r>
          </a:p>
          <a:p>
            <a:pPr marL="0" indent="0">
              <a:spcBef>
                <a:spcPct val="30000"/>
              </a:spcBef>
              <a:buClr>
                <a:srgbClr val="660066"/>
              </a:buClr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teamname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VARCHAR(15) NOT NULL,</a:t>
            </a:r>
          </a:p>
          <a:p>
            <a:pPr marL="0" indent="0">
              <a:spcBef>
                <a:spcPct val="30000"/>
              </a:spcBef>
              <a:buClr>
                <a:srgbClr val="660066"/>
              </a:buClr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maxplayers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INT DEFAULT 0,</a:t>
            </a:r>
          </a:p>
          <a:p>
            <a:pPr marL="0" indent="0">
              <a:spcBef>
                <a:spcPct val="30000"/>
              </a:spcBef>
              <a:buClr>
                <a:srgbClr val="660066"/>
              </a:buClr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shirtcolor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VARCHAR(10),</a:t>
            </a:r>
          </a:p>
          <a:p>
            <a:pPr marL="0" indent="0">
              <a:spcBef>
                <a:spcPct val="30000"/>
              </a:spcBef>
              <a:buClr>
                <a:srgbClr val="660066"/>
              </a:buClr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fieldID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INT,</a:t>
            </a:r>
          </a:p>
          <a:p>
            <a:pPr marL="0" indent="0">
              <a:spcBef>
                <a:spcPct val="30000"/>
              </a:spcBef>
              <a:buClr>
                <a:srgbClr val="660066"/>
              </a:buClr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PRIMARY KEY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teamID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pPr marL="0" indent="0">
              <a:spcBef>
                <a:spcPct val="30000"/>
              </a:spcBef>
              <a:buClr>
                <a:srgbClr val="660066"/>
              </a:buClr>
              <a:buNone/>
            </a:pPr>
            <a:endParaRPr lang="en-US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latinLnBrk="1">
              <a:buNone/>
            </a:pPr>
            <a:endParaRPr lang="en-US" dirty="0"/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568035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solidFill>
                  <a:srgbClr val="C00000"/>
                </a:solidFill>
              </a:rPr>
              <a:t>Not Null Constraint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80000"/>
              </a:lnSpc>
              <a:spcBef>
                <a:spcPct val="30000"/>
              </a:spcBef>
              <a:buClr>
                <a:srgbClr val="660066"/>
              </a:buClr>
            </a:pPr>
            <a:r>
              <a:rPr lang="en-US" altLang="en-US" dirty="0"/>
              <a:t>NOT NULL constraint </a:t>
            </a:r>
          </a:p>
          <a:p>
            <a:pPr lvl="1">
              <a:lnSpc>
                <a:spcPct val="80000"/>
              </a:lnSpc>
              <a:spcBef>
                <a:spcPct val="30000"/>
              </a:spcBef>
              <a:buClr>
                <a:srgbClr val="660066"/>
              </a:buClr>
            </a:pPr>
            <a:r>
              <a:rPr lang="en-US" altLang="en-US" dirty="0"/>
              <a:t>guarantees that the user must specify a value.</a:t>
            </a:r>
          </a:p>
          <a:p>
            <a:pPr marL="457200" lvl="1" indent="0">
              <a:lnSpc>
                <a:spcPct val="80000"/>
              </a:lnSpc>
              <a:spcBef>
                <a:spcPct val="30000"/>
              </a:spcBef>
              <a:buClr>
                <a:srgbClr val="660066"/>
              </a:buClr>
              <a:buNone/>
            </a:pPr>
            <a:endParaRPr lang="en-US" altLang="en-US" sz="2800" dirty="0"/>
          </a:p>
          <a:p>
            <a:pPr>
              <a:lnSpc>
                <a:spcPct val="80000"/>
              </a:lnSpc>
              <a:spcBef>
                <a:spcPct val="30000"/>
              </a:spcBef>
              <a:buClr>
                <a:srgbClr val="660066"/>
              </a:buClr>
            </a:pPr>
            <a:r>
              <a:rPr lang="en-US" altLang="en-US" dirty="0"/>
              <a:t>NOT NULL DEFAULT</a:t>
            </a:r>
          </a:p>
          <a:p>
            <a:pPr lvl="1">
              <a:lnSpc>
                <a:spcPct val="80000"/>
              </a:lnSpc>
              <a:spcBef>
                <a:spcPct val="30000"/>
              </a:spcBef>
              <a:buClr>
                <a:srgbClr val="660066"/>
              </a:buClr>
            </a:pPr>
            <a:r>
              <a:rPr lang="en-US" altLang="en-US" dirty="0"/>
              <a:t>The user must specify a value to be inserted if the value for that column is not provided. </a:t>
            </a:r>
            <a:br>
              <a:rPr lang="en-US" altLang="en-US" dirty="0"/>
            </a:br>
            <a:endParaRPr lang="en-US" altLang="en-US" dirty="0"/>
          </a:p>
          <a:p>
            <a:pPr marL="457200" lvl="1" indent="0" latinLnBrk="1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CREATE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TABLE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</a:p>
          <a:p>
            <a:pPr marL="457200" lvl="1" indent="0" latinLnBrk="1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...</a:t>
            </a:r>
          </a:p>
          <a:p>
            <a:pPr marL="457200" lvl="1" indent="0" latinLnBrk="1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column_name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data_type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NOT NULL</a:t>
            </a:r>
          </a:p>
          <a:p>
            <a:pPr marL="457200" lvl="1" indent="0" latinLnBrk="1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...</a:t>
            </a:r>
          </a:p>
          <a:p>
            <a:pPr marL="457200" lvl="1" indent="0" latinLnBrk="1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endParaRPr lang="en-CA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550895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solidFill>
                  <a:srgbClr val="C00000"/>
                </a:solidFill>
              </a:rPr>
              <a:t>Unique Constraint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30000"/>
              </a:spcBef>
              <a:buClr>
                <a:srgbClr val="660066"/>
              </a:buClr>
            </a:pPr>
            <a:r>
              <a:rPr lang="en-US" altLang="en-US" dirty="0"/>
              <a:t>Rows are now not allowed to be inserted or updated if the value of a unique column occurs more than once.</a:t>
            </a:r>
          </a:p>
          <a:p>
            <a:pPr>
              <a:spcBef>
                <a:spcPct val="30000"/>
              </a:spcBef>
              <a:buClr>
                <a:srgbClr val="660066"/>
              </a:buClr>
            </a:pPr>
            <a:endParaRPr lang="en-US" altLang="en-US" sz="3000" dirty="0"/>
          </a:p>
          <a:p>
            <a:pPr>
              <a:spcBef>
                <a:spcPct val="30000"/>
              </a:spcBef>
              <a:buClr>
                <a:srgbClr val="660066"/>
              </a:buClr>
            </a:pPr>
            <a:r>
              <a:rPr lang="en-US" altLang="en-US" dirty="0"/>
              <a:t>Columns with unique values:</a:t>
            </a:r>
          </a:p>
          <a:p>
            <a:pPr lvl="1">
              <a:spcBef>
                <a:spcPct val="30000"/>
              </a:spcBef>
              <a:buClr>
                <a:srgbClr val="660066"/>
              </a:buClr>
            </a:pPr>
            <a:r>
              <a:rPr lang="en-US" altLang="en-US" sz="2800" dirty="0"/>
              <a:t>Social Insurance Number</a:t>
            </a:r>
          </a:p>
          <a:p>
            <a:pPr lvl="1">
              <a:spcBef>
                <a:spcPct val="30000"/>
              </a:spcBef>
              <a:buClr>
                <a:srgbClr val="660066"/>
              </a:buClr>
            </a:pPr>
            <a:r>
              <a:rPr lang="en-US" altLang="en-US" sz="2800" dirty="0"/>
              <a:t>Driver’s License Number</a:t>
            </a:r>
          </a:p>
          <a:p>
            <a:pPr lvl="1">
              <a:spcBef>
                <a:spcPct val="30000"/>
              </a:spcBef>
              <a:buClr>
                <a:srgbClr val="660066"/>
              </a:buClr>
            </a:pPr>
            <a:r>
              <a:rPr lang="en-US" altLang="en-US" sz="2800" dirty="0"/>
              <a:t>Ontario Health Card Number</a:t>
            </a:r>
          </a:p>
          <a:p>
            <a:pPr marL="0" indent="0">
              <a:spcBef>
                <a:spcPct val="30000"/>
              </a:spcBef>
              <a:buClr>
                <a:srgbClr val="660066"/>
              </a:buClr>
              <a:buNone/>
            </a:pPr>
            <a:endParaRPr lang="en-US" altLang="en-US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500854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solidFill>
                  <a:srgbClr val="C00000"/>
                </a:solidFill>
              </a:rPr>
              <a:t>Unique Constraint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atinLnBrk="1"/>
            <a:r>
              <a:rPr lang="en-US" sz="2400" dirty="0"/>
              <a:t>Apply the unique constraints to columns</a:t>
            </a:r>
          </a:p>
          <a:p>
            <a:pPr marL="457200" lvl="1" indent="0" latinLnBrk="1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CREATE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TABLE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</a:p>
          <a:p>
            <a:pPr marL="457200" lvl="1" indent="0" latinLnBrk="1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...</a:t>
            </a:r>
          </a:p>
          <a:p>
            <a:pPr marL="457200" lvl="1" indent="0" latinLnBrk="1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column_name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data_type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UNIQUE</a:t>
            </a:r>
          </a:p>
          <a:p>
            <a:pPr marL="457200" lvl="1" indent="0" latinLnBrk="1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...</a:t>
            </a:r>
          </a:p>
          <a:p>
            <a:pPr marL="457200" lvl="1" indent="0" latinLnBrk="1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latinLnBrk="1"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</a:p>
          <a:p>
            <a:pPr marL="457200" lvl="1" indent="0" latinLnBrk="1">
              <a:buNone/>
            </a:pPr>
            <a:r>
              <a:rPr lang="en-CA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CREATE</a:t>
            </a: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TABLE</a:t>
            </a: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</a:p>
          <a:p>
            <a:pPr marL="457200" lvl="1" indent="0" latinLnBrk="1">
              <a:buNone/>
            </a:pP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...</a:t>
            </a:r>
          </a:p>
          <a:p>
            <a:pPr marL="457200" lvl="1" indent="0" latinLnBrk="1">
              <a:buNone/>
            </a:pP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CA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column_name</a:t>
            </a: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data_type</a:t>
            </a: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457200" lvl="1" indent="0" latinLnBrk="1">
              <a:buNone/>
            </a:pP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...,</a:t>
            </a:r>
          </a:p>
          <a:p>
            <a:pPr marL="457200" lvl="1" indent="0" latinLnBrk="1">
              <a:buNone/>
            </a:pP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CA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CONSTRAINT</a:t>
            </a: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unique_constraint_name</a:t>
            </a: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UNIQUE</a:t>
            </a: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(column_name1,…)</a:t>
            </a:r>
          </a:p>
          <a:p>
            <a:pPr marL="457200" lvl="1" indent="0" latinLnBrk="1">
              <a:buNone/>
            </a:pP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latinLnBrk="1">
              <a:buNone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 latinLnBrk="1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240382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solidFill>
                  <a:srgbClr val="C00000"/>
                </a:solidFill>
              </a:rPr>
              <a:t>Check Constraint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80000"/>
              </a:lnSpc>
              <a:spcBef>
                <a:spcPct val="30000"/>
              </a:spcBef>
              <a:buClr>
                <a:srgbClr val="660066"/>
              </a:buClr>
              <a:buNone/>
              <a:defRPr/>
            </a:pPr>
            <a:r>
              <a:rPr lang="en-US" altLang="en-US" dirty="0"/>
              <a:t>The check constraint enforces domain integrity. The database guarantees the inserted or updated values are valid with respect to a condition.  </a:t>
            </a:r>
          </a:p>
          <a:p>
            <a:pPr lvl="1">
              <a:lnSpc>
                <a:spcPct val="80000"/>
              </a:lnSpc>
              <a:spcBef>
                <a:spcPct val="30000"/>
              </a:spcBef>
              <a:buClr>
                <a:srgbClr val="660066"/>
              </a:buClr>
              <a:defRPr/>
            </a:pPr>
            <a:r>
              <a:rPr lang="en-US" altLang="en-US" dirty="0"/>
              <a:t>A column value is not allowed to be inserted or updated if it violated the check condition.</a:t>
            </a:r>
          </a:p>
          <a:p>
            <a:pPr marL="0" indent="0">
              <a:lnSpc>
                <a:spcPct val="80000"/>
              </a:lnSpc>
              <a:spcBef>
                <a:spcPct val="30000"/>
              </a:spcBef>
              <a:buClr>
                <a:srgbClr val="660066"/>
              </a:buClr>
              <a:buNone/>
              <a:defRPr/>
            </a:pPr>
            <a:r>
              <a:rPr lang="en-US" altLang="en-US" dirty="0"/>
              <a:t>Here are some common validations:</a:t>
            </a:r>
          </a:p>
          <a:p>
            <a:pPr marL="0" indent="0">
              <a:lnSpc>
                <a:spcPct val="80000"/>
              </a:lnSpc>
              <a:spcBef>
                <a:spcPct val="30000"/>
              </a:spcBef>
              <a:buClr>
                <a:srgbClr val="660066"/>
              </a:buClr>
              <a:buNone/>
              <a:defRPr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(Salary &gt;= 2000 and Age &lt;= 12000)</a:t>
            </a:r>
          </a:p>
          <a:p>
            <a:pPr marL="0" indent="0">
              <a:lnSpc>
                <a:spcPct val="80000"/>
              </a:lnSpc>
              <a:spcBef>
                <a:spcPct val="30000"/>
              </a:spcBef>
              <a:buClr>
                <a:srgbClr val="660066"/>
              </a:buClr>
              <a:buNone/>
              <a:defRPr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(age BETWEEN 18 and 40)</a:t>
            </a:r>
          </a:p>
          <a:p>
            <a:pPr marL="0" indent="0">
              <a:lnSpc>
                <a:spcPct val="80000"/>
              </a:lnSpc>
              <a:spcBef>
                <a:spcPct val="30000"/>
              </a:spcBef>
              <a:buClr>
                <a:srgbClr val="660066"/>
              </a:buClr>
              <a:buNone/>
              <a:defRPr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(Grade IN(‘A’,’B’,’C’,’D’,’F’))</a:t>
            </a:r>
          </a:p>
          <a:p>
            <a:pPr marL="0" indent="0">
              <a:buNone/>
            </a:pP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11679934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solidFill>
                  <a:srgbClr val="C00000"/>
                </a:solidFill>
              </a:rPr>
              <a:t>Check Constraint 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atinLnBrk="1"/>
            <a:r>
              <a:rPr lang="en-US" dirty="0"/>
              <a:t>Creating a check constraint on a column</a:t>
            </a:r>
            <a:br>
              <a:rPr lang="en-US" dirty="0"/>
            </a:br>
            <a:endParaRPr lang="en-US" dirty="0"/>
          </a:p>
          <a:p>
            <a:pPr marL="457200" lvl="1" indent="0" latinLnBrk="1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CREATE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TABLE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</a:p>
          <a:p>
            <a:pPr marL="457200" lvl="1" indent="0" latinLnBrk="1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...</a:t>
            </a:r>
          </a:p>
          <a:p>
            <a:pPr marL="457200" lvl="1" indent="0" latinLnBrk="1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column_name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data_type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CHECK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(expression),</a:t>
            </a:r>
          </a:p>
          <a:p>
            <a:pPr marL="457200" lvl="1" indent="0" latinLnBrk="1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...</a:t>
            </a:r>
          </a:p>
          <a:p>
            <a:pPr marL="457200" lvl="1" indent="0" latinLnBrk="1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 marL="0" indent="0" latinLnBrk="1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</a:p>
          <a:p>
            <a:pPr marL="457200" lvl="1" indent="0" latinLnBrk="1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CREATE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TABLE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</a:p>
          <a:p>
            <a:pPr marL="457200" lvl="1" indent="0" latinLnBrk="1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 ...,</a:t>
            </a:r>
          </a:p>
          <a:p>
            <a:pPr marL="457200" lvl="1" indent="0" latinLnBrk="1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column_name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data_type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457200" lvl="1" indent="0" latinLnBrk="1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...,</a:t>
            </a:r>
          </a:p>
          <a:p>
            <a:pPr marL="457200" lvl="1" indent="0" latinLnBrk="1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CONSTRAINT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check_constraint_name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CHECK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expresssion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0" lvl="1" indent="0" latinLnBrk="1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latinLnBrk="1">
              <a:buNone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860823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solidFill>
                  <a:srgbClr val="C00000"/>
                </a:solidFill>
              </a:rPr>
              <a:t>Check Constraint</a:t>
            </a:r>
            <a:endParaRPr lang="en-CA" dirty="0">
              <a:solidFill>
                <a:srgbClr val="FF0000"/>
              </a:solidFill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65018" y="2453645"/>
            <a:ext cx="9458634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CREATE TABLE teams (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teamID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INT PRIMARY KEY,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teamName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VARCHAR(15) NOT NULL,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maxPlayers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INT DEFAULT 0,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shirtColor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VARCHAR(10),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 err="1">
                <a:latin typeface="Arial Unicode MS"/>
              </a:rPr>
              <a:t>f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ieldID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INT,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CONSTRAINT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maxPlayer_chk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CHECK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maxPlayers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BETWEEN 0 AND 25)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61210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solidFill>
                  <a:srgbClr val="C00000"/>
                </a:solidFill>
              </a:rPr>
              <a:t>Foreign Key Constraint</a:t>
            </a:r>
            <a:endParaRPr lang="en-CA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63781" y="2237969"/>
            <a:ext cx="576349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CREATE TABLE fields (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fieldID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INT</a:t>
            </a:r>
            <a:r>
              <a:rPr kumimoji="0" lang="en-US" altLang="en-US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PRIMARY KEY,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400" dirty="0">
                <a:latin typeface="Arial Unicode MS"/>
              </a:rPr>
              <a:t> fieldname varchar(15),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Address varchar(50),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Manager varchar(25)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11135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solidFill>
                  <a:srgbClr val="C00000"/>
                </a:solidFill>
              </a:rPr>
              <a:t>Foreign Key Constraint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5608" y="1552754"/>
            <a:ext cx="8595360" cy="4351337"/>
          </a:xfrm>
        </p:spPr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latin typeface="Arial Unicode MS"/>
              </a:rPr>
              <a:t>CREATE TABLE teams (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latin typeface="Arial Unicode MS"/>
              </a:rPr>
              <a:t> </a:t>
            </a:r>
            <a:r>
              <a:rPr lang="en-US" altLang="en-US" dirty="0" err="1">
                <a:latin typeface="Arial Unicode MS"/>
              </a:rPr>
              <a:t>teamID</a:t>
            </a:r>
            <a:r>
              <a:rPr lang="en-US" altLang="en-US" dirty="0">
                <a:latin typeface="Arial Unicode MS"/>
              </a:rPr>
              <a:t> INT PRIMARY KEY,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 err="1">
                <a:latin typeface="Arial Unicode MS"/>
              </a:rPr>
              <a:t>teamName</a:t>
            </a:r>
            <a:r>
              <a:rPr lang="en-US" altLang="en-US" dirty="0">
                <a:latin typeface="Arial Unicode MS"/>
              </a:rPr>
              <a:t> VARCHAR(15) NOT NULL,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 err="1">
                <a:latin typeface="Arial Unicode MS"/>
              </a:rPr>
              <a:t>maxPlayers</a:t>
            </a:r>
            <a:r>
              <a:rPr lang="en-US" altLang="en-US" dirty="0">
                <a:latin typeface="Arial Unicode MS"/>
              </a:rPr>
              <a:t> INT DEFAULT 0,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 err="1">
                <a:latin typeface="Arial Unicode MS"/>
              </a:rPr>
              <a:t>shirtColor</a:t>
            </a:r>
            <a:r>
              <a:rPr lang="en-US" altLang="en-US" dirty="0">
                <a:latin typeface="Arial Unicode MS"/>
              </a:rPr>
              <a:t> VARCHAR(10),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 err="1">
                <a:latin typeface="Arial Unicode MS"/>
              </a:rPr>
              <a:t>fieldID</a:t>
            </a:r>
            <a:r>
              <a:rPr lang="en-US" altLang="en-US" dirty="0">
                <a:latin typeface="Arial Unicode MS"/>
              </a:rPr>
              <a:t> INT,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latin typeface="Arial Unicode MS"/>
              </a:rPr>
              <a:t>CONSTRAINT </a:t>
            </a:r>
            <a:r>
              <a:rPr lang="en-US" altLang="en-US" dirty="0" err="1">
                <a:latin typeface="Arial Unicode MS"/>
              </a:rPr>
              <a:t>maxPlayer_chk</a:t>
            </a:r>
            <a:r>
              <a:rPr lang="en-US" altLang="en-US" dirty="0">
                <a:latin typeface="Arial Unicode MS"/>
              </a:rPr>
              <a:t> CHECK (</a:t>
            </a:r>
            <a:r>
              <a:rPr lang="en-US" altLang="en-US" dirty="0" err="1">
                <a:latin typeface="Arial Unicode MS"/>
              </a:rPr>
              <a:t>maxPlayers</a:t>
            </a:r>
            <a:r>
              <a:rPr lang="en-US" altLang="en-US" dirty="0">
                <a:latin typeface="Arial Unicode MS"/>
              </a:rPr>
              <a:t> BETWEEN 0 AND 25),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latin typeface="Arial Unicode MS"/>
              </a:rPr>
              <a:t>CONSTRAINT </a:t>
            </a:r>
            <a:r>
              <a:rPr lang="en-US" altLang="en-US" dirty="0" err="1">
                <a:latin typeface="Arial Unicode MS"/>
              </a:rPr>
              <a:t>team_field_fk</a:t>
            </a:r>
            <a:r>
              <a:rPr lang="en-US" altLang="en-US" dirty="0">
                <a:latin typeface="Arial Unicode MS"/>
              </a:rPr>
              <a:t> FOREIGN KEY (</a:t>
            </a:r>
            <a:r>
              <a:rPr lang="en-US" altLang="en-US" dirty="0" err="1">
                <a:latin typeface="Arial Unicode MS"/>
              </a:rPr>
              <a:t>fieldID</a:t>
            </a:r>
            <a:r>
              <a:rPr lang="en-US" altLang="en-US" dirty="0">
                <a:latin typeface="Arial Unicode MS"/>
              </a:rPr>
              <a:t>) REFERENCES fields(</a:t>
            </a:r>
            <a:r>
              <a:rPr lang="en-US" altLang="en-US" dirty="0" err="1">
                <a:latin typeface="Arial Unicode MS"/>
              </a:rPr>
              <a:t>fieldID</a:t>
            </a:r>
            <a:r>
              <a:rPr lang="en-US" altLang="en-US" dirty="0">
                <a:latin typeface="Arial Unicode MS"/>
              </a:rPr>
              <a:t>)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latin typeface="Arial Unicode MS"/>
              </a:rPr>
              <a:t>);</a:t>
            </a:r>
            <a:r>
              <a:rPr lang="en-US" altLang="en-US" dirty="0"/>
              <a:t> </a:t>
            </a:r>
            <a:endParaRPr lang="en-US" altLang="en-US" dirty="0">
              <a:latin typeface="Arial" panose="020B0604020202020204" pitchFamily="34" charset="0"/>
            </a:endParaRP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593095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Changing a Table Definition</a:t>
            </a:r>
            <a:endParaRPr lang="en-CA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r>
              <a:rPr lang="en-US" altLang="en-US" dirty="0"/>
              <a:t>Data Definition Language</a:t>
            </a:r>
          </a:p>
          <a:p>
            <a:pPr lvl="1">
              <a:spcBef>
                <a:spcPct val="0"/>
              </a:spcBef>
            </a:pPr>
            <a:r>
              <a:rPr lang="en-US" altLang="en-US" dirty="0"/>
              <a:t>Is used to create/update table definition.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18765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Alter a Table</a:t>
            </a:r>
            <a:endParaRPr lang="en-CA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spcBef>
                <a:spcPct val="30000"/>
              </a:spcBef>
            </a:pPr>
            <a:r>
              <a:rPr lang="en-US" altLang="en-US" sz="2400" b="1" dirty="0"/>
              <a:t>ALTER TABLE </a:t>
            </a:r>
          </a:p>
          <a:p>
            <a:pPr lvl="1">
              <a:spcBef>
                <a:spcPct val="30000"/>
              </a:spcBef>
            </a:pPr>
            <a:r>
              <a:rPr lang="en-US" altLang="en-US" sz="2000" dirty="0"/>
              <a:t>Used to update a database definition</a:t>
            </a:r>
          </a:p>
          <a:p>
            <a:pPr>
              <a:spcBef>
                <a:spcPct val="30000"/>
              </a:spcBef>
            </a:pPr>
            <a:r>
              <a:rPr lang="en-US" altLang="en-US" sz="2400" b="1" dirty="0"/>
              <a:t>Syntax</a:t>
            </a:r>
            <a:r>
              <a:rPr lang="en-US" altLang="en-US" sz="2400" dirty="0"/>
              <a:t> </a:t>
            </a:r>
          </a:p>
          <a:p>
            <a:pPr marL="457200" lvl="1" indent="0">
              <a:spcBef>
                <a:spcPct val="30000"/>
              </a:spcBef>
              <a:buNone/>
            </a:pPr>
            <a:r>
              <a:rPr lang="en-CA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ALTER TABLE</a:t>
            </a: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action;</a:t>
            </a:r>
          </a:p>
          <a:p>
            <a:pPr>
              <a:spcBef>
                <a:spcPct val="30000"/>
              </a:spcBef>
            </a:pPr>
            <a:r>
              <a:rPr lang="en-US" altLang="en-US" sz="2600" dirty="0"/>
              <a:t>ALTER TABLE is used to modify a table specification, such as:</a:t>
            </a:r>
          </a:p>
          <a:p>
            <a:pPr lvl="1">
              <a:spcBef>
                <a:spcPct val="30000"/>
              </a:spcBef>
            </a:pPr>
            <a:r>
              <a:rPr lang="en-US" altLang="en-US" sz="2000" dirty="0"/>
              <a:t>Add column/columns</a:t>
            </a:r>
          </a:p>
          <a:p>
            <a:pPr lvl="1">
              <a:spcBef>
                <a:spcPct val="30000"/>
              </a:spcBef>
            </a:pPr>
            <a:r>
              <a:rPr lang="en-US" altLang="en-US" sz="2000" dirty="0"/>
              <a:t>Modify a column/attribute</a:t>
            </a:r>
          </a:p>
          <a:p>
            <a:pPr lvl="1">
              <a:spcBef>
                <a:spcPct val="30000"/>
              </a:spcBef>
            </a:pPr>
            <a:r>
              <a:rPr lang="en-US" altLang="en-US" sz="2000" dirty="0"/>
              <a:t>Drop a column</a:t>
            </a:r>
          </a:p>
          <a:p>
            <a:pPr lvl="1">
              <a:spcBef>
                <a:spcPct val="30000"/>
              </a:spcBef>
            </a:pPr>
            <a:r>
              <a:rPr lang="en-US" altLang="en-US" sz="2000" dirty="0"/>
              <a:t>Add a constraint</a:t>
            </a:r>
          </a:p>
          <a:p>
            <a:pPr lvl="1">
              <a:spcBef>
                <a:spcPct val="30000"/>
              </a:spcBef>
            </a:pPr>
            <a:r>
              <a:rPr lang="en-US" altLang="en-US" sz="2000" dirty="0"/>
              <a:t>Drop a constraint</a:t>
            </a:r>
          </a:p>
          <a:p>
            <a:pPr lvl="1">
              <a:spcBef>
                <a:spcPct val="30000"/>
              </a:spcBef>
            </a:pPr>
            <a:r>
              <a:rPr lang="en-US" altLang="en-US" sz="2000" dirty="0"/>
              <a:t>Rename table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653017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Add a Column</a:t>
            </a:r>
            <a:endParaRPr lang="en-CA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atinLnBrk="1"/>
            <a:r>
              <a:rPr lang="en-US" dirty="0"/>
              <a:t>To add a column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ALTER TABLE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latinLnBrk="1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column_name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type constraint;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atinLnBrk="1"/>
            <a:r>
              <a:rPr lang="en-US" dirty="0"/>
              <a:t>To add Multiple Columns</a:t>
            </a:r>
            <a:br>
              <a:rPr lang="en-US" dirty="0"/>
            </a:br>
            <a:br>
              <a:rPr lang="en-US" dirty="0"/>
            </a:b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ALTER TABLE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 latinLnBrk="1">
              <a:buNone/>
            </a:pP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</a:p>
          <a:p>
            <a:pPr marL="457200" lvl="1" indent="0" latinLnBrk="1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column_name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type constraint,</a:t>
            </a:r>
          </a:p>
          <a:p>
            <a:pPr marL="457200" lvl="1" indent="0" latinLnBrk="1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column_name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type constraint,</a:t>
            </a:r>
          </a:p>
          <a:p>
            <a:pPr marL="457200" lvl="1" indent="0" latinLnBrk="1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...</a:t>
            </a:r>
          </a:p>
          <a:p>
            <a:pPr marL="457200" lvl="1" indent="0" latinLnBrk="1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latinLnBrk="1"/>
            <a:endParaRPr lang="en-US" dirty="0"/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543664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Modify a Column</a:t>
            </a:r>
            <a:endParaRPr lang="en-CA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Modify a Column</a:t>
            </a:r>
            <a:br>
              <a:rPr lang="en-US" dirty="0"/>
            </a:br>
            <a:endParaRPr lang="en-US" dirty="0"/>
          </a:p>
          <a:p>
            <a:pPr marL="457200" lvl="1" indent="0" latinLnBrk="1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ALTER TABLE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 latinLnBrk="1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MODIFY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column_name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type constraint;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atinLnBrk="1"/>
            <a:r>
              <a:rPr lang="en-US" dirty="0"/>
              <a:t>Modify multiple columns</a:t>
            </a:r>
            <a:br>
              <a:rPr lang="en-US" dirty="0"/>
            </a:br>
            <a:endParaRPr lang="en-US" dirty="0"/>
          </a:p>
          <a:p>
            <a:pPr marL="0" indent="0" latinLnBrk="1">
              <a:buNone/>
            </a:pPr>
            <a:r>
              <a:rPr lang="en-CA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CA" sz="24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ALTER TABLE</a:t>
            </a:r>
            <a:r>
              <a:rPr lang="en-CA" sz="24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endParaRPr lang="en-CA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latinLnBrk="1">
              <a:buNone/>
            </a:pP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 </a:t>
            </a:r>
            <a:r>
              <a:rPr lang="en-CA" sz="24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MODIFY</a:t>
            </a: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( column_1 type constraint,</a:t>
            </a:r>
          </a:p>
          <a:p>
            <a:pPr marL="0" indent="0" latinLnBrk="1">
              <a:buNone/>
            </a:pP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        column_2 type constraint,</a:t>
            </a:r>
          </a:p>
          <a:p>
            <a:pPr marL="0" indent="0" latinLnBrk="1">
              <a:buNone/>
            </a:pP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     	...);</a:t>
            </a:r>
          </a:p>
          <a:p>
            <a:pPr marL="0" indent="0" latinLnBrk="1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766868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solidFill>
                  <a:srgbClr val="C00000"/>
                </a:solidFill>
              </a:rPr>
              <a:t>Rename a Column/Table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rename a column</a:t>
            </a:r>
            <a:br>
              <a:rPr lang="en-US" dirty="0"/>
            </a:br>
            <a:endParaRPr lang="en-US" dirty="0"/>
          </a:p>
          <a:p>
            <a:pPr marL="457200" lvl="1" indent="0">
              <a:buNone/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ALTER TABLE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RENAME COLUMN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old_name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TO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new_name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Rename a table:</a:t>
            </a:r>
            <a:br>
              <a:rPr lang="en-US" dirty="0"/>
            </a:br>
            <a:endParaRPr lang="en-US" dirty="0"/>
          </a:p>
          <a:p>
            <a:pPr marL="457200" lvl="1" indent="0">
              <a:buNone/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ALTER TABLE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RENAME TO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new_table_name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52120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Remove a Column</a:t>
            </a:r>
            <a:endParaRPr lang="en-CA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1"/>
            <a:r>
              <a:rPr lang="en-US" dirty="0"/>
              <a:t>To remove a column</a:t>
            </a:r>
            <a:br>
              <a:rPr lang="en-US" dirty="0"/>
            </a:br>
            <a:endParaRPr lang="en-US" dirty="0"/>
          </a:p>
          <a:p>
            <a:pPr marL="457200" lvl="1" indent="0" latinLnBrk="1">
              <a:buNone/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ALTER TABLE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457200" lvl="1" indent="0" latinLnBrk="1">
              <a:buNone/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DROP COLUMN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column_name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atinLnBrk="1"/>
            <a:r>
              <a:rPr lang="en-US" dirty="0"/>
              <a:t>To remove multiple column</a:t>
            </a:r>
            <a:br>
              <a:rPr lang="en-US" dirty="0"/>
            </a:br>
            <a:endParaRPr lang="en-US" dirty="0"/>
          </a:p>
          <a:p>
            <a:pPr marL="457200" lvl="1" indent="0" latinLnBrk="1">
              <a:buNone/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ALTER TABLE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 latinLnBrk="1">
              <a:buNone/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DROP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</a:p>
          <a:p>
            <a:pPr marL="457200" lvl="1" indent="0" latinLnBrk="1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   column_name_1,</a:t>
            </a:r>
          </a:p>
          <a:p>
            <a:pPr marL="457200" lvl="1" indent="0" latinLnBrk="1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   column_name_2</a:t>
            </a:r>
          </a:p>
          <a:p>
            <a:pPr marL="457200" lvl="1" indent="0" latinLnBrk="1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latinLnBrk="1"/>
            <a:endParaRPr lang="en-US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445413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Add Constraints</a:t>
            </a:r>
            <a:endParaRPr lang="en-CA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add a primary key constraint to an existing table</a:t>
            </a:r>
            <a:br>
              <a:rPr lang="en-US" dirty="0"/>
            </a:br>
            <a:endParaRPr lang="en-US" dirty="0"/>
          </a:p>
          <a:p>
            <a:pPr marL="457200" lvl="1" indent="0">
              <a:buNone/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ALTER TABLE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 CONSTRAINT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constraint_name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PRIMARY KEY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(column1, column2, ...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column_n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dirty="0"/>
              <a:t>Add a unique constraint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CA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ALTER TABLE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457200" lvl="1" indent="0">
              <a:buNone/>
            </a:pPr>
            <a:r>
              <a:rPr lang="en-CA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 CONSTRAINT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constraint_name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457200" lvl="1" indent="0">
              <a:buNone/>
            </a:pPr>
            <a:r>
              <a:rPr lang="en-CA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UNIQUE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(column1, column2, ...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column_n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9121117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Add Constraints (Continued)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Add a check constraint</a:t>
            </a:r>
            <a:br>
              <a:rPr lang="en-US" dirty="0"/>
            </a:br>
            <a:endParaRPr lang="en-US" dirty="0"/>
          </a:p>
          <a:p>
            <a:pPr marL="457200" lvl="1" indent="0">
              <a:buNone/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ALTER TABLE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 CONSTRAINT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constraint_name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CHECK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column_name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condition);</a:t>
            </a:r>
          </a:p>
          <a:p>
            <a:pPr lvl="1"/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Add a foreign key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ALTER TABLE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 CONSTRAINT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constraint_name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FOREIGN KEY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(column) 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REFERENCES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parent_table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(column);</a:t>
            </a:r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19240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2333" y="-1778001"/>
            <a:ext cx="5832178" cy="499533"/>
          </a:xfrm>
        </p:spPr>
        <p:txBody>
          <a:bodyPr>
            <a:normAutofit fontScale="90000"/>
          </a:bodyPr>
          <a:lstStyle/>
          <a:p>
            <a:endParaRPr lang="en-CA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684867" y="2159169"/>
            <a:ext cx="5850467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ALTER TABLE players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 ADD CONSTRAINT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player_teams_fk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   FOREIGN KEY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teamID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     REFERENCES teams(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teamID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838200" y="489291"/>
            <a:ext cx="11353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latin typeface="Arial Unicode MS"/>
              </a:rPr>
              <a:t>     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ALTER TABLE players ADD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date_of_birth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DATE;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58003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Remove a Constraint</a:t>
            </a:r>
            <a:endParaRPr lang="en-CA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remove a constraint</a:t>
            </a:r>
            <a:br>
              <a:rPr lang="en-US" dirty="0"/>
            </a:br>
            <a:endParaRPr lang="en-US" dirty="0"/>
          </a:p>
          <a:p>
            <a:pPr marL="457200" lvl="1" indent="0">
              <a:buNone/>
            </a:pPr>
            <a:r>
              <a:rPr lang="en-CA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ALTER TABLE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457200" lvl="1" indent="0">
              <a:buNone/>
            </a:pPr>
            <a:r>
              <a:rPr lang="en-CA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DROP CONSTRAINT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constraint_name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4031802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b="1" dirty="0">
                <a:solidFill>
                  <a:srgbClr val="C00000"/>
                </a:solidFill>
              </a:rPr>
              <a:t>Remove a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To remove a database object </a:t>
            </a:r>
          </a:p>
          <a:p>
            <a:pPr marL="0" indent="0">
              <a:buNone/>
            </a:pPr>
            <a:r>
              <a:rPr lang="en-CA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DROP </a:t>
            </a:r>
            <a:r>
              <a:rPr lang="en-CA" sz="24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Object_type</a:t>
            </a: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object_name</a:t>
            </a: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CA" sz="2400" dirty="0"/>
              <a:t>To </a:t>
            </a:r>
            <a:r>
              <a:rPr lang="en-CA" sz="2400" dirty="0" err="1"/>
              <a:t>deop</a:t>
            </a:r>
            <a:r>
              <a:rPr lang="en-CA" sz="2400" dirty="0"/>
              <a:t> a table</a:t>
            </a:r>
          </a:p>
          <a:p>
            <a:pPr marL="0" indent="0">
              <a:buNone/>
            </a:pPr>
            <a:r>
              <a:rPr lang="en-CA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DROP table</a:t>
            </a: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en-CA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5449542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>
                <a:solidFill>
                  <a:srgbClr val="C00000"/>
                </a:solidFill>
              </a:rPr>
              <a:t>Import</a:t>
            </a:r>
            <a:r>
              <a:rPr lang="en-CA" dirty="0"/>
              <a:t> </a:t>
            </a:r>
            <a:r>
              <a:rPr lang="en-CA" dirty="0">
                <a:solidFill>
                  <a:srgbClr val="C00000"/>
                </a:solidFill>
              </a:rPr>
              <a:t>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30000"/>
              </a:spcBef>
            </a:pPr>
            <a:r>
              <a:rPr lang="en-US" altLang="en-US" dirty="0"/>
              <a:t>It is possible to insert data into a table from another table. </a:t>
            </a:r>
          </a:p>
          <a:p>
            <a:pPr>
              <a:spcBef>
                <a:spcPct val="30000"/>
              </a:spcBef>
            </a:pPr>
            <a:r>
              <a:rPr lang="en-US" altLang="en-US" dirty="0"/>
              <a:t>The data from a table can be copied to another table as a backup. </a:t>
            </a:r>
          </a:p>
          <a:p>
            <a:pPr>
              <a:spcBef>
                <a:spcPct val="30000"/>
              </a:spcBef>
            </a:pPr>
            <a:r>
              <a:rPr lang="en-US" altLang="en-US" dirty="0"/>
              <a:t>Caution: constraints are not carried from original table to new table; they would need to be added individually to the new table via Alter Table statement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046711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C00000"/>
                </a:solidFill>
              </a:rPr>
              <a:t>How to copy data into a table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1"/>
            <a:r>
              <a:rPr lang="en-US" dirty="0"/>
              <a:t>Syntax</a:t>
            </a:r>
          </a:p>
          <a:p>
            <a:pPr marL="457200" lvl="1" indent="0" latinLnBrk="1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INSERT INTO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target_table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(column1, column2, …)</a:t>
            </a:r>
          </a:p>
          <a:p>
            <a:pPr marL="457200" lvl="1" indent="0" latinLnBrk="1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column1,</a:t>
            </a:r>
          </a:p>
          <a:p>
            <a:pPr marL="457200" lvl="1" indent="0" latinLnBrk="1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      column2,</a:t>
            </a:r>
          </a:p>
          <a:p>
            <a:pPr marL="457200" lvl="1" indent="0" latinLnBrk="1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…</a:t>
            </a:r>
          </a:p>
          <a:p>
            <a:pPr marL="457200" lvl="1" indent="0" latinLnBrk="1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source_table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 latinLnBrk="1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[WHERE conditions];</a:t>
            </a:r>
          </a:p>
          <a:p>
            <a:pPr marL="457200" lvl="1" indent="0" latinLnBrk="1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To copy rows into a table INSERT and SELECT statements, the value of every required (NOT NULL) column must be provided.</a:t>
            </a:r>
          </a:p>
          <a:p>
            <a:r>
              <a:rPr lang="en-US" dirty="0"/>
              <a:t>If a column value is not required, the column do not have to be included in the insert statement.  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457731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C00000"/>
                </a:solidFill>
              </a:rPr>
              <a:t>How to copy data into a table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30000"/>
              </a:spcBef>
            </a:pPr>
            <a:r>
              <a:rPr lang="en-US" altLang="en-US" dirty="0"/>
              <a:t>Three step process:</a:t>
            </a:r>
          </a:p>
          <a:p>
            <a:pPr lvl="1">
              <a:spcBef>
                <a:spcPct val="30000"/>
              </a:spcBef>
            </a:pPr>
            <a:r>
              <a:rPr lang="en-US" altLang="en-US" dirty="0"/>
              <a:t>Create a table with the same definition as an existing table</a:t>
            </a:r>
          </a:p>
          <a:p>
            <a:pPr lvl="1">
              <a:spcBef>
                <a:spcPct val="30000"/>
              </a:spcBef>
            </a:pPr>
            <a:r>
              <a:rPr lang="en-US" altLang="en-US" dirty="0"/>
              <a:t>Modify the new empty table definition to add appropriate constraints</a:t>
            </a:r>
          </a:p>
          <a:p>
            <a:pPr lvl="1">
              <a:spcBef>
                <a:spcPct val="30000"/>
              </a:spcBef>
            </a:pPr>
            <a:r>
              <a:rPr lang="en-US" altLang="en-US" dirty="0"/>
              <a:t>Copy the data into the new table from the old table.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525756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Create Table and Copy Data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create a table by copying all columns from another table with data:</a:t>
            </a:r>
            <a:br>
              <a:rPr lang="en-US" dirty="0"/>
            </a:br>
            <a:endParaRPr lang="en-US" dirty="0"/>
          </a:p>
          <a:p>
            <a:pPr marL="4572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CREATE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TABLE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new_table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old_table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457200" lvl="1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The above statement creates a new table exactly the same as the old one and copies all data from the old table to the new one. 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6181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Create Table and Copy Data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create a table from another one just by including some of the columns in your select statement:</a:t>
            </a:r>
            <a:br>
              <a:rPr lang="en-US" dirty="0"/>
            </a:br>
            <a:endParaRPr lang="en-US" dirty="0"/>
          </a:p>
          <a:p>
            <a:pPr marL="457200" lvl="1" indent="0">
              <a:buNone/>
            </a:pPr>
            <a:r>
              <a:rPr lang="en-US" dirty="0"/>
              <a:t>CREATE TABLE </a:t>
            </a:r>
            <a:r>
              <a:rPr lang="en-US" dirty="0" err="1"/>
              <a:t>new_table</a:t>
            </a:r>
            <a:r>
              <a:rPr lang="en-US" dirty="0"/>
              <a:t> AS </a:t>
            </a:r>
          </a:p>
          <a:p>
            <a:pPr marL="457200" lvl="1" indent="0">
              <a:buNone/>
            </a:pPr>
            <a:r>
              <a:rPr lang="en-US" dirty="0"/>
              <a:t>(SELECT column_1, </a:t>
            </a:r>
          </a:p>
          <a:p>
            <a:pPr marL="457200" lvl="1" indent="0">
              <a:buNone/>
            </a:pPr>
            <a:r>
              <a:rPr lang="en-US" dirty="0"/>
              <a:t>	         column_2, </a:t>
            </a:r>
          </a:p>
          <a:p>
            <a:pPr marL="457200" lvl="1" indent="0">
              <a:buNone/>
            </a:pPr>
            <a:r>
              <a:rPr lang="en-US" dirty="0"/>
              <a:t>                ... </a:t>
            </a:r>
          </a:p>
          <a:p>
            <a:pPr marL="457200" lvl="1" indent="0">
              <a:buNone/>
            </a:pPr>
            <a:r>
              <a:rPr lang="en-US" dirty="0"/>
              <a:t>                </a:t>
            </a:r>
            <a:r>
              <a:rPr lang="en-US" dirty="0" err="1"/>
              <a:t>column_n</a:t>
            </a:r>
            <a:r>
              <a:rPr lang="en-US" dirty="0"/>
              <a:t> </a:t>
            </a:r>
          </a:p>
          <a:p>
            <a:pPr marL="457200" lvl="1" indent="0">
              <a:buNone/>
            </a:pPr>
            <a:r>
              <a:rPr lang="en-US" dirty="0"/>
              <a:t>FROM </a:t>
            </a:r>
            <a:r>
              <a:rPr lang="en-US" dirty="0" err="1"/>
              <a:t>old_table</a:t>
            </a:r>
            <a:r>
              <a:rPr lang="en-US" dirty="0"/>
              <a:t>);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437969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Create Table and Copy Data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create a table by copying columns from multiple tables:</a:t>
            </a:r>
            <a:br>
              <a:rPr lang="en-US" dirty="0"/>
            </a:br>
            <a:endParaRPr lang="en-US" dirty="0"/>
          </a:p>
          <a:p>
            <a:pPr marL="4572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CREATE TABLE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new_table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column_1, column2, ...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column_n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4572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FROM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old_table_1, old_table_2, ...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old_table_n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conditions]);</a:t>
            </a:r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8459789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Custom 2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FF0000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1418</TotalTime>
  <Words>1903</Words>
  <Application>Microsoft Office PowerPoint</Application>
  <PresentationFormat>Widescreen</PresentationFormat>
  <Paragraphs>375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 Unicode MS</vt:lpstr>
      <vt:lpstr>Arial</vt:lpstr>
      <vt:lpstr>Century Schoolbook</vt:lpstr>
      <vt:lpstr>Courier New</vt:lpstr>
      <vt:lpstr>Wingdings</vt:lpstr>
      <vt:lpstr>Wingdings 2</vt:lpstr>
      <vt:lpstr>View</vt:lpstr>
      <vt:lpstr>SQL  Data Definition Language DDL</vt:lpstr>
      <vt:lpstr>Agenda</vt:lpstr>
      <vt:lpstr>DDL</vt:lpstr>
      <vt:lpstr>Create a Table</vt:lpstr>
      <vt:lpstr>Basic Data Types</vt:lpstr>
      <vt:lpstr>Constraints</vt:lpstr>
      <vt:lpstr>More Constraints</vt:lpstr>
      <vt:lpstr>Table Definition</vt:lpstr>
      <vt:lpstr>Creating Tables in SQL</vt:lpstr>
      <vt:lpstr>Creating Table Players</vt:lpstr>
      <vt:lpstr>Default Value</vt:lpstr>
      <vt:lpstr>Constraints</vt:lpstr>
      <vt:lpstr>Primary Key Constraint</vt:lpstr>
      <vt:lpstr>Primary Key Constraint (Continued)</vt:lpstr>
      <vt:lpstr>Not Null Constraint</vt:lpstr>
      <vt:lpstr>Unique Constraint</vt:lpstr>
      <vt:lpstr>Unique Constraint (Continued)</vt:lpstr>
      <vt:lpstr>Check Constraint</vt:lpstr>
      <vt:lpstr>Check Constraint </vt:lpstr>
      <vt:lpstr>Check Constraint</vt:lpstr>
      <vt:lpstr>Foreign Key Constraint</vt:lpstr>
      <vt:lpstr>Foreign Key Constraint</vt:lpstr>
      <vt:lpstr>Changing a Table Definition</vt:lpstr>
      <vt:lpstr>Alter a Table</vt:lpstr>
      <vt:lpstr>Add a Column</vt:lpstr>
      <vt:lpstr>Modify a Column</vt:lpstr>
      <vt:lpstr>Rename a Column/Table</vt:lpstr>
      <vt:lpstr>Remove a Column</vt:lpstr>
      <vt:lpstr>Add Constraints</vt:lpstr>
      <vt:lpstr>Add Constraints (Continued)</vt:lpstr>
      <vt:lpstr>PowerPoint Presentation</vt:lpstr>
      <vt:lpstr>Remove a Constraint</vt:lpstr>
      <vt:lpstr>Remove a Table</vt:lpstr>
      <vt:lpstr>Import Data</vt:lpstr>
      <vt:lpstr>How to copy data into a table</vt:lpstr>
      <vt:lpstr>How to copy data into a table</vt:lpstr>
      <vt:lpstr>Create Table and Copy Data</vt:lpstr>
      <vt:lpstr>Create Table and Copy Data</vt:lpstr>
      <vt:lpstr>Create Table and Copy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Relational Model</dc:title>
  <dc:creator>Nasim</dc:creator>
  <cp:lastModifiedBy>Lydia Li</cp:lastModifiedBy>
  <cp:revision>87</cp:revision>
  <dcterms:created xsi:type="dcterms:W3CDTF">2019-07-08T23:01:59Z</dcterms:created>
  <dcterms:modified xsi:type="dcterms:W3CDTF">2023-09-19T21:09:32Z</dcterms:modified>
</cp:coreProperties>
</file>