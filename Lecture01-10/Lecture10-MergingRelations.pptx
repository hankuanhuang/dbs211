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784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8409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756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578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918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617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284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2255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059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170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016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5869D-F5C1-4115-A7AC-A82924216FD7}" type="datetimeFigureOut">
              <a:rPr lang="en-CA" smtClean="0"/>
              <a:t>2023-03-22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5533F-F4CA-4CA7-9EF9-40AF2486460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85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7964"/>
            <a:ext cx="10607963" cy="1745673"/>
          </a:xfrm>
        </p:spPr>
        <p:txBody>
          <a:bodyPr>
            <a:noAutofit/>
          </a:bodyPr>
          <a:lstStyle/>
          <a:p>
            <a:r>
              <a:rPr lang="en-US" sz="6600" dirty="0"/>
              <a:t>User Views and Merging Relations</a:t>
            </a:r>
            <a:endParaRPr lang="en-CA" sz="6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4000" dirty="0" smtClean="0"/>
              <a:t>Lecture 10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246593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 smtClean="0"/>
              <a:t>Do not overstep normalization rules</a:t>
            </a:r>
            <a:endParaRPr lang="en-CA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 smtClean="0"/>
              <a:t>1NF:</a:t>
            </a:r>
          </a:p>
          <a:p>
            <a:pPr marL="457200" lvl="1" indent="0">
              <a:buNone/>
            </a:pPr>
            <a:r>
              <a:rPr lang="en-US" sz="2000" b="1" dirty="0" smtClean="0"/>
              <a:t>Order</a:t>
            </a:r>
            <a:r>
              <a:rPr lang="en-US" sz="2000" dirty="0" smtClean="0"/>
              <a:t> </a:t>
            </a:r>
            <a:r>
              <a:rPr lang="en-US" sz="2000" dirty="0"/>
              <a:t>[</a:t>
            </a:r>
            <a:r>
              <a:rPr lang="en-US" sz="2000" u="sng" dirty="0" err="1"/>
              <a:t>OrderNo</a:t>
            </a:r>
            <a:r>
              <a:rPr lang="en-US" sz="2000" dirty="0"/>
              <a:t>, </a:t>
            </a:r>
            <a:r>
              <a:rPr lang="en-US" sz="2000" u="sng" dirty="0"/>
              <a:t>, </a:t>
            </a:r>
            <a:r>
              <a:rPr lang="en-US" sz="2000" u="sng" dirty="0" err="1"/>
              <a:t>PartNo</a:t>
            </a:r>
            <a:r>
              <a:rPr lang="en-US" sz="2000" dirty="0"/>
              <a:t>, </a:t>
            </a:r>
            <a:r>
              <a:rPr lang="en-US" sz="2000" dirty="0" err="1"/>
              <a:t>Orderdate</a:t>
            </a:r>
            <a:r>
              <a:rPr lang="en-US" sz="2000" dirty="0"/>
              <a:t>, </a:t>
            </a:r>
            <a:r>
              <a:rPr lang="en-US" sz="2000" dirty="0" err="1"/>
              <a:t>CustNo</a:t>
            </a:r>
            <a:r>
              <a:rPr lang="en-US" sz="2000" dirty="0"/>
              <a:t>, </a:t>
            </a:r>
            <a:r>
              <a:rPr lang="en-US" sz="2000" dirty="0" err="1" smtClean="0"/>
              <a:t>CustLname,PartDesc,QtyOrd</a:t>
            </a:r>
            <a:r>
              <a:rPr lang="en-US" sz="2000" dirty="0"/>
              <a:t>, Price)]</a:t>
            </a:r>
          </a:p>
          <a:p>
            <a:r>
              <a:rPr lang="en-US" sz="2600" dirty="0"/>
              <a:t>Going from 1NF to 2NF does not give us a</a:t>
            </a:r>
          </a:p>
          <a:p>
            <a:pPr marL="457200" lvl="1" indent="0">
              <a:buNone/>
            </a:pPr>
            <a:r>
              <a:rPr lang="en-US" sz="2600" b="1" dirty="0"/>
              <a:t>Customer</a:t>
            </a:r>
            <a:r>
              <a:rPr lang="en-US" sz="2600" dirty="0"/>
              <a:t>[</a:t>
            </a:r>
            <a:r>
              <a:rPr lang="en-US" sz="2600" u="sng" dirty="0" err="1"/>
              <a:t>CustNo</a:t>
            </a:r>
            <a:r>
              <a:rPr lang="en-US" sz="2600" dirty="0"/>
              <a:t>, </a:t>
            </a:r>
            <a:r>
              <a:rPr lang="en-US" sz="2600" dirty="0" err="1"/>
              <a:t>CustLname</a:t>
            </a:r>
            <a:r>
              <a:rPr lang="en-US" sz="2600" dirty="0"/>
              <a:t>]</a:t>
            </a:r>
          </a:p>
          <a:p>
            <a:r>
              <a:rPr lang="en-US" sz="2600" dirty="0"/>
              <a:t>The non key value determining a non key value is handled </a:t>
            </a:r>
            <a:endParaRPr lang="en-US" sz="2600" dirty="0" smtClean="0"/>
          </a:p>
          <a:p>
            <a:pPr lvl="1"/>
            <a:r>
              <a:rPr lang="en-US" sz="2600" dirty="0" smtClean="0"/>
              <a:t>when Going </a:t>
            </a:r>
            <a:r>
              <a:rPr lang="en-US" sz="2600" dirty="0"/>
              <a:t>from 2NF to 3NF</a:t>
            </a:r>
          </a:p>
          <a:p>
            <a:endParaRPr lang="en-US" dirty="0"/>
          </a:p>
          <a:p>
            <a:r>
              <a:rPr lang="en-US" sz="2600" dirty="0"/>
              <a:t>We should not lose any attributes, relations or composite keys </a:t>
            </a:r>
          </a:p>
          <a:p>
            <a:pPr lvl="1"/>
            <a:r>
              <a:rPr lang="en-US" sz="2600" dirty="0"/>
              <a:t>when going from 1NF to 2NF to </a:t>
            </a:r>
            <a:r>
              <a:rPr lang="en-US" sz="2600" dirty="0" smtClean="0"/>
              <a:t>3NF</a:t>
            </a:r>
            <a:endParaRPr lang="en-US" dirty="0"/>
          </a:p>
          <a:p>
            <a:r>
              <a:rPr lang="en-US" sz="2300" b="1" dirty="0"/>
              <a:t>Only apply the normalization rules as written. </a:t>
            </a:r>
          </a:p>
          <a:p>
            <a:r>
              <a:rPr lang="en-US" sz="2300" dirty="0"/>
              <a:t>When we reach the merge stage we will get rid of </a:t>
            </a:r>
            <a:r>
              <a:rPr lang="en-US" sz="2300" i="1" dirty="0" smtClean="0"/>
              <a:t>repeated</a:t>
            </a:r>
            <a:r>
              <a:rPr lang="en-US" sz="2300" dirty="0" smtClean="0"/>
              <a:t> </a:t>
            </a:r>
            <a:r>
              <a:rPr lang="en-US" sz="2300" dirty="0"/>
              <a:t>attributes and reduce composite keys if possible.</a:t>
            </a:r>
            <a:endParaRPr lang="en-GB" sz="23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6672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Merging Relations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/>
            <a:r>
              <a:rPr lang="en-GB" dirty="0"/>
              <a:t>1A CUSTOMER[ </a:t>
            </a:r>
            <a:r>
              <a:rPr lang="en-GB" u="sng" dirty="0" err="1"/>
              <a:t>CustNo</a:t>
            </a:r>
            <a:r>
              <a:rPr lang="en-GB" dirty="0"/>
              <a:t>, </a:t>
            </a:r>
            <a:r>
              <a:rPr lang="en-GB" dirty="0" err="1"/>
              <a:t>CustName</a:t>
            </a:r>
            <a:r>
              <a:rPr lang="en-GB" dirty="0"/>
              <a:t>, </a:t>
            </a:r>
            <a:r>
              <a:rPr lang="en-GB" dirty="0" err="1"/>
              <a:t>CustStreet</a:t>
            </a:r>
            <a:r>
              <a:rPr lang="en-GB" dirty="0"/>
              <a:t>, </a:t>
            </a:r>
            <a:r>
              <a:rPr lang="en-GB" dirty="0" err="1"/>
              <a:t>CustZip</a:t>
            </a:r>
            <a:r>
              <a:rPr lang="en-GB" dirty="0"/>
              <a:t>, </a:t>
            </a:r>
            <a:r>
              <a:rPr lang="en-GB" dirty="0" err="1"/>
              <a:t>CustRep</a:t>
            </a:r>
            <a:r>
              <a:rPr lang="en-GB" dirty="0"/>
              <a:t> ]</a:t>
            </a:r>
          </a:p>
          <a:p>
            <a:pPr marL="342900" indent="-342900"/>
            <a:r>
              <a:rPr lang="en-GB" dirty="0"/>
              <a:t>1B </a:t>
            </a:r>
            <a:r>
              <a:rPr lang="en-GB" dirty="0" err="1"/>
              <a:t>ZipCode</a:t>
            </a:r>
            <a:r>
              <a:rPr lang="en-GB" dirty="0"/>
              <a:t>[</a:t>
            </a:r>
            <a:r>
              <a:rPr lang="en-GB" u="sng" dirty="0" err="1"/>
              <a:t>CustZip</a:t>
            </a:r>
            <a:r>
              <a:rPr lang="en-GB" dirty="0"/>
              <a:t>, </a:t>
            </a:r>
            <a:r>
              <a:rPr lang="en-GB" dirty="0" err="1"/>
              <a:t>CustCity</a:t>
            </a:r>
            <a:r>
              <a:rPr lang="en-GB" dirty="0"/>
              <a:t>, </a:t>
            </a:r>
            <a:r>
              <a:rPr lang="en-GB" dirty="0" err="1"/>
              <a:t>CustSt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 smtClean="0"/>
              <a:t>2A </a:t>
            </a:r>
            <a:r>
              <a:rPr lang="en-GB" dirty="0"/>
              <a:t>PART[ </a:t>
            </a:r>
            <a:r>
              <a:rPr lang="en-GB" u="sng" dirty="0" err="1"/>
              <a:t>PartNo</a:t>
            </a:r>
            <a:r>
              <a:rPr lang="en-GB" u="sng" dirty="0"/>
              <a:t>,</a:t>
            </a:r>
            <a:r>
              <a:rPr lang="en-GB" dirty="0"/>
              <a:t>  </a:t>
            </a:r>
            <a:r>
              <a:rPr lang="en-GB" dirty="0" err="1"/>
              <a:t>PartDescr</a:t>
            </a:r>
            <a:r>
              <a:rPr lang="en-GB" dirty="0"/>
              <a:t>, </a:t>
            </a:r>
            <a:r>
              <a:rPr lang="en-GB" dirty="0" err="1"/>
              <a:t>QtyOnHand</a:t>
            </a:r>
            <a:r>
              <a:rPr lang="en-GB" dirty="0"/>
              <a:t>, Class, </a:t>
            </a:r>
            <a:r>
              <a:rPr lang="en-GB" dirty="0" err="1"/>
              <a:t>Whse</a:t>
            </a:r>
            <a:r>
              <a:rPr lang="en-GB" dirty="0"/>
              <a:t>, Price]</a:t>
            </a:r>
          </a:p>
          <a:p>
            <a:pPr marL="342900" indent="-342900"/>
            <a:r>
              <a:rPr lang="en-GB" dirty="0"/>
              <a:t>3A CUSTOMER[</a:t>
            </a:r>
            <a:r>
              <a:rPr lang="en-GB" u="sng" dirty="0" err="1"/>
              <a:t>CustNo</a:t>
            </a:r>
            <a:r>
              <a:rPr lang="en-GB" dirty="0"/>
              <a:t>, </a:t>
            </a:r>
            <a:r>
              <a:rPr lang="en-GB" dirty="0" err="1"/>
              <a:t>CustName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3B  CUSTORDER[</a:t>
            </a:r>
            <a:r>
              <a:rPr lang="en-GB" u="sng" dirty="0" err="1"/>
              <a:t>CustNo</a:t>
            </a:r>
            <a:r>
              <a:rPr lang="en-GB" u="sng" dirty="0"/>
              <a:t>,</a:t>
            </a:r>
            <a:r>
              <a:rPr lang="en-GB" dirty="0"/>
              <a:t> </a:t>
            </a:r>
            <a:r>
              <a:rPr lang="en-GB" u="sng" dirty="0" err="1"/>
              <a:t>OrderNo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4A ORDER [</a:t>
            </a:r>
            <a:r>
              <a:rPr lang="en-GB" u="sng" dirty="0" err="1"/>
              <a:t>OrderNo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, </a:t>
            </a:r>
            <a:r>
              <a:rPr lang="en-GB" dirty="0" err="1"/>
              <a:t>CustNo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4B ORDERDETAIL [</a:t>
            </a:r>
            <a:r>
              <a:rPr lang="en-GB" u="sng" dirty="0" err="1"/>
              <a:t>OrderNo</a:t>
            </a:r>
            <a:r>
              <a:rPr lang="en-GB" u="sng" dirty="0"/>
              <a:t>, </a:t>
            </a:r>
            <a:r>
              <a:rPr lang="en-GB" u="sng" dirty="0" err="1"/>
              <a:t>PartNum</a:t>
            </a:r>
            <a:r>
              <a:rPr lang="en-GB" dirty="0"/>
              <a:t>,  </a:t>
            </a:r>
            <a:r>
              <a:rPr lang="en-GB" dirty="0" err="1"/>
              <a:t>NumOrdered</a:t>
            </a:r>
            <a:r>
              <a:rPr lang="en-GB" dirty="0"/>
              <a:t> </a:t>
            </a:r>
            <a:r>
              <a:rPr lang="en-GB" dirty="0" err="1"/>
              <a:t>QuotedPrice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4C PART [</a:t>
            </a:r>
            <a:r>
              <a:rPr lang="en-GB" u="sng" dirty="0" err="1"/>
              <a:t>PartNum</a:t>
            </a:r>
            <a:r>
              <a:rPr lang="en-GB" dirty="0"/>
              <a:t>,   </a:t>
            </a:r>
            <a:r>
              <a:rPr lang="en-GB" dirty="0" err="1"/>
              <a:t>PartDescr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5A CUSTORDER[</a:t>
            </a:r>
            <a:r>
              <a:rPr lang="en-GB" u="sng" dirty="0" err="1"/>
              <a:t>CustNum</a:t>
            </a:r>
            <a:r>
              <a:rPr lang="en-GB" u="sng" dirty="0"/>
              <a:t>, </a:t>
            </a:r>
            <a:r>
              <a:rPr lang="en-GB" u="sng" dirty="0" err="1"/>
              <a:t>OrderNum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5B ORDER[</a:t>
            </a:r>
            <a:r>
              <a:rPr lang="en-GB" u="sng" dirty="0" err="1"/>
              <a:t>OrderNum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5C CUST[</a:t>
            </a:r>
            <a:r>
              <a:rPr lang="en-GB" u="sng" dirty="0" err="1"/>
              <a:t>CustNum</a:t>
            </a:r>
            <a:r>
              <a:rPr lang="en-GB" dirty="0"/>
              <a:t>, </a:t>
            </a:r>
            <a:r>
              <a:rPr lang="en-GB" dirty="0" err="1"/>
              <a:t>CustName</a:t>
            </a:r>
            <a:r>
              <a:rPr lang="en-GB" dirty="0"/>
              <a:t>, </a:t>
            </a:r>
            <a:r>
              <a:rPr lang="en-GB" dirty="0" err="1"/>
              <a:t>RepNo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5D REP [</a:t>
            </a:r>
            <a:r>
              <a:rPr lang="en-GB" u="sng" dirty="0" err="1"/>
              <a:t>RepNo</a:t>
            </a:r>
            <a:r>
              <a:rPr lang="en-GB" dirty="0"/>
              <a:t>, </a:t>
            </a:r>
            <a:r>
              <a:rPr lang="en-GB" dirty="0" err="1"/>
              <a:t>RepName</a:t>
            </a:r>
            <a:r>
              <a:rPr lang="en-GB" dirty="0"/>
              <a:t>]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7946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consistent names for same attribute in each </a:t>
            </a:r>
            <a:r>
              <a:rPr lang="en-GB" dirty="0" smtClean="0"/>
              <a:t>relation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42900" indent="-342900"/>
            <a:r>
              <a:rPr lang="en-GB" dirty="0" smtClean="0"/>
              <a:t>2A </a:t>
            </a:r>
            <a:r>
              <a:rPr lang="en-GB" dirty="0"/>
              <a:t>PART[ </a:t>
            </a:r>
            <a:r>
              <a:rPr lang="en-GB" u="sng" dirty="0" err="1"/>
              <a:t>PartNo</a:t>
            </a:r>
            <a:r>
              <a:rPr lang="en-GB" u="sng" dirty="0"/>
              <a:t>,</a:t>
            </a:r>
            <a:r>
              <a:rPr lang="en-GB" dirty="0"/>
              <a:t>  </a:t>
            </a:r>
            <a:r>
              <a:rPr lang="en-GB" dirty="0" err="1"/>
              <a:t>PartDescr</a:t>
            </a:r>
            <a:r>
              <a:rPr lang="en-GB" dirty="0"/>
              <a:t>, </a:t>
            </a:r>
            <a:r>
              <a:rPr lang="en-GB" dirty="0" err="1"/>
              <a:t>QtyOnHand</a:t>
            </a:r>
            <a:r>
              <a:rPr lang="en-GB" dirty="0"/>
              <a:t>, Class, </a:t>
            </a:r>
            <a:r>
              <a:rPr lang="en-GB" dirty="0" err="1"/>
              <a:t>Whse</a:t>
            </a:r>
            <a:r>
              <a:rPr lang="en-GB" dirty="0"/>
              <a:t>, Price]</a:t>
            </a:r>
          </a:p>
          <a:p>
            <a:pPr marL="342900" indent="-342900"/>
            <a:r>
              <a:rPr lang="en-GB" dirty="0"/>
              <a:t>4B ORDERDETAIL [ </a:t>
            </a:r>
            <a:r>
              <a:rPr lang="en-GB" u="sng" dirty="0" err="1"/>
              <a:t>OrderNo</a:t>
            </a:r>
            <a:r>
              <a:rPr lang="en-GB" u="sng" dirty="0"/>
              <a:t>, </a:t>
            </a:r>
            <a:r>
              <a:rPr lang="en-GB" u="sng" dirty="0" err="1"/>
              <a:t>PartNum</a:t>
            </a:r>
            <a:r>
              <a:rPr lang="en-GB" dirty="0"/>
              <a:t>,  </a:t>
            </a:r>
            <a:r>
              <a:rPr lang="en-GB" dirty="0" err="1"/>
              <a:t>NumOrdered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4B ORDERDETAIL [ </a:t>
            </a:r>
            <a:r>
              <a:rPr lang="en-GB" u="sng" dirty="0" err="1"/>
              <a:t>OrderNo</a:t>
            </a:r>
            <a:r>
              <a:rPr lang="en-GB" u="sng" dirty="0"/>
              <a:t>, </a:t>
            </a:r>
            <a:r>
              <a:rPr lang="en-GB" u="sng" dirty="0" err="1"/>
              <a:t>PartNo</a:t>
            </a:r>
            <a:r>
              <a:rPr lang="en-GB" dirty="0"/>
              <a:t>,  </a:t>
            </a:r>
            <a:r>
              <a:rPr lang="en-GB" dirty="0" err="1"/>
              <a:t>NumOrdered</a:t>
            </a:r>
            <a:r>
              <a:rPr lang="en-GB" dirty="0"/>
              <a:t>, </a:t>
            </a:r>
            <a:r>
              <a:rPr lang="en-GB" dirty="0" err="1"/>
              <a:t>QuotedPrice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4C PART [</a:t>
            </a:r>
            <a:r>
              <a:rPr lang="en-GB" u="sng" dirty="0" err="1"/>
              <a:t>PartNum</a:t>
            </a:r>
            <a:r>
              <a:rPr lang="en-GB" dirty="0"/>
              <a:t>,   </a:t>
            </a:r>
            <a:r>
              <a:rPr lang="en-GB" dirty="0" err="1"/>
              <a:t>PartDescr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4C PART [</a:t>
            </a:r>
            <a:r>
              <a:rPr lang="en-GB" u="sng" dirty="0" err="1"/>
              <a:t>PartNo</a:t>
            </a:r>
            <a:r>
              <a:rPr lang="en-GB" dirty="0"/>
              <a:t>,   </a:t>
            </a:r>
            <a:r>
              <a:rPr lang="en-GB" dirty="0" err="1"/>
              <a:t>PartDescr</a:t>
            </a:r>
            <a:r>
              <a:rPr lang="en-GB" dirty="0"/>
              <a:t>]</a:t>
            </a:r>
          </a:p>
          <a:p>
            <a:pPr marL="342900" indent="-342900"/>
            <a:endParaRPr lang="en-GB" dirty="0"/>
          </a:p>
          <a:p>
            <a:pPr marL="342900" indent="-342900"/>
            <a:r>
              <a:rPr lang="en-GB" dirty="0"/>
              <a:t>5A CUSTORDER[</a:t>
            </a:r>
            <a:r>
              <a:rPr lang="en-GB" u="sng" dirty="0" err="1"/>
              <a:t>CustNum</a:t>
            </a:r>
            <a:r>
              <a:rPr lang="en-GB" u="sng" dirty="0"/>
              <a:t>, </a:t>
            </a:r>
            <a:r>
              <a:rPr lang="en-GB" u="sng" dirty="0" err="1"/>
              <a:t>OrderNum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5A CUSTORDER[</a:t>
            </a:r>
            <a:r>
              <a:rPr lang="en-GB" u="sng" dirty="0" err="1"/>
              <a:t>CustNo</a:t>
            </a:r>
            <a:r>
              <a:rPr lang="en-GB" u="sng" dirty="0"/>
              <a:t>, </a:t>
            </a:r>
            <a:r>
              <a:rPr lang="en-GB" u="sng" dirty="0" err="1"/>
              <a:t>OrderNo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5B ORDER[</a:t>
            </a:r>
            <a:r>
              <a:rPr lang="en-GB" u="sng" dirty="0" err="1"/>
              <a:t>OrderNum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5B ORDER[</a:t>
            </a:r>
            <a:r>
              <a:rPr lang="en-GB" u="sng" dirty="0" err="1"/>
              <a:t>OrderNo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]</a:t>
            </a:r>
          </a:p>
          <a:p>
            <a:pPr marL="342900" indent="-342900"/>
            <a:endParaRPr lang="en-GB" dirty="0"/>
          </a:p>
          <a:p>
            <a:pPr marL="342900" indent="-342900"/>
            <a:r>
              <a:rPr lang="en-GB" dirty="0"/>
              <a:t>5C CUST[</a:t>
            </a:r>
            <a:r>
              <a:rPr lang="en-GB" u="sng" dirty="0" err="1"/>
              <a:t>CustNum</a:t>
            </a:r>
            <a:r>
              <a:rPr lang="en-GB" dirty="0"/>
              <a:t>, </a:t>
            </a:r>
            <a:r>
              <a:rPr lang="en-GB" dirty="0" err="1"/>
              <a:t>CustName</a:t>
            </a:r>
            <a:r>
              <a:rPr lang="en-GB" dirty="0"/>
              <a:t>, </a:t>
            </a:r>
            <a:r>
              <a:rPr lang="en-GB" dirty="0" err="1"/>
              <a:t>RepNo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5C CUST[</a:t>
            </a:r>
            <a:r>
              <a:rPr lang="en-GB" u="sng" dirty="0" err="1"/>
              <a:t>CustNo</a:t>
            </a:r>
            <a:r>
              <a:rPr lang="en-GB" dirty="0"/>
              <a:t>, </a:t>
            </a:r>
            <a:r>
              <a:rPr lang="en-GB" dirty="0" err="1"/>
              <a:t>CustName</a:t>
            </a:r>
            <a:r>
              <a:rPr lang="en-GB" dirty="0"/>
              <a:t>, </a:t>
            </a:r>
            <a:r>
              <a:rPr lang="en-GB" dirty="0" err="1"/>
              <a:t>RepNo</a:t>
            </a:r>
            <a:r>
              <a:rPr lang="en-GB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999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Examine the Primary Key of each relation using a composite key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/>
            <a:r>
              <a:rPr lang="en-GB" dirty="0"/>
              <a:t>Determine if all parts should be part of the Primary Key</a:t>
            </a:r>
          </a:p>
          <a:p>
            <a:pPr marL="0" indent="0">
              <a:buNone/>
            </a:pPr>
            <a:r>
              <a:rPr lang="en-GB" dirty="0" smtClean="0"/>
              <a:t>	3B </a:t>
            </a:r>
            <a:r>
              <a:rPr lang="en-GB" b="1" dirty="0" smtClean="0"/>
              <a:t>CUSTORDER</a:t>
            </a:r>
            <a:r>
              <a:rPr lang="en-GB" dirty="0" smtClean="0"/>
              <a:t>[</a:t>
            </a:r>
            <a:r>
              <a:rPr lang="en-GB" u="sng" dirty="0" err="1" smtClean="0"/>
              <a:t>CustNo</a:t>
            </a:r>
            <a:r>
              <a:rPr lang="en-GB" u="sng" dirty="0"/>
              <a:t>,</a:t>
            </a:r>
            <a:r>
              <a:rPr lang="en-GB" dirty="0"/>
              <a:t> </a:t>
            </a:r>
            <a:r>
              <a:rPr lang="en-GB" u="sng" dirty="0" err="1"/>
              <a:t>OrderNo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]</a:t>
            </a:r>
          </a:p>
          <a:p>
            <a:pPr marL="342900" indent="-342900"/>
            <a:endParaRPr lang="en-GB" dirty="0"/>
          </a:p>
          <a:p>
            <a:pPr marL="342900" indent="-342900"/>
            <a:r>
              <a:rPr lang="en-GB" b="1" i="1" dirty="0" err="1"/>
              <a:t>CustNo</a:t>
            </a:r>
            <a:r>
              <a:rPr lang="en-GB" dirty="0"/>
              <a:t> is not required to be part of the PK because </a:t>
            </a:r>
            <a:endParaRPr lang="en-GB" dirty="0" smtClean="0"/>
          </a:p>
          <a:p>
            <a:pPr marL="800100" lvl="1" indent="-342900"/>
            <a:r>
              <a:rPr lang="en-GB" b="1" i="1" dirty="0" err="1" smtClean="0"/>
              <a:t>OrderNo</a:t>
            </a:r>
            <a:r>
              <a:rPr lang="en-GB" dirty="0" smtClean="0"/>
              <a:t> uniquely </a:t>
            </a:r>
            <a:r>
              <a:rPr lang="en-GB" dirty="0"/>
              <a:t>identifies an order. </a:t>
            </a:r>
            <a:endParaRPr lang="en-GB" dirty="0" smtClean="0"/>
          </a:p>
          <a:p>
            <a:pPr marL="342900" indent="-342900"/>
            <a:r>
              <a:rPr lang="en-GB" dirty="0" smtClean="0"/>
              <a:t>If </a:t>
            </a:r>
            <a:r>
              <a:rPr lang="en-GB" dirty="0"/>
              <a:t>the Composite Primary </a:t>
            </a:r>
            <a:r>
              <a:rPr lang="en-GB" dirty="0" smtClean="0"/>
              <a:t>key Was </a:t>
            </a:r>
            <a:r>
              <a:rPr lang="en-GB" dirty="0"/>
              <a:t>left as is then unique values could include </a:t>
            </a:r>
          </a:p>
          <a:p>
            <a:pPr marL="342900" indent="-342900"/>
            <a:r>
              <a:rPr lang="en-GB" dirty="0"/>
              <a:t>(</a:t>
            </a:r>
            <a:r>
              <a:rPr lang="en-GB" dirty="0" err="1"/>
              <a:t>OrderNo</a:t>
            </a:r>
            <a:r>
              <a:rPr lang="en-GB" dirty="0"/>
              <a:t> 1001, </a:t>
            </a:r>
            <a:r>
              <a:rPr lang="en-GB" dirty="0" err="1"/>
              <a:t>CustNo</a:t>
            </a:r>
            <a:r>
              <a:rPr lang="en-GB" dirty="0"/>
              <a:t> 2) and (</a:t>
            </a:r>
            <a:r>
              <a:rPr lang="en-GB" dirty="0" err="1"/>
              <a:t>OrderNo</a:t>
            </a:r>
            <a:r>
              <a:rPr lang="en-GB" dirty="0"/>
              <a:t> 1001, </a:t>
            </a:r>
            <a:r>
              <a:rPr lang="en-GB" dirty="0" err="1"/>
              <a:t>CustNo</a:t>
            </a:r>
            <a:r>
              <a:rPr lang="en-GB" dirty="0"/>
              <a:t> 5)</a:t>
            </a:r>
          </a:p>
          <a:p>
            <a:pPr marL="342900" indent="-342900"/>
            <a:r>
              <a:rPr lang="en-GB" dirty="0"/>
              <a:t>This would be incorrect because there is no situation where </a:t>
            </a:r>
            <a:r>
              <a:rPr lang="en-GB" dirty="0" smtClean="0"/>
              <a:t>Customers </a:t>
            </a:r>
            <a:r>
              <a:rPr lang="en-GB" dirty="0"/>
              <a:t>2 and 5 would each have an order numbered 1001</a:t>
            </a:r>
          </a:p>
          <a:p>
            <a:pPr marL="342900" indent="-342900"/>
            <a:r>
              <a:rPr lang="en-GB" dirty="0" smtClean="0"/>
              <a:t>As a result we will have:</a:t>
            </a:r>
            <a:endParaRPr lang="en-GB" dirty="0"/>
          </a:p>
          <a:p>
            <a:pPr marL="0" indent="0">
              <a:buNone/>
            </a:pPr>
            <a:r>
              <a:rPr lang="en-GB" dirty="0" smtClean="0"/>
              <a:t>	5A </a:t>
            </a:r>
            <a:r>
              <a:rPr lang="en-GB" b="1" dirty="0" smtClean="0"/>
              <a:t>CUSTORDER</a:t>
            </a:r>
            <a:r>
              <a:rPr lang="en-GB" dirty="0" smtClean="0"/>
              <a:t>[</a:t>
            </a:r>
            <a:r>
              <a:rPr lang="en-GB" u="sng" dirty="0" err="1" smtClean="0"/>
              <a:t>OrderNo</a:t>
            </a:r>
            <a:r>
              <a:rPr lang="en-GB" dirty="0"/>
              <a:t>, </a:t>
            </a:r>
            <a:r>
              <a:rPr lang="en-GB" dirty="0" err="1"/>
              <a:t>CustNo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]</a:t>
            </a:r>
          </a:p>
          <a:p>
            <a:pPr marL="342900" indent="-342900"/>
            <a:r>
              <a:rPr lang="en-GB" dirty="0"/>
              <a:t>a</a:t>
            </a:r>
            <a:r>
              <a:rPr lang="en-GB" dirty="0" smtClean="0"/>
              <a:t>nd CUSTORDER[</a:t>
            </a:r>
            <a:r>
              <a:rPr lang="en-GB" u="sng" dirty="0" err="1" smtClean="0"/>
              <a:t>CustNo</a:t>
            </a:r>
            <a:r>
              <a:rPr lang="en-GB" dirty="0"/>
              <a:t>, </a:t>
            </a:r>
            <a:r>
              <a:rPr lang="en-GB" u="sng" dirty="0" err="1"/>
              <a:t>OrderNo</a:t>
            </a:r>
            <a:r>
              <a:rPr lang="en-GB" dirty="0"/>
              <a:t>] becomes</a:t>
            </a:r>
          </a:p>
          <a:p>
            <a:pPr marL="0" indent="0">
              <a:buNone/>
            </a:pPr>
            <a:r>
              <a:rPr lang="en-GB" dirty="0" smtClean="0"/>
              <a:t>	5A </a:t>
            </a:r>
            <a:r>
              <a:rPr lang="en-GB" b="1" dirty="0" smtClean="0"/>
              <a:t>CUSTORDER</a:t>
            </a:r>
            <a:r>
              <a:rPr lang="en-GB" dirty="0"/>
              <a:t>[ </a:t>
            </a:r>
            <a:r>
              <a:rPr lang="en-GB" u="sng" dirty="0" err="1"/>
              <a:t>OrderNo</a:t>
            </a:r>
            <a:r>
              <a:rPr lang="en-GB" dirty="0"/>
              <a:t>, </a:t>
            </a:r>
            <a:r>
              <a:rPr lang="en-GB" dirty="0" err="1"/>
              <a:t>CustNo</a:t>
            </a:r>
            <a:r>
              <a:rPr lang="en-GB" dirty="0" smtClean="0"/>
              <a:t>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562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Use consistent names for relations with the same attributes in  the Primary Key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Consider the following relations</a:t>
            </a:r>
          </a:p>
          <a:p>
            <a:pPr marL="0" indent="0">
              <a:buNone/>
            </a:pPr>
            <a:endParaRPr lang="en-GB" dirty="0" smtClean="0"/>
          </a:p>
          <a:p>
            <a:pPr marL="457200" lvl="1" indent="0">
              <a:buNone/>
            </a:pPr>
            <a:r>
              <a:rPr lang="en-GB" b="1" dirty="0" smtClean="0"/>
              <a:t>4A ORDER</a:t>
            </a:r>
            <a:r>
              <a:rPr lang="en-GB" dirty="0" smtClean="0"/>
              <a:t>[</a:t>
            </a:r>
            <a:r>
              <a:rPr lang="en-GB" u="sng" dirty="0" err="1" smtClean="0"/>
              <a:t>OrderNo</a:t>
            </a:r>
            <a:r>
              <a:rPr lang="en-GB" dirty="0" err="1" smtClean="0"/>
              <a:t>,OrderDate,CustNo</a:t>
            </a:r>
            <a:r>
              <a:rPr lang="en-GB" dirty="0"/>
              <a:t>]</a:t>
            </a:r>
          </a:p>
          <a:p>
            <a:pPr marL="457200" lvl="1" indent="0">
              <a:buNone/>
            </a:pPr>
            <a:r>
              <a:rPr lang="en-GB" b="1" dirty="0" smtClean="0"/>
              <a:t>5A CUSTORDER</a:t>
            </a:r>
            <a:r>
              <a:rPr lang="en-GB" dirty="0" smtClean="0"/>
              <a:t>[</a:t>
            </a:r>
            <a:r>
              <a:rPr lang="en-GB" u="sng" dirty="0" err="1" smtClean="0"/>
              <a:t>CustNo</a:t>
            </a:r>
            <a:r>
              <a:rPr lang="en-GB" dirty="0" err="1" smtClean="0"/>
              <a:t>,</a:t>
            </a:r>
            <a:r>
              <a:rPr lang="en-GB" u="sng" dirty="0" err="1" smtClean="0"/>
              <a:t>OrderNum</a:t>
            </a:r>
            <a:r>
              <a:rPr lang="en-GB" dirty="0"/>
              <a:t>]</a:t>
            </a:r>
          </a:p>
          <a:p>
            <a:pPr marL="457200" lvl="1" indent="0">
              <a:buNone/>
            </a:pPr>
            <a:r>
              <a:rPr lang="en-GB" b="1" dirty="0" smtClean="0"/>
              <a:t>5B ORDER</a:t>
            </a:r>
            <a:r>
              <a:rPr lang="en-GB" dirty="0" smtClean="0"/>
              <a:t>[</a:t>
            </a:r>
            <a:r>
              <a:rPr lang="en-GB" u="sng" dirty="0" err="1" smtClean="0"/>
              <a:t>OrderNum</a:t>
            </a:r>
            <a:r>
              <a:rPr lang="en-GB" dirty="0" err="1" smtClean="0"/>
              <a:t>,OrderDate</a:t>
            </a:r>
            <a:r>
              <a:rPr lang="en-GB" dirty="0" smtClean="0"/>
              <a:t>]</a:t>
            </a:r>
          </a:p>
          <a:p>
            <a:pPr marL="457200" lvl="1" indent="0">
              <a:buNone/>
            </a:pPr>
            <a:endParaRPr lang="en-GB" dirty="0"/>
          </a:p>
          <a:p>
            <a:pPr marL="342900" indent="-342900"/>
            <a:r>
              <a:rPr lang="en-GB" dirty="0" smtClean="0"/>
              <a:t>After fixing the inconsistent naming:</a:t>
            </a:r>
            <a:endParaRPr lang="en-GB" dirty="0"/>
          </a:p>
          <a:p>
            <a:pPr marL="342900" indent="-342900"/>
            <a:endParaRPr lang="en-GB" dirty="0"/>
          </a:p>
          <a:p>
            <a:pPr marL="457200" lvl="1" indent="0">
              <a:buNone/>
            </a:pPr>
            <a:r>
              <a:rPr lang="en-GB" b="1" dirty="0" smtClean="0"/>
              <a:t>4A ORDER</a:t>
            </a:r>
            <a:r>
              <a:rPr lang="en-GB" dirty="0" smtClean="0"/>
              <a:t>[</a:t>
            </a:r>
            <a:r>
              <a:rPr lang="en-GB" u="sng" dirty="0" err="1" smtClean="0"/>
              <a:t>OrderNo</a:t>
            </a:r>
            <a:r>
              <a:rPr lang="en-GB" dirty="0" err="1" smtClean="0"/>
              <a:t>,OrderDate,CustNo</a:t>
            </a:r>
            <a:r>
              <a:rPr lang="en-GB" dirty="0"/>
              <a:t>]</a:t>
            </a:r>
          </a:p>
          <a:p>
            <a:pPr marL="457200" lvl="1" indent="0">
              <a:buNone/>
            </a:pPr>
            <a:r>
              <a:rPr lang="en-GB" b="1" dirty="0" smtClean="0"/>
              <a:t>5A CUSTORDER</a:t>
            </a:r>
            <a:r>
              <a:rPr lang="en-GB" dirty="0" smtClean="0"/>
              <a:t>[</a:t>
            </a:r>
            <a:r>
              <a:rPr lang="en-GB" u="sng" dirty="0" err="1" smtClean="0"/>
              <a:t>CustNo</a:t>
            </a:r>
            <a:r>
              <a:rPr lang="en-GB" dirty="0" err="1" smtClean="0"/>
              <a:t>,</a:t>
            </a:r>
            <a:r>
              <a:rPr lang="en-GB" u="sng" dirty="0" err="1" smtClean="0"/>
              <a:t>OrderNo</a:t>
            </a:r>
            <a:r>
              <a:rPr lang="en-GB" dirty="0"/>
              <a:t>]</a:t>
            </a:r>
          </a:p>
          <a:p>
            <a:pPr marL="457200" lvl="1" indent="0">
              <a:buNone/>
            </a:pPr>
            <a:r>
              <a:rPr lang="en-GB" b="1" dirty="0" smtClean="0"/>
              <a:t>5B ORDER</a:t>
            </a:r>
            <a:r>
              <a:rPr lang="en-GB" dirty="0" smtClean="0"/>
              <a:t>[</a:t>
            </a:r>
            <a:r>
              <a:rPr lang="en-GB" u="sng" dirty="0" err="1" smtClean="0"/>
              <a:t>OrderNo</a:t>
            </a:r>
            <a:r>
              <a:rPr lang="en-GB" dirty="0" err="1" smtClean="0"/>
              <a:t>,OrderDate</a:t>
            </a:r>
            <a:r>
              <a:rPr lang="en-GB" dirty="0"/>
              <a:t>]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644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 smtClean="0"/>
              <a:t>Create one relation for relations having an identical Primary Key</a:t>
            </a:r>
            <a:endParaRPr lang="en-CA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</a:t>
            </a:r>
            <a:r>
              <a:rPr lang="en-GB" dirty="0" smtClean="0"/>
              <a:t>he </a:t>
            </a:r>
            <a:r>
              <a:rPr lang="en-GB" dirty="0"/>
              <a:t>PK can be a one-part PK or a concatenated </a:t>
            </a:r>
            <a:r>
              <a:rPr lang="en-GB" dirty="0" smtClean="0"/>
              <a:t>PK (</a:t>
            </a:r>
            <a:r>
              <a:rPr lang="en-GB" dirty="0"/>
              <a:t>2 or more attributes) but it must match </a:t>
            </a:r>
            <a:r>
              <a:rPr lang="en-GB" dirty="0" smtClean="0"/>
              <a:t>exactly</a:t>
            </a:r>
          </a:p>
          <a:p>
            <a:endParaRPr lang="en-GB" dirty="0" smtClean="0"/>
          </a:p>
          <a:p>
            <a:pPr marL="457200" lvl="1" indent="0">
              <a:buNone/>
            </a:pPr>
            <a:r>
              <a:rPr lang="en-GB" dirty="0"/>
              <a:t>1A,3A,5C </a:t>
            </a:r>
            <a:r>
              <a:rPr lang="en-GB" dirty="0" smtClean="0"/>
              <a:t>  </a:t>
            </a:r>
            <a:r>
              <a:rPr lang="en-GB" b="1" dirty="0" smtClean="0"/>
              <a:t>CUSTOMER</a:t>
            </a:r>
            <a:r>
              <a:rPr lang="en-GB" dirty="0"/>
              <a:t>[ </a:t>
            </a:r>
            <a:r>
              <a:rPr lang="en-GB" u="sng" dirty="0" err="1"/>
              <a:t>CustNo</a:t>
            </a:r>
            <a:r>
              <a:rPr lang="en-GB" dirty="0"/>
              <a:t>, </a:t>
            </a:r>
            <a:r>
              <a:rPr lang="en-GB" dirty="0" err="1"/>
              <a:t>CustName</a:t>
            </a:r>
            <a:r>
              <a:rPr lang="en-GB" dirty="0"/>
              <a:t>, </a:t>
            </a:r>
            <a:r>
              <a:rPr lang="en-GB" dirty="0" err="1"/>
              <a:t>CustStreet,CustZip</a:t>
            </a:r>
            <a:r>
              <a:rPr lang="en-GB" dirty="0"/>
              <a:t>, </a:t>
            </a:r>
            <a:r>
              <a:rPr lang="en-GB" dirty="0" err="1" smtClean="0"/>
              <a:t>RepNo</a:t>
            </a:r>
            <a:r>
              <a:rPr lang="en-GB" dirty="0" smtClean="0"/>
              <a:t> ]</a:t>
            </a:r>
            <a:endParaRPr lang="en-GB" dirty="0"/>
          </a:p>
          <a:p>
            <a:pPr marL="457200" lvl="1" indent="0">
              <a:buNone/>
            </a:pPr>
            <a:r>
              <a:rPr lang="en-GB" dirty="0" smtClean="0"/>
              <a:t>2A,4C  </a:t>
            </a:r>
            <a:r>
              <a:rPr lang="en-GB" b="1" dirty="0"/>
              <a:t>PART</a:t>
            </a:r>
            <a:r>
              <a:rPr lang="en-GB" dirty="0"/>
              <a:t>[ </a:t>
            </a:r>
            <a:r>
              <a:rPr lang="en-GB" u="sng" dirty="0" err="1"/>
              <a:t>PartNo</a:t>
            </a:r>
            <a:r>
              <a:rPr lang="en-GB" u="sng" dirty="0"/>
              <a:t>,</a:t>
            </a:r>
            <a:r>
              <a:rPr lang="en-GB" dirty="0"/>
              <a:t>  </a:t>
            </a:r>
            <a:r>
              <a:rPr lang="en-GB" dirty="0" err="1"/>
              <a:t>PartDescr</a:t>
            </a:r>
            <a:r>
              <a:rPr lang="en-GB" dirty="0"/>
              <a:t>, </a:t>
            </a:r>
            <a:r>
              <a:rPr lang="en-GB" dirty="0" err="1"/>
              <a:t>QtyOnHand</a:t>
            </a:r>
            <a:r>
              <a:rPr lang="en-GB" dirty="0"/>
              <a:t>, Class, </a:t>
            </a:r>
            <a:r>
              <a:rPr lang="en-GB" dirty="0" err="1"/>
              <a:t>Whse</a:t>
            </a:r>
            <a:r>
              <a:rPr lang="en-GB" dirty="0"/>
              <a:t>, Price</a:t>
            </a:r>
            <a:r>
              <a:rPr lang="en-GB" dirty="0" smtClean="0"/>
              <a:t>]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3B, 4A,5A,5B </a:t>
            </a:r>
            <a:r>
              <a:rPr lang="en-GB" b="1" dirty="0"/>
              <a:t>ORDER </a:t>
            </a:r>
            <a:r>
              <a:rPr lang="en-GB" dirty="0"/>
              <a:t>[</a:t>
            </a:r>
            <a:r>
              <a:rPr lang="en-GB" u="sng" dirty="0" err="1"/>
              <a:t>OrderNo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, </a:t>
            </a:r>
            <a:r>
              <a:rPr lang="en-GB" dirty="0" err="1"/>
              <a:t>CustNo</a:t>
            </a:r>
            <a:r>
              <a:rPr lang="en-GB" dirty="0" smtClean="0"/>
              <a:t>]</a:t>
            </a:r>
          </a:p>
          <a:p>
            <a:pPr marL="457200" lvl="1" indent="0">
              <a:buNone/>
            </a:pPr>
            <a:r>
              <a:rPr lang="en-GB" dirty="0"/>
              <a:t>1B </a:t>
            </a:r>
            <a:r>
              <a:rPr lang="en-GB" dirty="0" smtClean="0"/>
              <a:t>  ZIPCODE[</a:t>
            </a:r>
            <a:r>
              <a:rPr lang="en-GB" u="sng" dirty="0" err="1" smtClean="0"/>
              <a:t>CustZip</a:t>
            </a:r>
            <a:r>
              <a:rPr lang="en-GB" dirty="0"/>
              <a:t>, </a:t>
            </a:r>
            <a:r>
              <a:rPr lang="en-GB" dirty="0" err="1"/>
              <a:t>CustCity</a:t>
            </a:r>
            <a:r>
              <a:rPr lang="en-GB" dirty="0"/>
              <a:t>, </a:t>
            </a:r>
            <a:r>
              <a:rPr lang="en-GB" dirty="0" err="1" smtClean="0"/>
              <a:t>CustSt</a:t>
            </a:r>
            <a:r>
              <a:rPr lang="en-GB" dirty="0" smtClean="0"/>
              <a:t>]</a:t>
            </a:r>
          </a:p>
          <a:p>
            <a:pPr marL="457200" lvl="1" indent="0">
              <a:buNone/>
            </a:pPr>
            <a:r>
              <a:rPr lang="en-GB" dirty="0" smtClean="0"/>
              <a:t>4B   </a:t>
            </a:r>
            <a:r>
              <a:rPr lang="en-GB" b="1" dirty="0" smtClean="0"/>
              <a:t>ORDERDETAIL</a:t>
            </a:r>
            <a:r>
              <a:rPr lang="en-GB" dirty="0" smtClean="0"/>
              <a:t> </a:t>
            </a:r>
            <a:r>
              <a:rPr lang="en-GB" dirty="0"/>
              <a:t>[</a:t>
            </a:r>
            <a:r>
              <a:rPr lang="en-GB" u="sng" dirty="0" err="1"/>
              <a:t>OrderNo</a:t>
            </a:r>
            <a:r>
              <a:rPr lang="en-GB" u="sng" dirty="0"/>
              <a:t>, </a:t>
            </a:r>
            <a:r>
              <a:rPr lang="en-GB" u="sng" dirty="0" err="1"/>
              <a:t>PartNum</a:t>
            </a:r>
            <a:r>
              <a:rPr lang="en-GB" dirty="0"/>
              <a:t>, </a:t>
            </a:r>
            <a:r>
              <a:rPr lang="en-GB" dirty="0" err="1"/>
              <a:t>NumOrdered,QuotedPrice</a:t>
            </a:r>
            <a:r>
              <a:rPr lang="en-GB" dirty="0" smtClean="0"/>
              <a:t>]</a:t>
            </a:r>
            <a:endParaRPr lang="en-GB" dirty="0"/>
          </a:p>
          <a:p>
            <a:pPr marL="457200" lvl="1" indent="0">
              <a:buNone/>
            </a:pPr>
            <a:r>
              <a:rPr lang="en-GB" dirty="0" smtClean="0"/>
              <a:t>5D   </a:t>
            </a:r>
            <a:r>
              <a:rPr lang="en-GB" b="1" dirty="0" smtClean="0"/>
              <a:t>REP</a:t>
            </a:r>
            <a:r>
              <a:rPr lang="en-GB" dirty="0" smtClean="0"/>
              <a:t> </a:t>
            </a:r>
            <a:r>
              <a:rPr lang="en-GB" dirty="0"/>
              <a:t>[</a:t>
            </a:r>
            <a:r>
              <a:rPr lang="en-GB" u="sng" dirty="0" err="1"/>
              <a:t>RepNo</a:t>
            </a:r>
            <a:r>
              <a:rPr lang="en-GB" dirty="0"/>
              <a:t>, </a:t>
            </a:r>
            <a:r>
              <a:rPr lang="en-GB" dirty="0" err="1"/>
              <a:t>RepName</a:t>
            </a:r>
            <a:r>
              <a:rPr lang="en-GB" dirty="0"/>
              <a:t>]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4235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smtClean="0"/>
              <a:t>Resolve any new transitive dependencies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If any new transitive were created when merging relations, it must be resolved.</a:t>
            </a:r>
          </a:p>
          <a:p>
            <a:pPr marL="342900" indent="-342900"/>
            <a:r>
              <a:rPr lang="en-GB" dirty="0" smtClean="0"/>
              <a:t>Example:</a:t>
            </a:r>
          </a:p>
          <a:p>
            <a:pPr marL="457200" lvl="1" indent="0">
              <a:buNone/>
            </a:pPr>
            <a:r>
              <a:rPr lang="en-GB" sz="2200" b="1" dirty="0"/>
              <a:t>CUSTOMER</a:t>
            </a:r>
            <a:r>
              <a:rPr lang="en-GB" sz="2200" dirty="0"/>
              <a:t>[ </a:t>
            </a:r>
            <a:r>
              <a:rPr lang="en-GB" sz="2200" u="sng" dirty="0" err="1"/>
              <a:t>CustNo</a:t>
            </a:r>
            <a:r>
              <a:rPr lang="en-GB" sz="2200" dirty="0"/>
              <a:t>, </a:t>
            </a:r>
            <a:r>
              <a:rPr lang="en-GB" sz="2200" dirty="0" err="1"/>
              <a:t>CustName</a:t>
            </a:r>
            <a:r>
              <a:rPr lang="en-GB" sz="2200" dirty="0"/>
              <a:t>, </a:t>
            </a:r>
            <a:r>
              <a:rPr lang="en-GB" sz="2200" dirty="0" err="1"/>
              <a:t>CustStreet</a:t>
            </a:r>
            <a:r>
              <a:rPr lang="en-GB" sz="2200" dirty="0"/>
              <a:t>, </a:t>
            </a:r>
            <a:r>
              <a:rPr lang="en-GB" sz="2200" dirty="0" err="1"/>
              <a:t>CustZip</a:t>
            </a:r>
            <a:r>
              <a:rPr lang="en-GB" sz="2200" dirty="0"/>
              <a:t>, </a:t>
            </a:r>
            <a:r>
              <a:rPr lang="en-GB" sz="2200" dirty="0" err="1"/>
              <a:t>RepNo</a:t>
            </a:r>
            <a:r>
              <a:rPr lang="en-GB" sz="2200" dirty="0"/>
              <a:t> ]</a:t>
            </a:r>
          </a:p>
          <a:p>
            <a:pPr marL="457200" lvl="1" indent="0">
              <a:buNone/>
            </a:pPr>
            <a:r>
              <a:rPr lang="en-GB" sz="2200" b="1" dirty="0"/>
              <a:t>CUSTOMER</a:t>
            </a:r>
            <a:r>
              <a:rPr lang="en-GB" sz="2200" dirty="0"/>
              <a:t>[ </a:t>
            </a:r>
            <a:r>
              <a:rPr lang="en-GB" sz="2200" u="sng" dirty="0" err="1"/>
              <a:t>CustNo</a:t>
            </a:r>
            <a:r>
              <a:rPr lang="en-GB" sz="2200" u="sng" dirty="0"/>
              <a:t>,</a:t>
            </a:r>
            <a:r>
              <a:rPr lang="en-GB" sz="2200" dirty="0"/>
              <a:t>  </a:t>
            </a:r>
            <a:r>
              <a:rPr lang="en-GB" sz="2200" dirty="0" err="1"/>
              <a:t>CustName</a:t>
            </a:r>
            <a:r>
              <a:rPr lang="en-GB" sz="2200" dirty="0"/>
              <a:t>, </a:t>
            </a:r>
            <a:r>
              <a:rPr lang="en-GB" sz="2200" dirty="0" err="1"/>
              <a:t>RepName</a:t>
            </a:r>
            <a:r>
              <a:rPr lang="en-GB" sz="2200" dirty="0"/>
              <a:t>]</a:t>
            </a:r>
          </a:p>
          <a:p>
            <a:r>
              <a:rPr lang="en-GB" dirty="0"/>
              <a:t>Merged as</a:t>
            </a:r>
          </a:p>
          <a:p>
            <a:pPr marL="457200" lvl="1" indent="0">
              <a:buNone/>
            </a:pPr>
            <a:r>
              <a:rPr lang="en-GB" sz="2200" b="1" dirty="0"/>
              <a:t>CUSTOMER</a:t>
            </a:r>
            <a:r>
              <a:rPr lang="en-GB" sz="2200" dirty="0"/>
              <a:t>[ </a:t>
            </a:r>
            <a:r>
              <a:rPr lang="en-GB" sz="2200" u="sng" dirty="0" err="1"/>
              <a:t>CustNo</a:t>
            </a:r>
            <a:r>
              <a:rPr lang="en-GB" sz="2200" dirty="0"/>
              <a:t>, </a:t>
            </a:r>
            <a:r>
              <a:rPr lang="en-GB" sz="2200" dirty="0" err="1"/>
              <a:t>CustName</a:t>
            </a:r>
            <a:r>
              <a:rPr lang="en-GB" sz="2200" dirty="0"/>
              <a:t>, </a:t>
            </a:r>
            <a:r>
              <a:rPr lang="en-GB" sz="2200" dirty="0" err="1"/>
              <a:t>CustStreet</a:t>
            </a:r>
            <a:r>
              <a:rPr lang="en-GB" sz="2200" dirty="0"/>
              <a:t>, </a:t>
            </a:r>
            <a:r>
              <a:rPr lang="en-GB" sz="2200" dirty="0" err="1"/>
              <a:t>CustZip</a:t>
            </a:r>
            <a:r>
              <a:rPr lang="en-GB" sz="2200" dirty="0"/>
              <a:t>, </a:t>
            </a:r>
            <a:r>
              <a:rPr lang="en-GB" sz="2200" dirty="0" err="1" smtClean="0"/>
              <a:t>RepNo,RepName</a:t>
            </a:r>
            <a:r>
              <a:rPr lang="en-GB" sz="2200" dirty="0" smtClean="0"/>
              <a:t> </a:t>
            </a:r>
            <a:r>
              <a:rPr lang="en-GB" sz="2200" dirty="0"/>
              <a:t>]</a:t>
            </a:r>
          </a:p>
          <a:p>
            <a:r>
              <a:rPr lang="en-GB" dirty="0"/>
              <a:t>Which has the transitive </a:t>
            </a:r>
            <a:r>
              <a:rPr lang="en-GB" dirty="0" smtClean="0"/>
              <a:t>dependency after merging</a:t>
            </a:r>
            <a:endParaRPr lang="en-GB" dirty="0"/>
          </a:p>
          <a:p>
            <a:pPr marL="457200" lvl="1" indent="0">
              <a:buNone/>
            </a:pPr>
            <a:r>
              <a:rPr lang="en-GB" b="1" dirty="0" err="1" smtClean="0"/>
              <a:t>RepName</a:t>
            </a:r>
            <a:r>
              <a:rPr lang="en-GB" dirty="0" smtClean="0"/>
              <a:t> is determined </a:t>
            </a:r>
            <a:r>
              <a:rPr lang="en-GB" dirty="0"/>
              <a:t>by attribute </a:t>
            </a:r>
            <a:r>
              <a:rPr lang="en-GB" b="1" dirty="0" err="1" smtClean="0"/>
              <a:t>RepNo</a:t>
            </a:r>
            <a:r>
              <a:rPr lang="en-GB" dirty="0" smtClean="0"/>
              <a:t> </a:t>
            </a:r>
          </a:p>
          <a:p>
            <a:r>
              <a:rPr lang="en-GB" dirty="0" smtClean="0"/>
              <a:t>and </a:t>
            </a:r>
            <a:r>
              <a:rPr lang="en-GB" dirty="0"/>
              <a:t>would </a:t>
            </a:r>
            <a:r>
              <a:rPr lang="en-GB" dirty="0" smtClean="0"/>
              <a:t>be resolved as</a:t>
            </a:r>
          </a:p>
          <a:p>
            <a:pPr marL="457200" lvl="1" indent="0">
              <a:buNone/>
            </a:pPr>
            <a:r>
              <a:rPr lang="en-GB" sz="2000" b="1" dirty="0" smtClean="0"/>
              <a:t>CUSTOMER</a:t>
            </a:r>
            <a:r>
              <a:rPr lang="en-GB" sz="2000" dirty="0" smtClean="0"/>
              <a:t>[ </a:t>
            </a:r>
            <a:r>
              <a:rPr lang="en-GB" sz="2000" u="sng" dirty="0" err="1" smtClean="0"/>
              <a:t>CustNo</a:t>
            </a:r>
            <a:r>
              <a:rPr lang="en-GB" sz="2000" dirty="0" smtClean="0"/>
              <a:t>, </a:t>
            </a:r>
            <a:r>
              <a:rPr lang="en-GB" sz="2000" dirty="0" err="1" smtClean="0"/>
              <a:t>CustName</a:t>
            </a:r>
            <a:r>
              <a:rPr lang="en-GB" sz="2000" dirty="0" smtClean="0"/>
              <a:t>, </a:t>
            </a:r>
            <a:r>
              <a:rPr lang="en-GB" sz="2000" dirty="0" err="1" smtClean="0"/>
              <a:t>CustStreet</a:t>
            </a:r>
            <a:r>
              <a:rPr lang="en-GB" sz="2000" dirty="0" smtClean="0"/>
              <a:t>, </a:t>
            </a:r>
            <a:r>
              <a:rPr lang="en-GB" sz="2000" dirty="0" err="1" smtClean="0"/>
              <a:t>CustZip</a:t>
            </a:r>
            <a:r>
              <a:rPr lang="en-GB" sz="2000" dirty="0" smtClean="0"/>
              <a:t>, </a:t>
            </a:r>
            <a:r>
              <a:rPr lang="en-GB" sz="2000" dirty="0" err="1" smtClean="0"/>
              <a:t>RepNo</a:t>
            </a:r>
            <a:r>
              <a:rPr lang="en-GB" sz="2000" dirty="0" smtClean="0"/>
              <a:t>]</a:t>
            </a:r>
          </a:p>
          <a:p>
            <a:pPr marL="457200" lvl="1" indent="0">
              <a:buNone/>
            </a:pPr>
            <a:r>
              <a:rPr lang="en-GB" sz="2000" b="1" dirty="0" smtClean="0"/>
              <a:t>REP</a:t>
            </a:r>
            <a:r>
              <a:rPr lang="en-GB" sz="2000" dirty="0" smtClean="0"/>
              <a:t>[</a:t>
            </a:r>
            <a:r>
              <a:rPr lang="en-GB" sz="2000" u="sng" dirty="0" err="1" smtClean="0"/>
              <a:t>RepNo</a:t>
            </a:r>
            <a:r>
              <a:rPr lang="en-GB" sz="2000" dirty="0" smtClean="0"/>
              <a:t>, </a:t>
            </a:r>
            <a:r>
              <a:rPr lang="en-GB" sz="2000" dirty="0" err="1" smtClean="0"/>
              <a:t>RepName</a:t>
            </a:r>
            <a:r>
              <a:rPr lang="en-GB" sz="2000" dirty="0" smtClean="0"/>
              <a:t>]</a:t>
            </a:r>
            <a:endParaRPr lang="en-CA" sz="2000" dirty="0" smtClean="0"/>
          </a:p>
          <a:p>
            <a:pPr lvl="1"/>
            <a:endParaRPr lang="en-GB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5990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After the Merge We Have: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CUSTOMER</a:t>
            </a:r>
            <a:r>
              <a:rPr lang="en-GB" dirty="0"/>
              <a:t>[ </a:t>
            </a:r>
            <a:r>
              <a:rPr lang="en-GB" u="sng" dirty="0" err="1"/>
              <a:t>CustNo</a:t>
            </a:r>
            <a:r>
              <a:rPr lang="en-GB" dirty="0"/>
              <a:t>, </a:t>
            </a:r>
            <a:r>
              <a:rPr lang="en-GB" dirty="0" err="1"/>
              <a:t>CustName</a:t>
            </a:r>
            <a:r>
              <a:rPr lang="en-GB" dirty="0"/>
              <a:t>, </a:t>
            </a:r>
            <a:r>
              <a:rPr lang="en-GB" dirty="0" err="1"/>
              <a:t>CustStreet</a:t>
            </a:r>
            <a:r>
              <a:rPr lang="en-GB" dirty="0"/>
              <a:t>, </a:t>
            </a:r>
            <a:r>
              <a:rPr lang="en-GB" dirty="0" err="1" smtClean="0"/>
              <a:t>CustZip</a:t>
            </a:r>
            <a:r>
              <a:rPr lang="en-GB" dirty="0" smtClean="0"/>
              <a:t>(FK), </a:t>
            </a:r>
            <a:r>
              <a:rPr lang="en-GB" dirty="0" err="1"/>
              <a:t>RepNo</a:t>
            </a:r>
            <a:r>
              <a:rPr lang="en-GB" dirty="0"/>
              <a:t>(FK)]</a:t>
            </a:r>
          </a:p>
          <a:p>
            <a:r>
              <a:rPr lang="en-GB" b="1" dirty="0" err="1"/>
              <a:t>ZipCode</a:t>
            </a:r>
            <a:r>
              <a:rPr lang="en-GB" dirty="0"/>
              <a:t>[</a:t>
            </a:r>
            <a:r>
              <a:rPr lang="en-GB" u="sng" dirty="0" err="1"/>
              <a:t>CustZip</a:t>
            </a:r>
            <a:r>
              <a:rPr lang="en-GB" i="1" u="sng" dirty="0"/>
              <a:t>,</a:t>
            </a:r>
            <a:r>
              <a:rPr lang="en-GB" sz="2400" dirty="0" smtClean="0"/>
              <a:t> </a:t>
            </a:r>
            <a:r>
              <a:rPr lang="en-GB" dirty="0" err="1"/>
              <a:t>CustCity</a:t>
            </a:r>
            <a:r>
              <a:rPr lang="en-GB" dirty="0"/>
              <a:t>, </a:t>
            </a:r>
            <a:r>
              <a:rPr lang="en-GB" dirty="0" err="1"/>
              <a:t>CustSt</a:t>
            </a:r>
            <a:r>
              <a:rPr lang="en-GB" dirty="0"/>
              <a:t>,]</a:t>
            </a:r>
          </a:p>
          <a:p>
            <a:r>
              <a:rPr lang="en-GB" b="1" dirty="0"/>
              <a:t>REP</a:t>
            </a:r>
            <a:r>
              <a:rPr lang="en-GB" dirty="0"/>
              <a:t>[</a:t>
            </a:r>
            <a:r>
              <a:rPr lang="en-GB" u="sng" dirty="0" err="1"/>
              <a:t>RepNo</a:t>
            </a:r>
            <a:r>
              <a:rPr lang="en-GB" dirty="0"/>
              <a:t>, </a:t>
            </a:r>
            <a:r>
              <a:rPr lang="en-GB" dirty="0" err="1"/>
              <a:t>RepName</a:t>
            </a:r>
            <a:r>
              <a:rPr lang="en-GB" dirty="0"/>
              <a:t>]</a:t>
            </a:r>
          </a:p>
          <a:p>
            <a:r>
              <a:rPr lang="en-GB" b="1" dirty="0"/>
              <a:t>PART</a:t>
            </a:r>
            <a:r>
              <a:rPr lang="en-GB" dirty="0"/>
              <a:t>[ </a:t>
            </a:r>
            <a:r>
              <a:rPr lang="en-GB" u="sng" dirty="0" err="1"/>
              <a:t>PartNo</a:t>
            </a:r>
            <a:r>
              <a:rPr lang="en-GB" u="sng" dirty="0"/>
              <a:t>,</a:t>
            </a:r>
            <a:r>
              <a:rPr lang="en-GB" dirty="0"/>
              <a:t>  </a:t>
            </a:r>
            <a:r>
              <a:rPr lang="en-GB" dirty="0" err="1"/>
              <a:t>PartDescr</a:t>
            </a:r>
            <a:r>
              <a:rPr lang="en-GB" dirty="0"/>
              <a:t>, </a:t>
            </a:r>
            <a:r>
              <a:rPr lang="en-GB" dirty="0" err="1"/>
              <a:t>QtyOnHand</a:t>
            </a:r>
            <a:r>
              <a:rPr lang="en-GB" dirty="0"/>
              <a:t>, Class, </a:t>
            </a:r>
            <a:r>
              <a:rPr lang="en-GB" dirty="0" err="1"/>
              <a:t>Whse</a:t>
            </a:r>
            <a:r>
              <a:rPr lang="en-GB" dirty="0"/>
              <a:t>, Price]</a:t>
            </a:r>
          </a:p>
          <a:p>
            <a:r>
              <a:rPr lang="en-GB" b="1" dirty="0"/>
              <a:t>ORDER </a:t>
            </a:r>
            <a:r>
              <a:rPr lang="en-GB" dirty="0"/>
              <a:t>[</a:t>
            </a:r>
            <a:r>
              <a:rPr lang="en-GB" u="sng" dirty="0" err="1"/>
              <a:t>OrderNo</a:t>
            </a:r>
            <a:r>
              <a:rPr lang="en-GB" dirty="0"/>
              <a:t>, </a:t>
            </a:r>
            <a:r>
              <a:rPr lang="en-GB" dirty="0" err="1"/>
              <a:t>OrderDate</a:t>
            </a:r>
            <a:r>
              <a:rPr lang="en-GB" dirty="0"/>
              <a:t>, </a:t>
            </a:r>
            <a:r>
              <a:rPr lang="en-GB" dirty="0" err="1"/>
              <a:t>CustNo</a:t>
            </a:r>
            <a:r>
              <a:rPr lang="en-GB" dirty="0"/>
              <a:t>(FK)]</a:t>
            </a:r>
          </a:p>
          <a:p>
            <a:r>
              <a:rPr lang="en-GB" b="1" dirty="0"/>
              <a:t>ORDERDETAIL</a:t>
            </a:r>
            <a:r>
              <a:rPr lang="en-GB" dirty="0"/>
              <a:t> [</a:t>
            </a:r>
            <a:r>
              <a:rPr lang="en-GB" u="sng" dirty="0" err="1"/>
              <a:t>OrderNo</a:t>
            </a:r>
            <a:r>
              <a:rPr lang="en-GB" u="sng" dirty="0"/>
              <a:t> (</a:t>
            </a:r>
            <a:r>
              <a:rPr lang="en-GB" u="sng" dirty="0" smtClean="0"/>
              <a:t>FK), </a:t>
            </a:r>
            <a:r>
              <a:rPr lang="en-GB" u="sng" dirty="0" err="1"/>
              <a:t>PartNum</a:t>
            </a:r>
            <a:r>
              <a:rPr lang="en-GB" u="sng" dirty="0"/>
              <a:t> (</a:t>
            </a:r>
            <a:r>
              <a:rPr lang="en-GB" u="sng" dirty="0" smtClean="0"/>
              <a:t>FK)</a:t>
            </a:r>
            <a:r>
              <a:rPr lang="en-GB" dirty="0" smtClean="0"/>
              <a:t>, </a:t>
            </a:r>
            <a:r>
              <a:rPr lang="en-GB" dirty="0" err="1"/>
              <a:t>NumOrdered</a:t>
            </a:r>
            <a:r>
              <a:rPr lang="en-GB" dirty="0"/>
              <a:t>, </a:t>
            </a:r>
            <a:r>
              <a:rPr lang="en-GB" dirty="0" err="1"/>
              <a:t>QuotedPrice</a:t>
            </a:r>
            <a:r>
              <a:rPr lang="en-GB" dirty="0"/>
              <a:t> ]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826673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40EBAE46240844BAF07B237CAAB438" ma:contentTypeVersion="13" ma:contentTypeDescription="Create a new document." ma:contentTypeScope="" ma:versionID="b835878fae50d2f47cf3f0d6f2da3868">
  <xsd:schema xmlns:xsd="http://www.w3.org/2001/XMLSchema" xmlns:xs="http://www.w3.org/2001/XMLSchema" xmlns:p="http://schemas.microsoft.com/office/2006/metadata/properties" xmlns:ns3="81138d9d-9f3d-498e-85db-29768bd62ad3" xmlns:ns4="eb420992-8393-4ebc-bcff-d8ee9f154341" targetNamespace="http://schemas.microsoft.com/office/2006/metadata/properties" ma:root="true" ma:fieldsID="b62894c44c43f2408a19f8cb3b9d9930" ns3:_="" ns4:_="">
    <xsd:import namespace="81138d9d-9f3d-498e-85db-29768bd62ad3"/>
    <xsd:import namespace="eb420992-8393-4ebc-bcff-d8ee9f15434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38d9d-9f3d-498e-85db-29768bd62ad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420992-8393-4ebc-bcff-d8ee9f1543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F56158-961C-4333-B006-C92E3A4E0B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138d9d-9f3d-498e-85db-29768bd62ad3"/>
    <ds:schemaRef ds:uri="eb420992-8393-4ebc-bcff-d8ee9f1543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0C47D4-242C-4AB4-86D3-FE50D970241F}">
  <ds:schemaRefs>
    <ds:schemaRef ds:uri="http://schemas.microsoft.com/office/infopath/2007/PartnerControls"/>
    <ds:schemaRef ds:uri="81138d9d-9f3d-498e-85db-29768bd62ad3"/>
    <ds:schemaRef ds:uri="http://purl.org/dc/elements/1.1/"/>
    <ds:schemaRef ds:uri="http://schemas.microsoft.com/office/2006/metadata/properties"/>
    <ds:schemaRef ds:uri="http://schemas.microsoft.com/office/2006/documentManagement/types"/>
    <ds:schemaRef ds:uri="eb420992-8393-4ebc-bcff-d8ee9f154341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418A44C-8D89-4444-AA4C-3120239121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713</Words>
  <Application>Microsoft Office PowerPoint</Application>
  <PresentationFormat>Widescreen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User Views and Merging Relations</vt:lpstr>
      <vt:lpstr>Do not overstep normalization rules</vt:lpstr>
      <vt:lpstr>Merging Relations</vt:lpstr>
      <vt:lpstr>Use consistent names for same attribute in each relation</vt:lpstr>
      <vt:lpstr>Examine the Primary Key of each relation using a composite key</vt:lpstr>
      <vt:lpstr>Use consistent names for relations with the same attributes in  the Primary Key</vt:lpstr>
      <vt:lpstr>Create one relation for relations having an identical Primary Key</vt:lpstr>
      <vt:lpstr>Resolve any new transitive dependencies</vt:lpstr>
      <vt:lpstr>After the Merge We Have:</vt:lpstr>
    </vt:vector>
  </TitlesOfParts>
  <Company>Seneca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Views and Merging Relations</dc:title>
  <dc:creator>Lydia Li</dc:creator>
  <cp:lastModifiedBy>Lydia Li</cp:lastModifiedBy>
  <cp:revision>7</cp:revision>
  <dcterms:created xsi:type="dcterms:W3CDTF">2021-03-17T16:32:58Z</dcterms:created>
  <dcterms:modified xsi:type="dcterms:W3CDTF">2023-03-22T14:21:08Z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0x0101005E40EBAE46240844BAF07B237CAAB438</vt:lpwstr>
  </property>
</Properties>
</file>