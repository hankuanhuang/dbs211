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1.xml" ContentType="application/vnd.openxmlformats-officedocument.presentationml.notesSlid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2.xml" ContentType="application/vnd.openxmlformats-officedocument.presentationml.notesSlid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notesSlides/notesSlide3.xml" ContentType="application/vnd.openxmlformats-officedocument.presentationml.notesSlide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notesSlides/notesSlide4.xml" ContentType="application/vnd.openxmlformats-officedocument.presentationml.notesSlide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notesSlides/notesSlide5.xml" ContentType="application/vnd.openxmlformats-officedocument.presentationml.notesSlide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notesSlides/notesSlide6.xml" ContentType="application/vnd.openxmlformats-officedocument.presentationml.notesSlide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notesSlides/notesSlide7.xml" ContentType="application/vnd.openxmlformats-officedocument.presentationml.notesSlide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notesSlides/notesSlide8.xml" ContentType="application/vnd.openxmlformats-officedocument.presentationml.notesSlide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notesSlides/notesSlide9.xml" ContentType="application/vnd.openxmlformats-officedocument.presentationml.notesSlide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notesSlides/notesSlide10.xml" ContentType="application/vnd.openxmlformats-officedocument.presentationml.notesSlide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notesSlides/notesSlide11.xml" ContentType="application/vnd.openxmlformats-officedocument.presentationml.notesSlide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notesSlides/notesSlide12.xml" ContentType="application/vnd.openxmlformats-officedocument.presentationml.notesSlide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notesSlides/notesSlide13.xml" ContentType="application/vnd.openxmlformats-officedocument.presentationml.notesSlide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notesSlides/notesSlide14.xml" ContentType="application/vnd.openxmlformats-officedocument.presentationml.notesSlide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notesSlides/notesSlide15.xml" ContentType="application/vnd.openxmlformats-officedocument.presentationml.notesSlide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notesSlides/notesSlide16.xml" ContentType="application/vnd.openxmlformats-officedocument.presentationml.notesSlide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notesSlides/notesSlide17.xml" ContentType="application/vnd.openxmlformats-officedocument.presentationml.notesSlide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notesSlides/notesSlide18.xml" ContentType="application/vnd.openxmlformats-officedocument.presentationml.notesSlide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notesSlides/notesSlide19.xml" ContentType="application/vnd.openxmlformats-officedocument.presentationml.notesSlide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notesSlides/notesSlide20.xml" ContentType="application/vnd.openxmlformats-officedocument.presentationml.notesSlide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notesSlides/notesSlide21.xml" ContentType="application/vnd.openxmlformats-officedocument.presentationml.notesSlide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notesSlides/notesSlide22.xml" ContentType="application/vnd.openxmlformats-officedocument.presentationml.notesSlide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704" r:id="rId1"/>
  </p:sldMasterIdLst>
  <p:notesMasterIdLst>
    <p:notesMasterId r:id="rId34"/>
  </p:notesMasterIdLst>
  <p:handoutMasterIdLst>
    <p:handoutMasterId r:id="rId35"/>
  </p:handoutMasterIdLst>
  <p:sldIdLst>
    <p:sldId id="367" r:id="rId2"/>
    <p:sldId id="321" r:id="rId3"/>
    <p:sldId id="261" r:id="rId4"/>
    <p:sldId id="319" r:id="rId5"/>
    <p:sldId id="320" r:id="rId6"/>
    <p:sldId id="333" r:id="rId7"/>
    <p:sldId id="322" r:id="rId8"/>
    <p:sldId id="368" r:id="rId9"/>
    <p:sldId id="327" r:id="rId10"/>
    <p:sldId id="324" r:id="rId11"/>
    <p:sldId id="336" r:id="rId12"/>
    <p:sldId id="337" r:id="rId13"/>
    <p:sldId id="326" r:id="rId14"/>
    <p:sldId id="338" r:id="rId15"/>
    <p:sldId id="364" r:id="rId16"/>
    <p:sldId id="369" r:id="rId17"/>
    <p:sldId id="370" r:id="rId18"/>
    <p:sldId id="371" r:id="rId19"/>
    <p:sldId id="372" r:id="rId20"/>
    <p:sldId id="373" r:id="rId21"/>
    <p:sldId id="374" r:id="rId22"/>
    <p:sldId id="375" r:id="rId23"/>
    <p:sldId id="376" r:id="rId24"/>
    <p:sldId id="377" r:id="rId25"/>
    <p:sldId id="378" r:id="rId26"/>
    <p:sldId id="379" r:id="rId27"/>
    <p:sldId id="380" r:id="rId28"/>
    <p:sldId id="381" r:id="rId29"/>
    <p:sldId id="382" r:id="rId30"/>
    <p:sldId id="383" r:id="rId31"/>
    <p:sldId id="384" r:id="rId32"/>
    <p:sldId id="275" r:id="rId33"/>
  </p:sldIdLst>
  <p:sldSz cx="9144000" cy="6858000" type="screen4x3"/>
  <p:notesSz cx="7023100" cy="93091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779CC93D-E52E-4D84-901B-11D7331DD495}">
          <p14:sldIdLst>
            <p14:sldId id="367"/>
            <p14:sldId id="321"/>
            <p14:sldId id="261"/>
            <p14:sldId id="319"/>
            <p14:sldId id="320"/>
            <p14:sldId id="333"/>
            <p14:sldId id="322"/>
            <p14:sldId id="368"/>
            <p14:sldId id="327"/>
            <p14:sldId id="324"/>
            <p14:sldId id="336"/>
            <p14:sldId id="337"/>
            <p14:sldId id="326"/>
            <p14:sldId id="338"/>
            <p14:sldId id="364"/>
            <p14:sldId id="369"/>
            <p14:sldId id="370"/>
            <p14:sldId id="371"/>
            <p14:sldId id="372"/>
            <p14:sldId id="373"/>
            <p14:sldId id="374"/>
            <p14:sldId id="375"/>
            <p14:sldId id="376"/>
            <p14:sldId id="377"/>
            <p14:sldId id="378"/>
            <p14:sldId id="379"/>
            <p14:sldId id="380"/>
            <p14:sldId id="381"/>
            <p14:sldId id="382"/>
            <p14:sldId id="383"/>
            <p14:sldId id="384"/>
          </p14:sldIdLst>
        </p14:section>
        <p14:section name="Conclusion and Summary" id="{790CEF5B-569A-4C2F-BED5-750B08C0E5AD}">
          <p14:sldIdLst>
            <p14:sldId id="27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32" userDrawn="1">
          <p15:clr>
            <a:srgbClr val="A4A3A4"/>
          </p15:clr>
        </p15:guide>
        <p15:guide id="2" pos="2212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9ED6"/>
    <a:srgbClr val="003300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96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174" autoAdjust="0"/>
    <p:restoredTop sz="95441" autoAdjust="0"/>
  </p:normalViewPr>
  <p:slideViewPr>
    <p:cSldViewPr>
      <p:cViewPr varScale="1">
        <p:scale>
          <a:sx n="74" d="100"/>
          <a:sy n="74" d="100"/>
        </p:scale>
        <p:origin x="312" y="56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54" d="100"/>
        <a:sy n="154" d="100"/>
      </p:scale>
      <p:origin x="0" y="924"/>
    </p:cViewPr>
  </p:sorterViewPr>
  <p:notesViewPr>
    <p:cSldViewPr>
      <p:cViewPr varScale="1">
        <p:scale>
          <a:sx n="83" d="100"/>
          <a:sy n="83" d="100"/>
        </p:scale>
        <p:origin x="-3144" y="-96"/>
      </p:cViewPr>
      <p:guideLst>
        <p:guide orient="horz" pos="2932"/>
        <p:guide pos="221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43343" cy="465455"/>
          </a:xfrm>
          <a:prstGeom prst="rect">
            <a:avLst/>
          </a:prstGeom>
        </p:spPr>
        <p:txBody>
          <a:bodyPr vert="horz" lIns="93317" tIns="46659" rIns="93317" bIns="46659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8132" y="0"/>
            <a:ext cx="3043343" cy="465455"/>
          </a:xfrm>
          <a:prstGeom prst="rect">
            <a:avLst/>
          </a:prstGeom>
        </p:spPr>
        <p:txBody>
          <a:bodyPr vert="horz" lIns="93317" tIns="46659" rIns="93317" bIns="46659" rtlCol="0"/>
          <a:lstStyle>
            <a:lvl1pPr algn="r">
              <a:defRPr sz="1200"/>
            </a:lvl1pPr>
          </a:lstStyle>
          <a:p>
            <a:fld id="{D83FDC75-7F73-4A4A-A77C-09AADF00E0EA}" type="datetimeFigureOut">
              <a:rPr lang="en-US" smtClean="0"/>
              <a:pPr/>
              <a:t>3/11/2024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42030"/>
            <a:ext cx="3043343" cy="465455"/>
          </a:xfrm>
          <a:prstGeom prst="rect">
            <a:avLst/>
          </a:prstGeom>
        </p:spPr>
        <p:txBody>
          <a:bodyPr vert="horz" lIns="93317" tIns="46659" rIns="93317" bIns="46659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8132" y="8842030"/>
            <a:ext cx="3043343" cy="465455"/>
          </a:xfrm>
          <a:prstGeom prst="rect">
            <a:avLst/>
          </a:prstGeom>
        </p:spPr>
        <p:txBody>
          <a:bodyPr vert="horz" lIns="93317" tIns="46659" rIns="93317" bIns="46659" rtlCol="0" anchor="b"/>
          <a:lstStyle>
            <a:lvl1pPr algn="r">
              <a:defRPr sz="1200"/>
            </a:lvl1pPr>
          </a:lstStyle>
          <a:p>
            <a:fld id="{459226BF-1F13-42D3-80DC-373E7ADD1EB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414872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43343" cy="465455"/>
          </a:xfrm>
          <a:prstGeom prst="rect">
            <a:avLst/>
          </a:prstGeom>
        </p:spPr>
        <p:txBody>
          <a:bodyPr vert="horz" lIns="93317" tIns="46659" rIns="93317" bIns="46659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8132" y="0"/>
            <a:ext cx="3043343" cy="465455"/>
          </a:xfrm>
          <a:prstGeom prst="rect">
            <a:avLst/>
          </a:prstGeom>
        </p:spPr>
        <p:txBody>
          <a:bodyPr vert="horz" lIns="93317" tIns="46659" rIns="93317" bIns="46659" rtlCol="0"/>
          <a:lstStyle>
            <a:lvl1pPr algn="r">
              <a:defRPr sz="1200"/>
            </a:lvl1pPr>
          </a:lstStyle>
          <a:p>
            <a:fld id="{48AEF76B-3757-4A0B-AF93-28494465C1DD}" type="datetimeFigureOut">
              <a:rPr lang="en-US" smtClean="0"/>
              <a:pPr/>
              <a:t>3/11/2024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4275" y="698500"/>
            <a:ext cx="4654550" cy="34909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317" tIns="46659" rIns="93317" bIns="46659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2310" y="4421823"/>
            <a:ext cx="5618480" cy="4189095"/>
          </a:xfrm>
          <a:prstGeom prst="rect">
            <a:avLst/>
          </a:prstGeom>
        </p:spPr>
        <p:txBody>
          <a:bodyPr vert="horz" lIns="93317" tIns="46659" rIns="93317" bIns="4665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42030"/>
            <a:ext cx="3043343" cy="465455"/>
          </a:xfrm>
          <a:prstGeom prst="rect">
            <a:avLst/>
          </a:prstGeom>
        </p:spPr>
        <p:txBody>
          <a:bodyPr vert="horz" lIns="93317" tIns="46659" rIns="93317" bIns="46659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8132" y="8842030"/>
            <a:ext cx="3043343" cy="465455"/>
          </a:xfrm>
          <a:prstGeom prst="rect">
            <a:avLst/>
          </a:prstGeom>
        </p:spPr>
        <p:txBody>
          <a:bodyPr vert="horz" lIns="93317" tIns="46659" rIns="93317" bIns="46659" rtlCol="0" anchor="b"/>
          <a:lstStyle>
            <a:lvl1pPr algn="r">
              <a:defRPr sz="1200"/>
            </a:lvl1pPr>
          </a:lstStyle>
          <a:p>
            <a:fld id="{75693FD4-8F83-4EF7-AC3F-0DC0388986B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75405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lnSpc>
                <a:spcPct val="80000"/>
              </a:lnSpc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C6EAC7D-5A89-47C2-8ABA-56C9C2DEF7A4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lnSpc>
                <a:spcPct val="80000"/>
              </a:lnSpc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C6EAC7D-5A89-47C2-8ABA-56C9C2DEF7A4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lnSpc>
                <a:spcPct val="80000"/>
              </a:lnSpc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C6EAC7D-5A89-47C2-8ABA-56C9C2DEF7A4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lnSpc>
                <a:spcPct val="80000"/>
              </a:lnSpc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C6EAC7D-5A89-47C2-8ABA-56C9C2DEF7A4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lnSpc>
                <a:spcPct val="80000"/>
              </a:lnSpc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C6EAC7D-5A89-47C2-8ABA-56C9C2DEF7A4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lnSpc>
                <a:spcPct val="80000"/>
              </a:lnSpc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C6EAC7D-5A89-47C2-8ABA-56C9C2DEF7A4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lnSpc>
                <a:spcPct val="80000"/>
              </a:lnSpc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C6EAC7D-5A89-47C2-8ABA-56C9C2DEF7A4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lnSpc>
                <a:spcPct val="80000"/>
              </a:lnSpc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C6EAC7D-5A89-47C2-8ABA-56C9C2DEF7A4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lnSpc>
                <a:spcPct val="80000"/>
              </a:lnSpc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C6EAC7D-5A89-47C2-8ABA-56C9C2DEF7A4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lnSpc>
                <a:spcPct val="80000"/>
              </a:lnSpc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C6EAC7D-5A89-47C2-8ABA-56C9C2DEF7A4}" type="slidenum">
              <a:rPr lang="en-US" smtClean="0"/>
              <a:pPr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lnSpc>
                <a:spcPct val="80000"/>
              </a:lnSpc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C6EAC7D-5A89-47C2-8ABA-56C9C2DEF7A4}" type="slidenum">
              <a:rPr lang="en-US" smtClean="0"/>
              <a:pPr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lnSpc>
                <a:spcPct val="80000"/>
              </a:lnSpc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C6EAC7D-5A89-47C2-8ABA-56C9C2DEF7A4}" type="slidenum">
              <a:rPr lang="en-US" smtClean="0"/>
              <a:pPr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lnSpc>
                <a:spcPct val="80000"/>
              </a:lnSpc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C6EAC7D-5A89-47C2-8ABA-56C9C2DEF7A4}" type="slidenum">
              <a:rPr lang="en-US" smtClean="0"/>
              <a:pPr/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lnSpc>
                <a:spcPct val="80000"/>
              </a:lnSpc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C6EAC7D-5A89-47C2-8ABA-56C9C2DEF7A4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305428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lnSpc>
                <a:spcPct val="80000"/>
              </a:lnSpc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C6EAC7D-5A89-47C2-8ABA-56C9C2DEF7A4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619096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lnSpc>
                <a:spcPct val="80000"/>
              </a:lnSpc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C6EAC7D-5A89-47C2-8ABA-56C9C2DEF7A4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338720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lnSpc>
                <a:spcPct val="80000"/>
              </a:lnSpc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C6EAC7D-5A89-47C2-8ABA-56C9C2DEF7A4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883916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lnSpc>
                <a:spcPct val="80000"/>
              </a:lnSpc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C6EAC7D-5A89-47C2-8ABA-56C9C2DEF7A4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773493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lnSpc>
                <a:spcPct val="80000"/>
              </a:lnSpc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C6EAC7D-5A89-47C2-8ABA-56C9C2DEF7A4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334129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lnSpc>
                <a:spcPct val="80000"/>
              </a:lnSpc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C6EAC7D-5A89-47C2-8ABA-56C9C2DEF7A4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764965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lnSpc>
                <a:spcPct val="80000"/>
              </a:lnSpc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C6EAC7D-5A89-47C2-8ABA-56C9C2DEF7A4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057513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lnSpc>
                <a:spcPct val="80000"/>
              </a:lnSpc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C6EAC7D-5A89-47C2-8ABA-56C9C2DEF7A4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968913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C6EAC7D-5A89-47C2-8ABA-56C9C2DEF7A4}" type="slidenum">
              <a:rPr lang="en-US" smtClean="0"/>
              <a:pPr/>
              <a:t>32</a:t>
            </a:fld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46404" y="758952"/>
            <a:ext cx="706374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66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46404" y="4800600"/>
            <a:ext cx="7063740" cy="1691640"/>
          </a:xfrm>
        </p:spPr>
        <p:txBody>
          <a:bodyPr>
            <a:normAutofit/>
          </a:bodyPr>
          <a:lstStyle>
            <a:lvl1pPr marL="0" indent="0" algn="l">
              <a:buNone/>
              <a:defRPr sz="2000" baseline="0">
                <a:solidFill>
                  <a:schemeClr val="tx1">
                    <a:lumMod val="8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20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3429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20000"/>
                    <a:lumOff val="80000"/>
                  </a:schemeClr>
                </a:solidFill>
              </a:defRPr>
            </a:lvl1pPr>
          </a:lstStyle>
          <a:p>
            <a:fld id="{757B281C-5159-4971-8228-52B9A72E9ED2}" type="datetimeFigureOut">
              <a:rPr lang="en-US" smtClean="0"/>
              <a:pPr/>
              <a:t>3/11/2024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60000"/>
                    <a:lumOff val="40000"/>
                  </a:schemeClr>
                </a:solidFill>
              </a:defRPr>
            </a:lvl1pPr>
          </a:lstStyle>
          <a:p>
            <a:fld id="{33D6E5A2-EC83-451F-A719-9AC1370DD5C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583161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B281C-5159-4971-8228-52B9A72E9ED2}" type="datetimeFigureOut">
              <a:rPr lang="en-US" smtClean="0"/>
              <a:pPr/>
              <a:t>3/11/2024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6E5A2-EC83-451F-A719-9AC1370DD5C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4505805"/>
      </p:ext>
    </p:extLst>
  </p:cSld>
  <p:clrMapOvr>
    <a:masterClrMapping/>
  </p:clrMapOvr>
  <p:transition spd="slow">
    <p:wipe dir="d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6404" y="758952"/>
            <a:ext cx="706374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6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6404" y="4800600"/>
            <a:ext cx="706374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B281C-5159-4971-8228-52B9A72E9ED2}" type="datetimeFigureOut">
              <a:rPr lang="en-US" smtClean="0"/>
              <a:pPr/>
              <a:t>3/11/2024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6E5A2-EC83-451F-A719-9AC1370DD5C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3429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9910593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46404" y="1828801"/>
            <a:ext cx="336042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94860" y="1828801"/>
            <a:ext cx="336042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B281C-5159-4971-8228-52B9A72E9ED2}" type="datetimeFigureOut">
              <a:rPr lang="en-US" smtClean="0"/>
              <a:pPr/>
              <a:t>3/11/2024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6E5A2-EC83-451F-A719-9AC1370DD5C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776075"/>
      </p:ext>
    </p:extLst>
  </p:cSld>
  <p:clrMapOvr>
    <a:masterClrMapping/>
  </p:clrMapOvr>
  <p:transition spd="slow">
    <p:wipe dir="d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6404" y="1717185"/>
            <a:ext cx="336042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46404" y="2507550"/>
            <a:ext cx="336042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>
          <a:xfrm>
            <a:off x="4599432" y="1717185"/>
            <a:ext cx="3364992" cy="731520"/>
          </a:xfrm>
        </p:spPr>
        <p:txBody>
          <a:bodyPr anchor="b">
            <a:normAutofit/>
          </a:bodyPr>
          <a:lstStyle>
            <a:lvl1pPr marL="0" indent="0">
              <a:buFontTx/>
              <a:buNone/>
              <a:defRPr lang="en-US" sz="1800" b="0" kern="1200" spc="10" baseline="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buClr>
                <a:schemeClr val="accent1"/>
              </a:buClr>
              <a:buSzPct val="80000"/>
              <a:buNone/>
            </a:pPr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594860" y="2507550"/>
            <a:ext cx="336042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B281C-5159-4971-8228-52B9A72E9ED2}" type="datetimeFigureOut">
              <a:rPr lang="en-US" smtClean="0"/>
              <a:pPr/>
              <a:t>3/11/2024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6E5A2-EC83-451F-A719-9AC1370DD5C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20065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B281C-5159-4971-8228-52B9A72E9ED2}" type="datetimeFigureOut">
              <a:rPr lang="en-US" smtClean="0"/>
              <a:pPr/>
              <a:t>3/11/2024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6E5A2-EC83-451F-A719-9AC1370DD5C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1103755"/>
      </p:ext>
    </p:extLst>
  </p:cSld>
  <p:clrMapOvr>
    <a:masterClrMapping/>
  </p:clrMapOvr>
  <p:transition spd="slow">
    <p:wipe dir="d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B281C-5159-4971-8228-52B9A72E9ED2}" type="datetimeFigureOut">
              <a:rPr lang="en-US" smtClean="0"/>
              <a:pPr/>
              <a:t>3/11/2024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6E5A2-EC83-451F-A719-9AC1370DD5C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8052191"/>
      </p:ext>
    </p:extLst>
  </p:cSld>
  <p:clrMapOvr>
    <a:masterClrMapping/>
  </p:clrMapOvr>
  <p:transition spd="slow">
    <p:wipe dir="d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457201"/>
            <a:ext cx="2400300" cy="1600197"/>
          </a:xfrm>
        </p:spPr>
        <p:txBody>
          <a:bodyPr anchor="b">
            <a:normAutofit/>
          </a:bodyPr>
          <a:lstStyle>
            <a:lvl1pPr>
              <a:defRPr sz="2800" b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78200" y="685800"/>
            <a:ext cx="4559300" cy="5486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936" y="2099735"/>
            <a:ext cx="24003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B281C-5159-4971-8228-52B9A72E9ED2}" type="datetimeFigureOut">
              <a:rPr lang="en-US" smtClean="0"/>
              <a:pPr/>
              <a:t>3/11/2024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6E5A2-EC83-451F-A719-9AC1370DD5C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5492198"/>
      </p:ext>
    </p:extLst>
  </p:cSld>
  <p:clrMapOvr>
    <a:masterClrMapping/>
  </p:clrMapOvr>
  <p:transition spd="slow">
    <p:wipe dir="d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846963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257800"/>
            <a:ext cx="748665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1"/>
            <a:ext cx="8469630" cy="5128923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6108590"/>
            <a:ext cx="748665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B281C-5159-4971-8228-52B9A72E9ED2}" type="datetimeFigureOut">
              <a:rPr lang="en-US" smtClean="0"/>
              <a:pPr/>
              <a:t>3/11/2024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6E5A2-EC83-451F-A719-9AC1370DD5C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3066372"/>
      </p:ext>
    </p:extLst>
  </p:cSld>
  <p:clrMapOvr>
    <a:masterClrMapping/>
  </p:clrMapOvr>
  <p:transition spd="slow">
    <p:wipe dir="d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B281C-5159-4971-8228-52B9A72E9ED2}" type="datetimeFigureOut">
              <a:rPr lang="en-US" smtClean="0"/>
              <a:pPr/>
              <a:t>3/11/2024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6E5A2-EC83-451F-A719-9AC1370DD5C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1881943"/>
      </p:ext>
    </p:extLst>
  </p:cSld>
  <p:clrMapOvr>
    <a:masterClrMapping/>
  </p:clrMapOvr>
  <p:transition spd="slow">
    <p:wipe dir="d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86525" y="381000"/>
            <a:ext cx="1857375" cy="58975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71500" y="381000"/>
            <a:ext cx="5800725" cy="5897562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B281C-5159-4971-8228-52B9A72E9ED2}" type="datetimeFigureOut">
              <a:rPr lang="en-US" smtClean="0"/>
              <a:pPr/>
              <a:t>3/11/2024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6E5A2-EC83-451F-A719-9AC1370DD5C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56188"/>
      </p:ext>
    </p:extLst>
  </p:cSld>
  <p:clrMapOvr>
    <a:masterClrMapping/>
  </p:clrMapOvr>
  <p:transition spd="slow">
    <p:wipe dir="d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3543" y="0"/>
            <a:ext cx="9100457" cy="6879771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3161049" y="-3176815"/>
            <a:ext cx="2819400" cy="917303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0" y="3048000"/>
            <a:ext cx="4343400" cy="1362075"/>
          </a:xfrm>
        </p:spPr>
        <p:txBody>
          <a:bodyPr anchor="b" anchorCtr="0"/>
          <a:lstStyle>
            <a:lvl1pPr algn="l">
              <a:defRPr sz="4000" b="1" cap="small" baseline="0">
                <a:solidFill>
                  <a:srgbClr val="00330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B281C-5159-4971-8228-52B9A72E9ED2}" type="datetimeFigureOut">
              <a:rPr lang="en-US" smtClean="0"/>
              <a:pPr/>
              <a:t>3/11/2024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6E5A2-EC83-451F-A719-9AC1370DD5C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3" hasCustomPrompt="1"/>
          </p:nvPr>
        </p:nvSpPr>
        <p:spPr>
          <a:xfrm>
            <a:off x="6781800" y="5334000"/>
            <a:ext cx="2133600" cy="9906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 dirty="0"/>
              <a:t>Company Logo</a:t>
            </a:r>
          </a:p>
        </p:txBody>
      </p:sp>
    </p:spTree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2000" y="269632"/>
            <a:ext cx="8077200" cy="1143000"/>
          </a:xfrm>
        </p:spPr>
        <p:txBody>
          <a:bodyPr anchor="ctr" anchorCtr="0"/>
          <a:lstStyle>
            <a:lvl1pPr algn="l">
              <a:defRPr lang="en-US" dirty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596413"/>
            <a:ext cx="8077200" cy="4297363"/>
          </a:xfrm>
        </p:spPr>
        <p:txBody>
          <a:bodyPr>
            <a:normAutofit/>
          </a:bodyPr>
          <a:lstStyle>
            <a:lvl1pPr>
              <a:defRPr sz="3200">
                <a:latin typeface="+mn-lt"/>
              </a:defRPr>
            </a:lvl1pPr>
            <a:lvl2pPr>
              <a:defRPr sz="2800">
                <a:latin typeface="+mn-lt"/>
              </a:defRPr>
            </a:lvl2pPr>
            <a:lvl3pPr>
              <a:defRPr sz="2400">
                <a:latin typeface="+mn-lt"/>
              </a:defRPr>
            </a:lvl3pPr>
            <a:lvl4pPr>
              <a:defRPr sz="2400">
                <a:latin typeface="+mn-lt"/>
              </a:defRPr>
            </a:lvl4pPr>
            <a:lvl5pPr>
              <a:defRPr sz="240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B281C-5159-4971-8228-52B9A72E9ED2}" type="datetimeFigureOut">
              <a:rPr lang="en-US" smtClean="0"/>
              <a:pPr/>
              <a:t>3/11/2024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705600" y="6356350"/>
            <a:ext cx="2133600" cy="365125"/>
          </a:xfrm>
        </p:spPr>
        <p:txBody>
          <a:bodyPr/>
          <a:lstStyle/>
          <a:p>
            <a:fld id="{33D6E5A2-EC83-451F-A719-9AC1370DD5CF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 spd="slow">
    <p:wipe dir="d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8418195" y="0"/>
            <a:ext cx="73152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46404" y="365760"/>
            <a:ext cx="726948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6404" y="1828801"/>
            <a:ext cx="644652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7831456" y="1044178"/>
            <a:ext cx="190499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757B281C-5159-4971-8228-52B9A72E9ED2}" type="datetimeFigureOut">
              <a:rPr lang="en-US" smtClean="0"/>
              <a:pPr/>
              <a:t>3/11/2024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6993255" y="4092178"/>
            <a:ext cx="3581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41055" y="6172201"/>
            <a:ext cx="685800" cy="593725"/>
          </a:xfrm>
          <a:prstGeom prst="rect">
            <a:avLst/>
          </a:prstGeom>
        </p:spPr>
        <p:txBody>
          <a:bodyPr vert="horz" lIns="27432" tIns="45720" rIns="27432" bIns="45720" rtlCol="0" anchor="ctr">
            <a:normAutofit/>
          </a:bodyPr>
          <a:lstStyle>
            <a:lvl1pPr algn="ctr">
              <a:defRPr sz="32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33D6E5A2-EC83-451F-A719-9AC1370DD5C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14884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651" r:id="rId12"/>
    <p:sldLayoutId id="2147483650" r:id="rId13"/>
  </p:sldLayoutIdLst>
  <p:transition spd="slow">
    <p:wipe dir="d"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tags" Target="../tags/tag6.xml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tags" Target="../tags/tag10.xml"/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" Type="http://schemas.openxmlformats.org/officeDocument/2006/relationships/tags" Target="../tags/tag13.xml"/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tags" Target="../tags/tag18.xml"/><Relationship Id="rId2" Type="http://schemas.openxmlformats.org/officeDocument/2006/relationships/tags" Target="../tags/tag17.xml"/><Relationship Id="rId1" Type="http://schemas.openxmlformats.org/officeDocument/2006/relationships/tags" Target="../tags/tag16.xml"/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tags" Target="../tags/tag21.xml"/><Relationship Id="rId2" Type="http://schemas.openxmlformats.org/officeDocument/2006/relationships/tags" Target="../tags/tag20.xml"/><Relationship Id="rId1" Type="http://schemas.openxmlformats.org/officeDocument/2006/relationships/tags" Target="../tags/tag19.xml"/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tags" Target="../tags/tag24.xml"/><Relationship Id="rId2" Type="http://schemas.openxmlformats.org/officeDocument/2006/relationships/tags" Target="../tags/tag23.xml"/><Relationship Id="rId1" Type="http://schemas.openxmlformats.org/officeDocument/2006/relationships/tags" Target="../tags/tag22.xml"/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tags" Target="../tags/tag27.xml"/><Relationship Id="rId2" Type="http://schemas.openxmlformats.org/officeDocument/2006/relationships/tags" Target="../tags/tag26.xml"/><Relationship Id="rId1" Type="http://schemas.openxmlformats.org/officeDocument/2006/relationships/tags" Target="../tags/tag25.xml"/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tags" Target="../tags/tag30.xml"/><Relationship Id="rId2" Type="http://schemas.openxmlformats.org/officeDocument/2006/relationships/tags" Target="../tags/tag29.xml"/><Relationship Id="rId1" Type="http://schemas.openxmlformats.org/officeDocument/2006/relationships/tags" Target="../tags/tag28.xml"/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tags" Target="../tags/tag33.xml"/><Relationship Id="rId2" Type="http://schemas.openxmlformats.org/officeDocument/2006/relationships/tags" Target="../tags/tag32.xml"/><Relationship Id="rId1" Type="http://schemas.openxmlformats.org/officeDocument/2006/relationships/tags" Target="../tags/tag31.xml"/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tags" Target="../tags/tag36.xml"/><Relationship Id="rId2" Type="http://schemas.openxmlformats.org/officeDocument/2006/relationships/tags" Target="../tags/tag35.xml"/><Relationship Id="rId1" Type="http://schemas.openxmlformats.org/officeDocument/2006/relationships/tags" Target="../tags/tag34.xml"/><Relationship Id="rId5" Type="http://schemas.openxmlformats.org/officeDocument/2006/relationships/notesSlide" Target="../notesSlides/notesSlide12.xml"/><Relationship Id="rId4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tags" Target="../tags/tag39.xml"/><Relationship Id="rId2" Type="http://schemas.openxmlformats.org/officeDocument/2006/relationships/tags" Target="../tags/tag38.xml"/><Relationship Id="rId1" Type="http://schemas.openxmlformats.org/officeDocument/2006/relationships/tags" Target="../tags/tag37.xml"/><Relationship Id="rId5" Type="http://schemas.openxmlformats.org/officeDocument/2006/relationships/notesSlide" Target="../notesSlides/notesSlide13.xml"/><Relationship Id="rId4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tags" Target="../tags/tag42.xml"/><Relationship Id="rId2" Type="http://schemas.openxmlformats.org/officeDocument/2006/relationships/tags" Target="../tags/tag41.xml"/><Relationship Id="rId1" Type="http://schemas.openxmlformats.org/officeDocument/2006/relationships/tags" Target="../tags/tag40.xml"/><Relationship Id="rId5" Type="http://schemas.openxmlformats.org/officeDocument/2006/relationships/notesSlide" Target="../notesSlides/notesSlide14.xml"/><Relationship Id="rId4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tags" Target="../tags/tag45.xml"/><Relationship Id="rId2" Type="http://schemas.openxmlformats.org/officeDocument/2006/relationships/tags" Target="../tags/tag44.xml"/><Relationship Id="rId1" Type="http://schemas.openxmlformats.org/officeDocument/2006/relationships/tags" Target="../tags/tag43.xml"/><Relationship Id="rId5" Type="http://schemas.openxmlformats.org/officeDocument/2006/relationships/notesSlide" Target="../notesSlides/notesSlide15.xml"/><Relationship Id="rId4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tags" Target="../tags/tag46.xml"/><Relationship Id="rId5" Type="http://schemas.openxmlformats.org/officeDocument/2006/relationships/notesSlide" Target="../notesSlides/notesSlide16.xml"/><Relationship Id="rId4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" Type="http://schemas.openxmlformats.org/officeDocument/2006/relationships/tags" Target="../tags/tag49.xml"/><Relationship Id="rId5" Type="http://schemas.openxmlformats.org/officeDocument/2006/relationships/notesSlide" Target="../notesSlides/notesSlide17.xml"/><Relationship Id="rId4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tags" Target="../tags/tag54.xml"/><Relationship Id="rId2" Type="http://schemas.openxmlformats.org/officeDocument/2006/relationships/tags" Target="../tags/tag53.xml"/><Relationship Id="rId1" Type="http://schemas.openxmlformats.org/officeDocument/2006/relationships/tags" Target="../tags/tag52.xml"/><Relationship Id="rId5" Type="http://schemas.openxmlformats.org/officeDocument/2006/relationships/notesSlide" Target="../notesSlides/notesSlide18.xml"/><Relationship Id="rId4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tags" Target="../tags/tag57.xml"/><Relationship Id="rId2" Type="http://schemas.openxmlformats.org/officeDocument/2006/relationships/tags" Target="../tags/tag56.xml"/><Relationship Id="rId1" Type="http://schemas.openxmlformats.org/officeDocument/2006/relationships/tags" Target="../tags/tag55.xml"/><Relationship Id="rId5" Type="http://schemas.openxmlformats.org/officeDocument/2006/relationships/notesSlide" Target="../notesSlides/notesSlide19.xml"/><Relationship Id="rId4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tags" Target="../tags/tag60.xml"/><Relationship Id="rId2" Type="http://schemas.openxmlformats.org/officeDocument/2006/relationships/tags" Target="../tags/tag59.xml"/><Relationship Id="rId1" Type="http://schemas.openxmlformats.org/officeDocument/2006/relationships/tags" Target="../tags/tag58.xml"/><Relationship Id="rId5" Type="http://schemas.openxmlformats.org/officeDocument/2006/relationships/notesSlide" Target="../notesSlides/notesSlide20.xml"/><Relationship Id="rId4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tags" Target="../tags/tag63.xml"/><Relationship Id="rId2" Type="http://schemas.openxmlformats.org/officeDocument/2006/relationships/tags" Target="../tags/tag62.xml"/><Relationship Id="rId1" Type="http://schemas.openxmlformats.org/officeDocument/2006/relationships/tags" Target="../tags/tag61.xml"/><Relationship Id="rId5" Type="http://schemas.openxmlformats.org/officeDocument/2006/relationships/notesSlide" Target="../notesSlides/notesSlide21.xml"/><Relationship Id="rId4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tags" Target="../tags/tag66.xml"/><Relationship Id="rId2" Type="http://schemas.openxmlformats.org/officeDocument/2006/relationships/tags" Target="../tags/tag65.xml"/><Relationship Id="rId1" Type="http://schemas.openxmlformats.org/officeDocument/2006/relationships/tags" Target="../tags/tag64.xml"/><Relationship Id="rId5" Type="http://schemas.openxmlformats.org/officeDocument/2006/relationships/notesSlide" Target="../notesSlides/notesSlide22.xml"/><Relationship Id="rId4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tags" Target="../tags/tag69.xml"/><Relationship Id="rId2" Type="http://schemas.openxmlformats.org/officeDocument/2006/relationships/tags" Target="../tags/tag68.xml"/><Relationship Id="rId1" Type="http://schemas.openxmlformats.org/officeDocument/2006/relationships/tags" Target="../tags/tag67.xml"/><Relationship Id="rId5" Type="http://schemas.openxmlformats.org/officeDocument/2006/relationships/notesSlide" Target="../notesSlides/notesSlide23.xml"/><Relationship Id="rId4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800" b="1" dirty="0"/>
              <a:t>Entity Relationship Diagrams</a:t>
            </a:r>
            <a:br>
              <a:rPr lang="en-US" sz="4800" b="1" dirty="0"/>
            </a:br>
            <a:r>
              <a:rPr lang="en-US" sz="4800" b="1" dirty="0"/>
              <a:t>ERDs</a:t>
            </a:r>
            <a:br>
              <a:rPr lang="en-US" sz="4800" b="1" dirty="0"/>
            </a:br>
            <a:br>
              <a:rPr lang="en-US" sz="4800" b="1" dirty="0"/>
            </a:br>
            <a:endParaRPr lang="en-CA" sz="2400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Lecture 07</a:t>
            </a:r>
          </a:p>
          <a:p>
            <a:r>
              <a:rPr lang="en-US" sz="2000" dirty="0"/>
              <a:t>DBS211</a:t>
            </a:r>
            <a:endParaRPr lang="en-CA" sz="2000" dirty="0"/>
          </a:p>
        </p:txBody>
      </p:sp>
    </p:spTree>
    <p:extLst>
      <p:ext uri="{BB962C8B-B14F-4D97-AF65-F5344CB8AC3E}">
        <p14:creationId xmlns:p14="http://schemas.microsoft.com/office/powerpoint/2010/main" val="29260486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>
            <a:normAutofit/>
          </a:bodyPr>
          <a:lstStyle/>
          <a:p>
            <a:r>
              <a:rPr lang="en-CA" sz="4400" b="1" dirty="0">
                <a:solidFill>
                  <a:srgbClr val="C00000"/>
                </a:solidFill>
              </a:rPr>
              <a:t>What is an ERD?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>
            <a:normAutofit/>
          </a:bodyPr>
          <a:lstStyle/>
          <a:p>
            <a:r>
              <a:rPr lang="en-CA" sz="2800" dirty="0"/>
              <a:t>This conceptual data model represents the data used in an organization and the relationships between the data </a:t>
            </a:r>
          </a:p>
          <a:p>
            <a:r>
              <a:rPr lang="en-CA" sz="2800" dirty="0"/>
              <a:t>It is a graphical representation of the proposed database</a:t>
            </a:r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endParaRPr lang="en-CA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3486337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>
            <a:normAutofit/>
          </a:bodyPr>
          <a:lstStyle/>
          <a:p>
            <a:r>
              <a:rPr lang="en-US" sz="4400" b="1" dirty="0">
                <a:solidFill>
                  <a:srgbClr val="C00000"/>
                </a:solidFill>
              </a:rPr>
              <a:t>Why ERDs?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>
            <a:normAutofit/>
          </a:bodyPr>
          <a:lstStyle/>
          <a:p>
            <a:r>
              <a:rPr lang="en-CA" sz="2800" dirty="0"/>
              <a:t>Documentation used to represent the database in an abstract way</a:t>
            </a:r>
          </a:p>
          <a:p>
            <a:r>
              <a:rPr lang="en-CA" sz="2800" dirty="0"/>
              <a:t>The data model can be reviewed by the end user and the person responsible for the physical database design</a:t>
            </a:r>
          </a:p>
          <a:p>
            <a:r>
              <a:rPr lang="en-CA" sz="2800" dirty="0"/>
              <a:t>Useful tool for the person creating the data model</a:t>
            </a:r>
            <a:r>
              <a:rPr lang="en-CA" dirty="0"/>
              <a:t>. </a:t>
            </a:r>
          </a:p>
        </p:txBody>
      </p:sp>
    </p:spTree>
    <p:custDataLst>
      <p:tags r:id="rId1"/>
    </p:custData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>
            <a:normAutofit/>
          </a:bodyPr>
          <a:lstStyle/>
          <a:p>
            <a:r>
              <a:rPr lang="en-US" sz="4400" b="1" dirty="0">
                <a:solidFill>
                  <a:srgbClr val="C00000"/>
                </a:solidFill>
              </a:rPr>
              <a:t>Entities and Events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CA" sz="2800" dirty="0"/>
              <a:t>Entities - People, places, things or concepts about which information must be recorded</a:t>
            </a:r>
          </a:p>
          <a:p>
            <a:r>
              <a:rPr lang="en-CA" sz="2800" dirty="0"/>
              <a:t>Entities as Events – Placing an order or approving a loan</a:t>
            </a:r>
          </a:p>
          <a:p>
            <a:r>
              <a:rPr lang="en-CA" sz="2800" dirty="0"/>
              <a:t>Attributes for entities, events and relationships would be things like customer names or dates on which orders were placed</a:t>
            </a:r>
          </a:p>
          <a:p>
            <a:r>
              <a:rPr lang="en-CA" sz="2800" dirty="0"/>
              <a:t>Attribute – one single valued fact about an entity that we may want to record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7375336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>
            <a:normAutofit/>
          </a:bodyPr>
          <a:lstStyle/>
          <a:p>
            <a:r>
              <a:rPr lang="en-US" sz="4400" b="1" dirty="0">
                <a:solidFill>
                  <a:srgbClr val="C00000"/>
                </a:solidFill>
              </a:rPr>
              <a:t>E (Relationship)Ds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>
            <a:normAutofit fontScale="92500"/>
          </a:bodyPr>
          <a:lstStyle/>
          <a:p>
            <a:r>
              <a:rPr lang="en-CA" sz="3000" dirty="0"/>
              <a:t>Relationships are found between entities</a:t>
            </a:r>
          </a:p>
          <a:p>
            <a:r>
              <a:rPr lang="en-CA" sz="3000" dirty="0"/>
              <a:t>An employee is in a department</a:t>
            </a:r>
          </a:p>
          <a:p>
            <a:r>
              <a:rPr lang="en-CA" sz="3000" dirty="0"/>
              <a:t>A department has many employees</a:t>
            </a:r>
          </a:p>
          <a:p>
            <a:r>
              <a:rPr lang="en-CA" sz="3000" dirty="0"/>
              <a:t>Business rules must be taken into account</a:t>
            </a:r>
          </a:p>
          <a:p>
            <a:r>
              <a:rPr lang="en-CA" sz="3000" dirty="0"/>
              <a:t>Every employee must be in a single department</a:t>
            </a:r>
          </a:p>
          <a:p>
            <a:pPr marL="0" indent="0">
              <a:buNone/>
            </a:pPr>
            <a:endParaRPr lang="en-CA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3811287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>
            <a:normAutofit/>
          </a:bodyPr>
          <a:lstStyle/>
          <a:p>
            <a:r>
              <a:rPr lang="en-US" sz="4400" b="1" dirty="0">
                <a:solidFill>
                  <a:srgbClr val="C00000"/>
                </a:solidFill>
              </a:rPr>
              <a:t>E (Relationship)Ds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CA" sz="2800" dirty="0"/>
              <a:t>Relationships are found between entities and events</a:t>
            </a:r>
          </a:p>
          <a:p>
            <a:r>
              <a:rPr lang="en-CA" sz="2800" dirty="0"/>
              <a:t>A customer (entity) places an order (event)</a:t>
            </a:r>
          </a:p>
          <a:p>
            <a:r>
              <a:rPr lang="en-CA" sz="2800" dirty="0"/>
              <a:t>A loan officer (entity) approves a loan (event)</a:t>
            </a:r>
          </a:p>
          <a:p>
            <a:r>
              <a:rPr lang="en-CA" sz="2800" dirty="0"/>
              <a:t>Business rules must be taken into account</a:t>
            </a:r>
          </a:p>
          <a:p>
            <a:r>
              <a:rPr lang="en-CA" sz="2800" dirty="0"/>
              <a:t>Loan example - a rule that the borrower must have an adjusted gross income of at least half of his or her outstanding debt may be enforced</a:t>
            </a:r>
          </a:p>
          <a:p>
            <a:pPr marL="0" indent="0">
              <a:buNone/>
            </a:pPr>
            <a:endParaRPr lang="en-CA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523445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>
            <a:normAutofit/>
          </a:bodyPr>
          <a:lstStyle/>
          <a:p>
            <a:r>
              <a:rPr lang="en-US" sz="4400" b="1" dirty="0">
                <a:solidFill>
                  <a:srgbClr val="C00000"/>
                </a:solidFill>
              </a:rPr>
              <a:t>An ERD should…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>
            <a:normAutofit/>
          </a:bodyPr>
          <a:lstStyle/>
          <a:p>
            <a:r>
              <a:rPr lang="en-CA" sz="2800" dirty="0"/>
              <a:t>capture all required information</a:t>
            </a:r>
          </a:p>
          <a:p>
            <a:r>
              <a:rPr lang="en-CA" sz="2800" dirty="0"/>
              <a:t>make sure data appears only once in the database design</a:t>
            </a:r>
          </a:p>
          <a:p>
            <a:r>
              <a:rPr lang="en-CA" sz="2800" dirty="0"/>
              <a:t>not include in the data model any data that is derived from other data that is already in the data model</a:t>
            </a:r>
          </a:p>
          <a:p>
            <a:r>
              <a:rPr lang="en-CA" sz="2800" dirty="0"/>
              <a:t>arrange data in the data model in a logical manner</a:t>
            </a:r>
          </a:p>
          <a:p>
            <a:pPr marL="0" indent="0">
              <a:buNone/>
            </a:pPr>
            <a:endParaRPr lang="en-CA" sz="28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1882632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sz="4400" b="1" dirty="0">
                <a:solidFill>
                  <a:srgbClr val="C00000"/>
                </a:solidFill>
              </a:rPr>
              <a:t>Equivalent Terms: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830314"/>
              </p:ext>
            </p:extLst>
          </p:nvPr>
        </p:nvGraphicFramePr>
        <p:xfrm>
          <a:off x="863588" y="1988840"/>
          <a:ext cx="7416824" cy="34003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42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542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5420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5420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25830">
                <a:tc>
                  <a:txBody>
                    <a:bodyPr/>
                    <a:lstStyle/>
                    <a:p>
                      <a:r>
                        <a:rPr lang="en-CA" dirty="0"/>
                        <a:t>Relational 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Table-Oriented DBMS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Conventional File Systems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 err="1"/>
                        <a:t>Conceptionally</a:t>
                      </a:r>
                      <a:r>
                        <a:rPr lang="en-CA" dirty="0"/>
                        <a:t> Represents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1471">
                <a:tc>
                  <a:txBody>
                    <a:bodyPr/>
                    <a:lstStyle/>
                    <a:p>
                      <a:r>
                        <a:rPr lang="en-CA" dirty="0"/>
                        <a:t>Relation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Table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File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Entity Type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1471">
                <a:tc>
                  <a:txBody>
                    <a:bodyPr/>
                    <a:lstStyle/>
                    <a:p>
                      <a:r>
                        <a:rPr lang="en-CA" dirty="0"/>
                        <a:t>Tuple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Row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Record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Entity Instance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1471">
                <a:tc>
                  <a:txBody>
                    <a:bodyPr/>
                    <a:lstStyle/>
                    <a:p>
                      <a:r>
                        <a:rPr lang="en-CA" dirty="0"/>
                        <a:t>Attribute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Column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Field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Property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1471">
                <a:tc>
                  <a:txBody>
                    <a:bodyPr/>
                    <a:lstStyle/>
                    <a:p>
                      <a:r>
                        <a:rPr lang="en-CA" dirty="0"/>
                        <a:t>Domain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Column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Data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Allowable Values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1471">
                <a:tc>
                  <a:txBody>
                    <a:bodyPr/>
                    <a:lstStyle/>
                    <a:p>
                      <a:r>
                        <a:rPr lang="en-CA" dirty="0"/>
                        <a:t>Element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Column 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Field 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Property 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63699411"/>
      </p:ext>
    </p:extLst>
  </p:cSld>
  <p:clrMapOvr>
    <a:masterClrMapping/>
  </p:clrMapOvr>
  <p:transition spd="slow">
    <p:wipe dir="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>
            <a:normAutofit/>
          </a:bodyPr>
          <a:lstStyle/>
          <a:p>
            <a:r>
              <a:rPr lang="en-CA" sz="4800" b="1" dirty="0">
                <a:solidFill>
                  <a:srgbClr val="C00000"/>
                </a:solidFill>
              </a:rPr>
              <a:t>Customer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>
            <a:normAutofit/>
          </a:bodyPr>
          <a:lstStyle/>
          <a:p>
            <a:r>
              <a:rPr lang="en-CA" sz="2800" dirty="0"/>
              <a:t>Customer Relation</a:t>
            </a:r>
          </a:p>
          <a:p>
            <a:r>
              <a:rPr lang="en-CA" sz="2800" dirty="0"/>
              <a:t>Customer Table</a:t>
            </a:r>
          </a:p>
          <a:p>
            <a:r>
              <a:rPr lang="en-CA" sz="2800" dirty="0"/>
              <a:t>Customer File</a:t>
            </a:r>
          </a:p>
          <a:p>
            <a:r>
              <a:rPr lang="en-CA" sz="2800" dirty="0"/>
              <a:t>Customer Entity</a:t>
            </a:r>
          </a:p>
          <a:p>
            <a:endParaRPr lang="en-CA" dirty="0"/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endParaRPr lang="en-CA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2043549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>
            <a:normAutofit/>
          </a:bodyPr>
          <a:lstStyle/>
          <a:p>
            <a:r>
              <a:rPr lang="en-CA" sz="4400" b="1" dirty="0">
                <a:solidFill>
                  <a:srgbClr val="C00000"/>
                </a:solidFill>
              </a:rPr>
              <a:t>Last Name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>
            <a:normAutofit/>
          </a:bodyPr>
          <a:lstStyle/>
          <a:p>
            <a:r>
              <a:rPr lang="en-CA" sz="2800" dirty="0"/>
              <a:t>Last name attribute in Customer Relation</a:t>
            </a:r>
          </a:p>
          <a:p>
            <a:r>
              <a:rPr lang="en-CA" sz="2800" dirty="0"/>
              <a:t>Last name column in Customer Table</a:t>
            </a:r>
          </a:p>
          <a:p>
            <a:r>
              <a:rPr lang="en-CA" sz="2800" dirty="0"/>
              <a:t>Last name field in Customer File</a:t>
            </a:r>
          </a:p>
          <a:p>
            <a:r>
              <a:rPr lang="en-CA" sz="2800" dirty="0"/>
              <a:t>Last name property of Customer Entity</a:t>
            </a:r>
          </a:p>
          <a:p>
            <a:endParaRPr lang="en-CA" dirty="0"/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endParaRPr lang="en-CA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3845971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>
            <a:normAutofit/>
          </a:bodyPr>
          <a:lstStyle/>
          <a:p>
            <a:r>
              <a:rPr lang="en-CA" sz="4400" b="1" dirty="0">
                <a:solidFill>
                  <a:srgbClr val="C00000"/>
                </a:solidFill>
              </a:rPr>
              <a:t>Phone Number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>
            <a:normAutofit lnSpcReduction="10000"/>
          </a:bodyPr>
          <a:lstStyle/>
          <a:p>
            <a:r>
              <a:rPr lang="en-CA" sz="2800" dirty="0"/>
              <a:t>Customer Relation phone number domain is numeric or character</a:t>
            </a:r>
          </a:p>
          <a:p>
            <a:r>
              <a:rPr lang="en-CA" sz="2800" dirty="0"/>
              <a:t>Customer Table phone number column type is numeric or character</a:t>
            </a:r>
          </a:p>
          <a:p>
            <a:r>
              <a:rPr lang="en-CA" sz="2800" dirty="0"/>
              <a:t>Customer File phone number data type is numeric or character</a:t>
            </a:r>
          </a:p>
          <a:p>
            <a:r>
              <a:rPr lang="en-CA" sz="2800" dirty="0"/>
              <a:t>Customer Entity phone number allowable values are numeric or character</a:t>
            </a:r>
          </a:p>
          <a:p>
            <a:endParaRPr lang="en-CA" sz="2800" dirty="0"/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endParaRPr lang="en-CA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8083356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>
            <a:normAutofit/>
          </a:bodyPr>
          <a:lstStyle/>
          <a:p>
            <a:r>
              <a:rPr lang="en-CA" sz="4400" b="1" dirty="0">
                <a:solidFill>
                  <a:srgbClr val="C00000"/>
                </a:solidFill>
              </a:rPr>
              <a:t>Phone Number is 4164915050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CA" sz="2800" dirty="0"/>
              <a:t>Customer Relation phone number </a:t>
            </a:r>
            <a:r>
              <a:rPr lang="en-CA" sz="2800" b="1" i="1" dirty="0"/>
              <a:t>element</a:t>
            </a:r>
            <a:r>
              <a:rPr lang="en-CA" sz="2800" dirty="0"/>
              <a:t> is 4164915050 or (416) 491-5050</a:t>
            </a:r>
          </a:p>
          <a:p>
            <a:r>
              <a:rPr lang="en-CA" sz="2800" dirty="0"/>
              <a:t>Customer Table phone number </a:t>
            </a:r>
            <a:r>
              <a:rPr lang="en-CA" sz="2800" b="1" i="1" dirty="0"/>
              <a:t>column value</a:t>
            </a:r>
            <a:r>
              <a:rPr lang="en-CA" sz="2800" dirty="0"/>
              <a:t> is 4164915050 or (416) 491-5050</a:t>
            </a:r>
          </a:p>
          <a:p>
            <a:r>
              <a:rPr lang="en-CA" sz="2800" dirty="0"/>
              <a:t>Customer Table phone number </a:t>
            </a:r>
            <a:r>
              <a:rPr lang="en-CA" sz="2800" b="1" i="1" dirty="0"/>
              <a:t>field value</a:t>
            </a:r>
            <a:r>
              <a:rPr lang="en-CA" sz="2800" dirty="0"/>
              <a:t> is 4164915050 or (416) 491-5050</a:t>
            </a:r>
          </a:p>
          <a:p>
            <a:r>
              <a:rPr lang="en-CA" sz="2800" dirty="0"/>
              <a:t>Customer Table phone number </a:t>
            </a:r>
            <a:r>
              <a:rPr lang="en-CA" sz="2800" b="1" i="1" dirty="0"/>
              <a:t>property value</a:t>
            </a:r>
            <a:r>
              <a:rPr lang="en-CA" sz="2800" dirty="0"/>
              <a:t> is 4164915050 or (416) 491-5050</a:t>
            </a:r>
          </a:p>
          <a:p>
            <a:r>
              <a:rPr lang="en-CA" sz="2800" dirty="0"/>
              <a:t>A numeric field can used an edit code to get the special characters included “() – ”</a:t>
            </a:r>
          </a:p>
          <a:p>
            <a:endParaRPr lang="en-CA" dirty="0"/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endParaRPr lang="en-CA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0985034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>
            <a:normAutofit/>
          </a:bodyPr>
          <a:lstStyle/>
          <a:p>
            <a:r>
              <a:rPr lang="en-CA" sz="4400" b="1" dirty="0">
                <a:solidFill>
                  <a:srgbClr val="C00000"/>
                </a:solidFill>
              </a:rPr>
              <a:t>Last Name, First Name, Phone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>
            <a:normAutofit/>
          </a:bodyPr>
          <a:lstStyle/>
          <a:p>
            <a:r>
              <a:rPr lang="en-CA" sz="2800" u="sng" dirty="0"/>
              <a:t>Smith, Bill, 9056668888 </a:t>
            </a:r>
            <a:r>
              <a:rPr lang="en-CA" sz="2800" dirty="0"/>
              <a:t>as a tuple in the Customer Relation</a:t>
            </a:r>
          </a:p>
          <a:p>
            <a:r>
              <a:rPr lang="en-CA" sz="2800" u="sng" dirty="0"/>
              <a:t>Smith, Bill, 9056668888</a:t>
            </a:r>
            <a:r>
              <a:rPr lang="en-CA" sz="2800" dirty="0"/>
              <a:t> as a row in the Customer Table</a:t>
            </a:r>
          </a:p>
          <a:p>
            <a:r>
              <a:rPr lang="en-CA" sz="2800" u="sng" dirty="0"/>
              <a:t>Smith, Bill, 9056668888</a:t>
            </a:r>
            <a:r>
              <a:rPr lang="en-CA" sz="2800" dirty="0"/>
              <a:t> as a record in the Customer File</a:t>
            </a:r>
          </a:p>
          <a:p>
            <a:r>
              <a:rPr lang="en-CA" sz="2800" u="sng" dirty="0"/>
              <a:t>Smith, Bill, 9056668888 </a:t>
            </a:r>
            <a:r>
              <a:rPr lang="en-CA" sz="2800" dirty="0"/>
              <a:t>as an entity instance of the Customer Entity</a:t>
            </a:r>
          </a:p>
          <a:p>
            <a:endParaRPr lang="en-CA" dirty="0"/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endParaRPr lang="en-CA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4348167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>
            <a:normAutofit/>
          </a:bodyPr>
          <a:lstStyle/>
          <a:p>
            <a:r>
              <a:rPr lang="en-CA" sz="4400" b="1" dirty="0">
                <a:solidFill>
                  <a:srgbClr val="C00000"/>
                </a:solidFill>
              </a:rPr>
              <a:t>Steps in Designing an </a:t>
            </a:r>
            <a:r>
              <a:rPr lang="en-CA" sz="4400" b="1" dirty="0" err="1">
                <a:solidFill>
                  <a:srgbClr val="C00000"/>
                </a:solidFill>
              </a:rPr>
              <a:t>ERD</a:t>
            </a:r>
            <a:endParaRPr lang="en-CA" sz="4400" b="1" dirty="0">
              <a:solidFill>
                <a:srgbClr val="C00000"/>
              </a:solidFill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>
            <a:normAutofit/>
          </a:bodyPr>
          <a:lstStyle/>
          <a:p>
            <a:r>
              <a:rPr lang="en-CA" sz="2800" u="sng" dirty="0"/>
              <a:t>Create Entities </a:t>
            </a:r>
            <a:r>
              <a:rPr lang="en-CA" sz="2800" dirty="0"/>
              <a:t>by identifying the people, places or events about which the end user wants to store data</a:t>
            </a:r>
          </a:p>
          <a:p>
            <a:endParaRPr lang="en-CA" sz="2800" dirty="0"/>
          </a:p>
          <a:p>
            <a:r>
              <a:rPr lang="en-CA" sz="2800" u="sng" dirty="0"/>
              <a:t>Define Attributes</a:t>
            </a:r>
            <a:r>
              <a:rPr lang="en-CA" sz="2800" dirty="0"/>
              <a:t>  by determining the attributes that are essential to the system under development. For each attribute, match it with exactly one entity that it describes</a:t>
            </a:r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endParaRPr lang="en-CA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3507243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>
            <a:normAutofit/>
          </a:bodyPr>
          <a:lstStyle/>
          <a:p>
            <a:r>
              <a:rPr lang="en-CA" sz="4400" b="1" dirty="0">
                <a:solidFill>
                  <a:srgbClr val="C00000"/>
                </a:solidFill>
              </a:rPr>
              <a:t>Steps in Designing an </a:t>
            </a:r>
            <a:r>
              <a:rPr lang="en-CA" sz="4400" b="1" dirty="0" err="1">
                <a:solidFill>
                  <a:srgbClr val="C00000"/>
                </a:solidFill>
              </a:rPr>
              <a:t>ERD</a:t>
            </a:r>
            <a:endParaRPr lang="en-CA" sz="4400" b="1" dirty="0">
              <a:solidFill>
                <a:srgbClr val="C00000"/>
              </a:solidFill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CA" sz="2800" b="1" u="sng" dirty="0"/>
              <a:t>Select Unique Identifier</a:t>
            </a:r>
            <a:r>
              <a:rPr lang="en-CA" sz="2800" dirty="0"/>
              <a:t> Identify the data attribute(s) that uniquely identify one and only one occurrence of each entity. Eliminate many to many relationships, and include a unique identifier (</a:t>
            </a:r>
            <a:r>
              <a:rPr lang="en-CA" sz="2800" dirty="0" err="1"/>
              <a:t>UID</a:t>
            </a:r>
            <a:r>
              <a:rPr lang="en-CA" sz="2800" dirty="0"/>
              <a:t>) and foreign keys in each entity</a:t>
            </a:r>
          </a:p>
          <a:p>
            <a:endParaRPr lang="en-CA" sz="2800" dirty="0"/>
          </a:p>
          <a:p>
            <a:r>
              <a:rPr lang="en-CA" sz="2800" b="1" u="sng" dirty="0"/>
              <a:t>Define Relationships</a:t>
            </a:r>
            <a:r>
              <a:rPr lang="en-CA" sz="2800" dirty="0"/>
              <a:t> Find the natural associations between pairs of entities using a relationship matrix. Arrange entities in rectangles and join those entities with a line</a:t>
            </a:r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endParaRPr lang="en-CA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9620532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>
            <a:normAutofit/>
          </a:bodyPr>
          <a:lstStyle/>
          <a:p>
            <a:r>
              <a:rPr lang="en-CA" sz="4400" b="1" dirty="0">
                <a:solidFill>
                  <a:srgbClr val="C00000"/>
                </a:solidFill>
              </a:rPr>
              <a:t>Steps in Designing an ERD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CA" sz="2800" b="1" u="sng" dirty="0"/>
              <a:t>Determine Optionality and Cardinality</a:t>
            </a:r>
            <a:r>
              <a:rPr lang="en-CA" sz="2800" dirty="0"/>
              <a:t> Determine the number of occurrences of one entity for a single occurrence of the related entity.</a:t>
            </a:r>
          </a:p>
          <a:p>
            <a:endParaRPr lang="en-CA" sz="2800" dirty="0"/>
          </a:p>
          <a:p>
            <a:r>
              <a:rPr lang="en-CA" sz="2800" b="1" u="sng" dirty="0"/>
              <a:t>Name Relationships</a:t>
            </a:r>
            <a:r>
              <a:rPr lang="en-CA" sz="2800" dirty="0"/>
              <a:t>  Name each relationship between entities</a:t>
            </a:r>
          </a:p>
          <a:p>
            <a:endParaRPr lang="en-CA" sz="2800" dirty="0"/>
          </a:p>
          <a:p>
            <a:r>
              <a:rPr lang="en-CA" sz="2800" b="1" u="sng" dirty="0"/>
              <a:t>Eliminate Many-</a:t>
            </a:r>
            <a:r>
              <a:rPr lang="en-CA" sz="2800" b="1" u="sng" dirty="0" err="1"/>
              <a:t>toMany</a:t>
            </a:r>
            <a:r>
              <a:rPr lang="en-CA" sz="2800" b="1" u="sng" dirty="0"/>
              <a:t> Relationships</a:t>
            </a:r>
            <a:r>
              <a:rPr lang="en-CA" sz="2800" dirty="0"/>
              <a:t> Many-to-many relationships cannot be implemented into database tables because each row will need an indefinite number of attributes to maintain the many-to-many relationship. Many-to-many relationships must be converted to one-to-many relationships using associative entities</a:t>
            </a:r>
          </a:p>
          <a:p>
            <a:endParaRPr lang="en-CA" sz="2800" dirty="0"/>
          </a:p>
          <a:p>
            <a:r>
              <a:rPr lang="en-CA" sz="2800" b="1" u="sng" dirty="0"/>
              <a:t>Determine Data Types</a:t>
            </a:r>
            <a:r>
              <a:rPr lang="en-CA" sz="2800" dirty="0"/>
              <a:t> Identify the data types and sizes of each attribute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9427261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>
            <a:normAutofit/>
          </a:bodyPr>
          <a:lstStyle/>
          <a:p>
            <a:r>
              <a:rPr lang="en-CA" sz="4400" b="1" dirty="0">
                <a:solidFill>
                  <a:srgbClr val="C00000"/>
                </a:solidFill>
              </a:rPr>
              <a:t>Case Study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CA" sz="2800" dirty="0"/>
              <a:t>Each employee may be assigned to one and only one department.  Some employees may not be assigned to any department.  The employee data is stored in the employee entity.</a:t>
            </a:r>
          </a:p>
          <a:p>
            <a:endParaRPr lang="en-CA" sz="2800" dirty="0"/>
          </a:p>
          <a:p>
            <a:r>
              <a:rPr lang="en-CA" sz="2800" dirty="0"/>
              <a:t>Each department could have many employees assigned to it. Some departments may not have any employees assigned to them.  The department data is stored in the department entity.</a:t>
            </a:r>
          </a:p>
          <a:p>
            <a:endParaRPr lang="en-CA" sz="2800" dirty="0"/>
          </a:p>
          <a:p>
            <a:r>
              <a:rPr lang="en-CA" sz="2800" dirty="0"/>
              <a:t>Each employee may have one and only one job title.  Under certain circumstances, some employees may not be assigned a job title.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0329246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>
            <a:normAutofit/>
          </a:bodyPr>
          <a:lstStyle/>
          <a:p>
            <a:r>
              <a:rPr lang="en-CA" sz="4400" b="1" dirty="0">
                <a:solidFill>
                  <a:srgbClr val="C00000"/>
                </a:solidFill>
              </a:rPr>
              <a:t>Case Study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CA" sz="2800" dirty="0"/>
              <a:t>Each job title may be assigned to many employees. Some job titles may not be assigned to any employees.  The job data is stored in the job entity.</a:t>
            </a:r>
          </a:p>
          <a:p>
            <a:endParaRPr lang="en-CA" sz="2800" dirty="0"/>
          </a:p>
          <a:p>
            <a:r>
              <a:rPr lang="en-CA" sz="2800" dirty="0"/>
              <a:t>Each employee may be assigned to many projects.  Sometimes an employee may be off work and is not assigned to any projects.</a:t>
            </a:r>
          </a:p>
          <a:p>
            <a:endParaRPr lang="en-CA" sz="2800" dirty="0"/>
          </a:p>
          <a:p>
            <a:r>
              <a:rPr lang="en-US" sz="2800" dirty="0"/>
              <a:t>Each project must be assigned to at least one employee.  Some projects may have several employees assigned to them. The project data is stored in the project entity</a:t>
            </a:r>
            <a:endParaRPr lang="en-CA" sz="2800" dirty="0"/>
          </a:p>
          <a:p>
            <a:endParaRPr lang="en-CA" sz="28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5209607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>
            <a:normAutofit/>
          </a:bodyPr>
          <a:lstStyle/>
          <a:p>
            <a:r>
              <a:rPr lang="en-CA" sz="4400" b="1" dirty="0">
                <a:solidFill>
                  <a:srgbClr val="C00000"/>
                </a:solidFill>
              </a:rPr>
              <a:t>Case Study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Entities:</a:t>
            </a:r>
            <a:endParaRPr lang="en-CA" sz="2800" dirty="0"/>
          </a:p>
          <a:p>
            <a:pPr lvl="1"/>
            <a:r>
              <a:rPr lang="en-CA" sz="2500" dirty="0"/>
              <a:t>Employee</a:t>
            </a:r>
          </a:p>
          <a:p>
            <a:pPr lvl="1"/>
            <a:r>
              <a:rPr lang="en-CA" sz="2500" dirty="0"/>
              <a:t>Department</a:t>
            </a:r>
          </a:p>
          <a:p>
            <a:pPr lvl="1"/>
            <a:r>
              <a:rPr lang="en-CA" sz="2500" dirty="0"/>
              <a:t>Job</a:t>
            </a:r>
          </a:p>
          <a:p>
            <a:pPr lvl="1"/>
            <a:r>
              <a:rPr lang="en-CA" sz="2500" dirty="0"/>
              <a:t>Project</a:t>
            </a:r>
          </a:p>
          <a:p>
            <a:endParaRPr lang="en-CA" sz="28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9856455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>
            <a:normAutofit/>
          </a:bodyPr>
          <a:lstStyle/>
          <a:p>
            <a:r>
              <a:rPr lang="en-CA" sz="4400" b="1" dirty="0">
                <a:solidFill>
                  <a:srgbClr val="C00000"/>
                </a:solidFill>
              </a:rPr>
              <a:t>Identify Attributes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CA" sz="2800" dirty="0"/>
              <a:t>Employee’s Attributes:</a:t>
            </a:r>
          </a:p>
          <a:p>
            <a:pPr lvl="1"/>
            <a:r>
              <a:rPr lang="en-CA" sz="2500" dirty="0"/>
              <a:t> </a:t>
            </a:r>
            <a:r>
              <a:rPr lang="en-CA" sz="2500" dirty="0" err="1"/>
              <a:t>employee_id</a:t>
            </a:r>
            <a:r>
              <a:rPr lang="en-CA" sz="2500" dirty="0"/>
              <a:t>, </a:t>
            </a:r>
            <a:r>
              <a:rPr lang="en-CA" sz="2500" dirty="0" err="1"/>
              <a:t>first_name</a:t>
            </a:r>
            <a:r>
              <a:rPr lang="en-CA" sz="2500" dirty="0"/>
              <a:t>, </a:t>
            </a:r>
            <a:r>
              <a:rPr lang="en-CA" sz="2500" dirty="0" err="1"/>
              <a:t>last_name</a:t>
            </a:r>
            <a:r>
              <a:rPr lang="en-CA" sz="2500" dirty="0"/>
              <a:t>, </a:t>
            </a:r>
            <a:r>
              <a:rPr lang="en-CA" sz="2500" dirty="0" err="1"/>
              <a:t>soc_ins_no</a:t>
            </a:r>
            <a:r>
              <a:rPr lang="en-CA" sz="2500" dirty="0"/>
              <a:t>, </a:t>
            </a:r>
            <a:r>
              <a:rPr lang="en-CA" sz="2500" dirty="0" err="1"/>
              <a:t>hire_date</a:t>
            </a:r>
            <a:endParaRPr lang="en-CA" sz="2500" dirty="0"/>
          </a:p>
          <a:p>
            <a:pPr marL="342900" lvl="1" indent="0">
              <a:buNone/>
            </a:pPr>
            <a:endParaRPr lang="en-CA" sz="2500" dirty="0"/>
          </a:p>
          <a:p>
            <a:r>
              <a:rPr lang="en-CA" sz="2800" b="1" dirty="0"/>
              <a:t>Volatile </a:t>
            </a:r>
            <a:r>
              <a:rPr lang="en-CA" sz="2800" dirty="0"/>
              <a:t>attributes: their values constantly change.</a:t>
            </a:r>
          </a:p>
          <a:p>
            <a:pPr lvl="1"/>
            <a:r>
              <a:rPr lang="en-US" sz="2500" dirty="0"/>
              <a:t>age (instead, you can use the date of birth)</a:t>
            </a:r>
            <a:endParaRPr lang="en-CA" sz="2500" dirty="0"/>
          </a:p>
          <a:p>
            <a:r>
              <a:rPr lang="en-CA" sz="2800" b="1" dirty="0"/>
              <a:t>Required</a:t>
            </a:r>
            <a:r>
              <a:rPr lang="en-CA" sz="2800" dirty="0"/>
              <a:t> and </a:t>
            </a:r>
            <a:r>
              <a:rPr lang="en-CA" sz="2800" b="1" dirty="0"/>
              <a:t>Optional</a:t>
            </a:r>
            <a:r>
              <a:rPr lang="en-CA" sz="2800" dirty="0"/>
              <a:t> Attributes</a:t>
            </a:r>
          </a:p>
          <a:p>
            <a:r>
              <a:rPr lang="en-CA" sz="2800" b="1" dirty="0"/>
              <a:t>Time dependant </a:t>
            </a:r>
            <a:r>
              <a:rPr lang="en-CA" sz="2800" dirty="0"/>
              <a:t>attributes</a:t>
            </a:r>
          </a:p>
          <a:p>
            <a:r>
              <a:rPr lang="en-CA" sz="2800" b="1" dirty="0"/>
              <a:t>Domains</a:t>
            </a:r>
          </a:p>
          <a:p>
            <a:pPr marL="0" indent="0">
              <a:buNone/>
            </a:pPr>
            <a:endParaRPr lang="en-CA" sz="28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5937320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>
            <a:normAutofit/>
          </a:bodyPr>
          <a:lstStyle/>
          <a:p>
            <a:r>
              <a:rPr lang="en-CA" sz="4400" b="1" dirty="0">
                <a:solidFill>
                  <a:srgbClr val="C00000"/>
                </a:solidFill>
              </a:rPr>
              <a:t>Select Unique Identifier (UID)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CA" sz="2800" dirty="0"/>
              <a:t>Every entity must have unique identifying attribute(s) called a unique identifier</a:t>
            </a:r>
          </a:p>
          <a:p>
            <a:endParaRPr lang="en-CA" sz="2800" dirty="0"/>
          </a:p>
          <a:p>
            <a:r>
              <a:rPr lang="en-CA" sz="2800" dirty="0"/>
              <a:t>This is a single attribute or a collection of attributes that uniquely identifies one and only one instance of an entity.</a:t>
            </a:r>
          </a:p>
          <a:p>
            <a:endParaRPr lang="en-CA" sz="2800" dirty="0"/>
          </a:p>
          <a:p>
            <a:r>
              <a:rPr lang="en-CA" sz="2800" dirty="0"/>
              <a:t>When two or more attributes are used as the unique identifier it is called a </a:t>
            </a:r>
            <a:r>
              <a:rPr lang="en-CA" sz="2800" b="1" dirty="0"/>
              <a:t>concatenated key.</a:t>
            </a:r>
          </a:p>
          <a:p>
            <a:pPr marL="0" indent="0">
              <a:buNone/>
            </a:pPr>
            <a:endParaRPr lang="en-CA" sz="28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1805992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>
            <a:normAutofit/>
          </a:bodyPr>
          <a:lstStyle/>
          <a:p>
            <a:r>
              <a:rPr lang="en-CA" sz="4400" b="1" dirty="0">
                <a:solidFill>
                  <a:srgbClr val="C00000"/>
                </a:solidFill>
              </a:rPr>
              <a:t>Candidate Key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CA" sz="2800" dirty="0"/>
              <a:t>Sometimes there are several attributes that could be the unique identifier</a:t>
            </a:r>
          </a:p>
          <a:p>
            <a:endParaRPr lang="en-CA" sz="2800" dirty="0"/>
          </a:p>
          <a:p>
            <a:r>
              <a:rPr lang="en-CA" sz="2800" dirty="0"/>
              <a:t>For an EMPLOYEE entity we could use</a:t>
            </a:r>
          </a:p>
          <a:p>
            <a:pPr lvl="1"/>
            <a:r>
              <a:rPr lang="en-CA" sz="2500" dirty="0"/>
              <a:t> </a:t>
            </a:r>
            <a:r>
              <a:rPr lang="en-CA" sz="2500" i="1" dirty="0" err="1"/>
              <a:t>employee_id</a:t>
            </a:r>
            <a:r>
              <a:rPr lang="en-CA" sz="2500" i="1" dirty="0"/>
              <a:t> </a:t>
            </a:r>
          </a:p>
          <a:p>
            <a:pPr lvl="1"/>
            <a:r>
              <a:rPr lang="en-CA" sz="2500" i="1" dirty="0" err="1"/>
              <a:t>social_ins_no</a:t>
            </a:r>
            <a:r>
              <a:rPr lang="en-CA" sz="2500" i="1" dirty="0"/>
              <a:t> </a:t>
            </a:r>
          </a:p>
          <a:p>
            <a:pPr lvl="1"/>
            <a:r>
              <a:rPr lang="en-CA" sz="2500" i="1" dirty="0" err="1"/>
              <a:t>email_address</a:t>
            </a:r>
            <a:r>
              <a:rPr lang="en-CA" sz="2500" i="1" dirty="0"/>
              <a:t> </a:t>
            </a:r>
          </a:p>
          <a:p>
            <a:pPr lvl="1"/>
            <a:r>
              <a:rPr lang="en-CA" sz="2500" i="1" dirty="0" err="1"/>
              <a:t>telephone_no</a:t>
            </a:r>
            <a:endParaRPr lang="en-CA" sz="2500" i="1" dirty="0"/>
          </a:p>
          <a:p>
            <a:endParaRPr lang="en-CA" sz="2800" dirty="0"/>
          </a:p>
          <a:p>
            <a:r>
              <a:rPr lang="en-CA" sz="2800" dirty="0"/>
              <a:t>These are all called </a:t>
            </a:r>
            <a:r>
              <a:rPr lang="en-CA" sz="2800" b="1" dirty="0"/>
              <a:t>candidate keys</a:t>
            </a:r>
          </a:p>
          <a:p>
            <a:pPr marL="0" indent="0">
              <a:buNone/>
            </a:pPr>
            <a:endParaRPr lang="en-CA" sz="28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9316212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>
            <a:normAutofit/>
          </a:bodyPr>
          <a:lstStyle/>
          <a:p>
            <a:r>
              <a:rPr lang="en-CA" sz="4400" b="1" dirty="0">
                <a:solidFill>
                  <a:srgbClr val="C00000"/>
                </a:solidFill>
              </a:rPr>
              <a:t>Candidate Keys Must: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>
            <a:normAutofit lnSpcReduction="10000"/>
          </a:bodyPr>
          <a:lstStyle/>
          <a:p>
            <a:r>
              <a:rPr lang="en-CA" sz="2800" dirty="0"/>
              <a:t>Be unique for each instance within an entity</a:t>
            </a:r>
          </a:p>
          <a:p>
            <a:endParaRPr lang="en-CA" sz="2800" dirty="0"/>
          </a:p>
          <a:p>
            <a:r>
              <a:rPr lang="en-CA" sz="2800" dirty="0"/>
              <a:t>Never be missing, incomplete or NULL for an instance</a:t>
            </a:r>
          </a:p>
          <a:p>
            <a:endParaRPr lang="en-CA" sz="2800" dirty="0"/>
          </a:p>
          <a:p>
            <a:r>
              <a:rPr lang="en-CA" sz="2800" dirty="0"/>
              <a:t>Use no attributes other than those necessary to uniquely identify an instance of an entity</a:t>
            </a:r>
            <a:endParaRPr lang="en-CA" sz="2800" b="1" dirty="0"/>
          </a:p>
          <a:p>
            <a:pPr marL="0" indent="0">
              <a:buNone/>
            </a:pPr>
            <a:endParaRPr lang="en-CA" sz="28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4243165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>
            <a:normAutofit/>
          </a:bodyPr>
          <a:lstStyle/>
          <a:p>
            <a:r>
              <a:rPr lang="en-CA" sz="4400" b="1" dirty="0">
                <a:solidFill>
                  <a:srgbClr val="C00000"/>
                </a:solidFill>
              </a:rPr>
              <a:t>Unique Identifier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CA" sz="2800" dirty="0"/>
              <a:t>Should be meaningless other than as an identifier</a:t>
            </a:r>
          </a:p>
          <a:p>
            <a:endParaRPr lang="en-CA" sz="2800" dirty="0"/>
          </a:p>
          <a:p>
            <a:r>
              <a:rPr lang="en-CA" sz="2800" dirty="0"/>
              <a:t>Should never change</a:t>
            </a:r>
          </a:p>
          <a:p>
            <a:endParaRPr lang="en-CA" sz="2800" dirty="0"/>
          </a:p>
          <a:p>
            <a:r>
              <a:rPr lang="en-CA" sz="2800" dirty="0"/>
              <a:t>Should not have a limited number of values available</a:t>
            </a:r>
          </a:p>
          <a:p>
            <a:endParaRPr lang="en-CA" sz="2800" dirty="0"/>
          </a:p>
          <a:p>
            <a:r>
              <a:rPr lang="en-CA" sz="2800" dirty="0"/>
              <a:t>Only one (UID) should be specified for each table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2954190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1" dirty="0">
                <a:solidFill>
                  <a:srgbClr val="C00000"/>
                </a:solidFill>
              </a:rPr>
              <a:t>EMPLOYEE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CA" sz="2800" dirty="0" err="1"/>
              <a:t>Soc_ins_no</a:t>
            </a:r>
            <a:r>
              <a:rPr lang="en-CA" sz="2800" dirty="0"/>
              <a:t> is not meaningless</a:t>
            </a:r>
          </a:p>
          <a:p>
            <a:pPr lvl="1"/>
            <a:r>
              <a:rPr lang="en-CA" sz="2800" dirty="0"/>
              <a:t>Do you want people knowing your personal number in the company?</a:t>
            </a:r>
          </a:p>
          <a:p>
            <a:endParaRPr lang="en-CA" sz="2800" dirty="0"/>
          </a:p>
          <a:p>
            <a:r>
              <a:rPr lang="en-CA" sz="2800" dirty="0"/>
              <a:t>A telephone number may change</a:t>
            </a:r>
          </a:p>
          <a:p>
            <a:endParaRPr lang="en-CA" sz="2800" dirty="0"/>
          </a:p>
          <a:p>
            <a:r>
              <a:rPr lang="en-CA" sz="2800" dirty="0"/>
              <a:t>The best choice is an arbitrarily generated employee number assigned when the employee is hired</a:t>
            </a:r>
          </a:p>
          <a:p>
            <a:endParaRPr lang="en-CA" sz="2800" dirty="0"/>
          </a:p>
        </p:txBody>
      </p:sp>
    </p:spTree>
    <p:extLst>
      <p:ext uri="{BB962C8B-B14F-4D97-AF65-F5344CB8AC3E}">
        <p14:creationId xmlns:p14="http://schemas.microsoft.com/office/powerpoint/2010/main" val="2415844695"/>
      </p:ext>
    </p:extLst>
  </p:cSld>
  <p:clrMapOvr>
    <a:masterClrMapping/>
  </p:clrMapOvr>
  <p:transition spd="slow">
    <p:wipe dir="d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sz="4400" b="1" dirty="0">
                <a:solidFill>
                  <a:srgbClr val="C00000"/>
                </a:solidFill>
              </a:rPr>
              <a:t>Determining relationships</a:t>
            </a:r>
          </a:p>
        </p:txBody>
      </p:sp>
      <p:sp>
        <p:nvSpPr>
          <p:cNvPr id="5" name="Text Box 181"/>
          <p:cNvSpPr txBox="1"/>
          <p:nvPr/>
        </p:nvSpPr>
        <p:spPr>
          <a:xfrm>
            <a:off x="5220072" y="3121028"/>
            <a:ext cx="2482816" cy="1554675"/>
          </a:xfrm>
          <a:prstGeom prst="rect">
            <a:avLst/>
          </a:prstGeom>
          <a:solidFill>
            <a:schemeClr val="lt1"/>
          </a:solidFill>
          <a:ln w="6350">
            <a:solidFill>
              <a:prstClr val="black"/>
            </a:solidFill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>
                <a:effectLst/>
                <a:ea typeface="Times New Roman"/>
                <a:cs typeface="Times New Roman"/>
              </a:rPr>
              <a:t> 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2473607" y="3826711"/>
            <a:ext cx="274646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 Box 181"/>
          <p:cNvSpPr txBox="1"/>
          <p:nvPr/>
        </p:nvSpPr>
        <p:spPr>
          <a:xfrm>
            <a:off x="988591" y="3068960"/>
            <a:ext cx="2482816" cy="1554675"/>
          </a:xfrm>
          <a:prstGeom prst="rect">
            <a:avLst/>
          </a:prstGeom>
          <a:solidFill>
            <a:schemeClr val="lt1"/>
          </a:solidFill>
          <a:ln w="6350">
            <a:solidFill>
              <a:prstClr val="black"/>
            </a:solidFill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>
                <a:effectLst/>
                <a:ea typeface="Times New Roman"/>
                <a:cs typeface="Times New Roman"/>
              </a:rPr>
              <a:t> </a:t>
            </a:r>
          </a:p>
        </p:txBody>
      </p:sp>
      <p:sp>
        <p:nvSpPr>
          <p:cNvPr id="8" name="Text Box 102"/>
          <p:cNvSpPr txBox="1"/>
          <p:nvPr/>
        </p:nvSpPr>
        <p:spPr>
          <a:xfrm>
            <a:off x="965007" y="3076704"/>
            <a:ext cx="2482816" cy="276225"/>
          </a:xfrm>
          <a:prstGeom prst="rect">
            <a:avLst/>
          </a:prstGeom>
          <a:solidFill>
            <a:srgbClr val="4F81BD">
              <a:lumMod val="20000"/>
              <a:lumOff val="80000"/>
              <a:alpha val="38000"/>
            </a:srgbClr>
          </a:solidFill>
          <a:ln w="6350">
            <a:solidFill>
              <a:prstClr val="black"/>
            </a:solidFill>
          </a:ln>
          <a:effectLst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400" dirty="0">
                <a:effectLst/>
                <a:latin typeface="Calibri"/>
                <a:ea typeface="Calibri"/>
                <a:cs typeface="Times New Roman"/>
              </a:rPr>
              <a:t>                DEPARTMENT</a:t>
            </a:r>
          </a:p>
        </p:txBody>
      </p:sp>
      <p:sp>
        <p:nvSpPr>
          <p:cNvPr id="9" name="Text Box 102"/>
          <p:cNvSpPr txBox="1"/>
          <p:nvPr/>
        </p:nvSpPr>
        <p:spPr>
          <a:xfrm>
            <a:off x="5220072" y="3121028"/>
            <a:ext cx="2482816" cy="276225"/>
          </a:xfrm>
          <a:prstGeom prst="rect">
            <a:avLst/>
          </a:prstGeom>
          <a:solidFill>
            <a:srgbClr val="4F81BD">
              <a:lumMod val="20000"/>
              <a:lumOff val="80000"/>
              <a:alpha val="38000"/>
            </a:srgbClr>
          </a:solidFill>
          <a:ln w="6350">
            <a:solidFill>
              <a:prstClr val="black"/>
            </a:solidFill>
          </a:ln>
          <a:effectLst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400" dirty="0">
                <a:effectLst/>
                <a:latin typeface="Calibri"/>
                <a:ea typeface="Calibri"/>
                <a:cs typeface="Times New Roman"/>
              </a:rPr>
              <a:t>                     EMPLOYEE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7584" y="1700808"/>
            <a:ext cx="7274768" cy="869148"/>
          </a:xfrm>
          <a:prstGeom prst="rect">
            <a:avLst/>
          </a:prstGeom>
          <a:noFill/>
        </p:spPr>
        <p:txBody>
          <a:bodyPr wrap="square" rtlCol="0">
            <a:normAutofit fontScale="85000" lnSpcReduction="10000"/>
          </a:bodyPr>
          <a:lstStyle/>
          <a:p>
            <a:r>
              <a:rPr lang="en-CA" sz="2400" dirty="0"/>
              <a:t>A relationship is like a verb that shows some dependency or natural association between two entities</a:t>
            </a:r>
            <a:endParaRPr lang="en-CA" sz="3600" dirty="0"/>
          </a:p>
        </p:txBody>
      </p:sp>
      <p:sp>
        <p:nvSpPr>
          <p:cNvPr id="11" name="TextBox 10"/>
          <p:cNvSpPr txBox="1"/>
          <p:nvPr/>
        </p:nvSpPr>
        <p:spPr>
          <a:xfrm>
            <a:off x="853232" y="5229200"/>
            <a:ext cx="7274768" cy="869148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en-CA" sz="2400" dirty="0"/>
              <a:t>A department contains employees</a:t>
            </a:r>
          </a:p>
          <a:p>
            <a:r>
              <a:rPr lang="en-CA" sz="2400" dirty="0"/>
              <a:t>An employee is assigned to a department</a:t>
            </a:r>
            <a:endParaRPr lang="en-CA" sz="3600" dirty="0"/>
          </a:p>
        </p:txBody>
      </p:sp>
    </p:spTree>
    <p:extLst>
      <p:ext uri="{BB962C8B-B14F-4D97-AF65-F5344CB8AC3E}">
        <p14:creationId xmlns:p14="http://schemas.microsoft.com/office/powerpoint/2010/main" val="3253457738"/>
      </p:ext>
    </p:extLst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/>
      <p:bldP spid="11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sz="3600" b="1" dirty="0">
                <a:solidFill>
                  <a:srgbClr val="C00000"/>
                </a:solidFill>
              </a:rPr>
              <a:t>Determining optionality and cardinality</a:t>
            </a:r>
          </a:p>
        </p:txBody>
      </p:sp>
      <p:sp>
        <p:nvSpPr>
          <p:cNvPr id="12" name="Text Box 181"/>
          <p:cNvSpPr txBox="1"/>
          <p:nvPr/>
        </p:nvSpPr>
        <p:spPr>
          <a:xfrm>
            <a:off x="5364088" y="3769099"/>
            <a:ext cx="2482816" cy="1554675"/>
          </a:xfrm>
          <a:prstGeom prst="rect">
            <a:avLst/>
          </a:prstGeom>
          <a:solidFill>
            <a:schemeClr val="lt1"/>
          </a:solidFill>
          <a:ln w="6350">
            <a:solidFill>
              <a:prstClr val="black"/>
            </a:solidFill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>
                <a:effectLst/>
                <a:ea typeface="Times New Roman"/>
                <a:cs typeface="Times New Roman"/>
              </a:rPr>
              <a:t> </a:t>
            </a:r>
          </a:p>
        </p:txBody>
      </p:sp>
      <p:cxnSp>
        <p:nvCxnSpPr>
          <p:cNvPr id="13" name="Straight Connector 12"/>
          <p:cNvCxnSpPr/>
          <p:nvPr/>
        </p:nvCxnSpPr>
        <p:spPr>
          <a:xfrm>
            <a:off x="2617623" y="4474782"/>
            <a:ext cx="274646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3851920" y="4265768"/>
            <a:ext cx="0" cy="457200"/>
          </a:xfrm>
          <a:prstGeom prst="line">
            <a:avLst/>
          </a:prstGeom>
          <a:noFill/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/>
        </p:spPr>
      </p:cxnSp>
      <p:cxnSp>
        <p:nvCxnSpPr>
          <p:cNvPr id="15" name="Straight Connector 14"/>
          <p:cNvCxnSpPr/>
          <p:nvPr/>
        </p:nvCxnSpPr>
        <p:spPr>
          <a:xfrm>
            <a:off x="4006095" y="4265768"/>
            <a:ext cx="0" cy="457200"/>
          </a:xfrm>
          <a:prstGeom prst="line">
            <a:avLst/>
          </a:prstGeom>
          <a:noFill/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/>
        </p:spPr>
      </p:cxnSp>
      <p:sp>
        <p:nvSpPr>
          <p:cNvPr id="16" name="Text Box 181"/>
          <p:cNvSpPr txBox="1"/>
          <p:nvPr/>
        </p:nvSpPr>
        <p:spPr>
          <a:xfrm>
            <a:off x="1132607" y="3717031"/>
            <a:ext cx="2482816" cy="1554675"/>
          </a:xfrm>
          <a:prstGeom prst="rect">
            <a:avLst/>
          </a:prstGeom>
          <a:solidFill>
            <a:schemeClr val="lt1"/>
          </a:solidFill>
          <a:ln w="6350">
            <a:solidFill>
              <a:prstClr val="black"/>
            </a:solidFill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>
                <a:effectLst/>
                <a:ea typeface="Times New Roman"/>
                <a:cs typeface="Times New Roman"/>
              </a:rPr>
              <a:t> </a:t>
            </a:r>
          </a:p>
        </p:txBody>
      </p:sp>
      <p:sp>
        <p:nvSpPr>
          <p:cNvPr id="17" name="Text Box 102"/>
          <p:cNvSpPr txBox="1"/>
          <p:nvPr/>
        </p:nvSpPr>
        <p:spPr>
          <a:xfrm>
            <a:off x="1109023" y="3724775"/>
            <a:ext cx="2482816" cy="276225"/>
          </a:xfrm>
          <a:prstGeom prst="rect">
            <a:avLst/>
          </a:prstGeom>
          <a:solidFill>
            <a:srgbClr val="4F81BD">
              <a:lumMod val="20000"/>
              <a:lumOff val="80000"/>
              <a:alpha val="38000"/>
            </a:srgbClr>
          </a:solidFill>
          <a:ln w="6350">
            <a:solidFill>
              <a:prstClr val="black"/>
            </a:solidFill>
          </a:ln>
          <a:effectLst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CA" sz="1400" dirty="0">
                <a:latin typeface="Calibri"/>
                <a:ea typeface="Calibri"/>
                <a:cs typeface="Times New Roman"/>
              </a:rPr>
              <a:t>                     TABLE A</a:t>
            </a:r>
            <a:endParaRPr lang="en-US" sz="1400" dirty="0"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18" name="Text Box 102"/>
          <p:cNvSpPr txBox="1"/>
          <p:nvPr/>
        </p:nvSpPr>
        <p:spPr>
          <a:xfrm>
            <a:off x="5364088" y="3769099"/>
            <a:ext cx="2482816" cy="276225"/>
          </a:xfrm>
          <a:prstGeom prst="rect">
            <a:avLst/>
          </a:prstGeom>
          <a:solidFill>
            <a:srgbClr val="4F81BD">
              <a:lumMod val="20000"/>
              <a:lumOff val="80000"/>
              <a:alpha val="38000"/>
            </a:srgbClr>
          </a:solidFill>
          <a:ln w="6350">
            <a:solidFill>
              <a:prstClr val="black"/>
            </a:solidFill>
          </a:ln>
          <a:effectLst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CA" sz="1400" dirty="0">
                <a:latin typeface="Calibri"/>
                <a:ea typeface="Calibri"/>
                <a:cs typeface="Times New Roman"/>
              </a:rPr>
              <a:t>                     TABLE B</a:t>
            </a:r>
            <a:endParaRPr lang="en-US" sz="1400" dirty="0"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71600" y="1916832"/>
            <a:ext cx="7274768" cy="869148"/>
          </a:xfrm>
          <a:prstGeom prst="rect">
            <a:avLst/>
          </a:prstGeom>
          <a:noFill/>
        </p:spPr>
        <p:txBody>
          <a:bodyPr wrap="square" rtlCol="0">
            <a:normAutofit fontScale="62500" lnSpcReduction="20000"/>
          </a:bodyPr>
          <a:lstStyle/>
          <a:p>
            <a:r>
              <a:rPr lang="en-CA" sz="3600" dirty="0"/>
              <a:t>Each instance of Table B is related to a maximum of one and a minimum of one instance of Table A</a:t>
            </a:r>
          </a:p>
        </p:txBody>
      </p:sp>
    </p:spTree>
    <p:extLst>
      <p:ext uri="{BB962C8B-B14F-4D97-AF65-F5344CB8AC3E}">
        <p14:creationId xmlns:p14="http://schemas.microsoft.com/office/powerpoint/2010/main" val="997203590"/>
      </p:ext>
    </p:extLst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sz="4400" b="1" dirty="0">
                <a:solidFill>
                  <a:srgbClr val="C00000"/>
                </a:solidFill>
              </a:rPr>
              <a:t>Optionality and Cardinality</a:t>
            </a:r>
          </a:p>
        </p:txBody>
      </p:sp>
      <p:sp>
        <p:nvSpPr>
          <p:cNvPr id="11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1027311"/>
          </a:xfrm>
        </p:spPr>
        <p:txBody>
          <a:bodyPr>
            <a:normAutofit/>
          </a:bodyPr>
          <a:lstStyle/>
          <a:p>
            <a:r>
              <a:rPr lang="en-CA" sz="2800" dirty="0"/>
              <a:t>Each instance of Table A is related to zero, one or more instances of Table B</a:t>
            </a:r>
          </a:p>
          <a:p>
            <a:endParaRPr lang="en-CA" sz="2800" dirty="0"/>
          </a:p>
        </p:txBody>
      </p:sp>
      <p:sp>
        <p:nvSpPr>
          <p:cNvPr id="20" name="Text Box 181"/>
          <p:cNvSpPr txBox="1"/>
          <p:nvPr/>
        </p:nvSpPr>
        <p:spPr>
          <a:xfrm>
            <a:off x="5364088" y="3553076"/>
            <a:ext cx="2482816" cy="1554675"/>
          </a:xfrm>
          <a:prstGeom prst="rect">
            <a:avLst/>
          </a:prstGeom>
          <a:solidFill>
            <a:schemeClr val="lt1"/>
          </a:solidFill>
          <a:ln w="6350">
            <a:solidFill>
              <a:prstClr val="black"/>
            </a:solidFill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>
                <a:effectLst/>
                <a:ea typeface="Times New Roman"/>
                <a:cs typeface="Times New Roman"/>
              </a:rPr>
              <a:t> </a:t>
            </a:r>
          </a:p>
        </p:txBody>
      </p:sp>
      <p:cxnSp>
        <p:nvCxnSpPr>
          <p:cNvPr id="21" name="Straight Connector 20"/>
          <p:cNvCxnSpPr/>
          <p:nvPr/>
        </p:nvCxnSpPr>
        <p:spPr>
          <a:xfrm>
            <a:off x="2617623" y="4258759"/>
            <a:ext cx="274646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3851920" y="4049745"/>
            <a:ext cx="0" cy="457200"/>
          </a:xfrm>
          <a:prstGeom prst="line">
            <a:avLst/>
          </a:prstGeom>
          <a:noFill/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/>
        </p:spPr>
      </p:cxnSp>
      <p:cxnSp>
        <p:nvCxnSpPr>
          <p:cNvPr id="23" name="Straight Connector 22"/>
          <p:cNvCxnSpPr/>
          <p:nvPr/>
        </p:nvCxnSpPr>
        <p:spPr>
          <a:xfrm>
            <a:off x="4006095" y="4049745"/>
            <a:ext cx="0" cy="457200"/>
          </a:xfrm>
          <a:prstGeom prst="line">
            <a:avLst/>
          </a:prstGeom>
          <a:noFill/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/>
        </p:spPr>
      </p:cxnSp>
      <p:sp>
        <p:nvSpPr>
          <p:cNvPr id="24" name="Text Box 181"/>
          <p:cNvSpPr txBox="1"/>
          <p:nvPr/>
        </p:nvSpPr>
        <p:spPr>
          <a:xfrm>
            <a:off x="1132607" y="3501008"/>
            <a:ext cx="2482816" cy="1554675"/>
          </a:xfrm>
          <a:prstGeom prst="rect">
            <a:avLst/>
          </a:prstGeom>
          <a:solidFill>
            <a:schemeClr val="lt1"/>
          </a:solidFill>
          <a:ln w="6350">
            <a:solidFill>
              <a:prstClr val="black"/>
            </a:solidFill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>
                <a:effectLst/>
                <a:ea typeface="Times New Roman"/>
                <a:cs typeface="Times New Roman"/>
              </a:rPr>
              <a:t> </a:t>
            </a:r>
          </a:p>
        </p:txBody>
      </p:sp>
      <p:sp>
        <p:nvSpPr>
          <p:cNvPr id="25" name="Text Box 102"/>
          <p:cNvSpPr txBox="1"/>
          <p:nvPr/>
        </p:nvSpPr>
        <p:spPr>
          <a:xfrm>
            <a:off x="1109023" y="3508752"/>
            <a:ext cx="2482816" cy="276225"/>
          </a:xfrm>
          <a:prstGeom prst="rect">
            <a:avLst/>
          </a:prstGeom>
          <a:solidFill>
            <a:srgbClr val="4F81BD">
              <a:lumMod val="20000"/>
              <a:lumOff val="80000"/>
              <a:alpha val="38000"/>
            </a:srgbClr>
          </a:solidFill>
          <a:ln w="6350">
            <a:solidFill>
              <a:prstClr val="black"/>
            </a:solidFill>
          </a:ln>
          <a:effectLst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CA" sz="1400" dirty="0">
                <a:latin typeface="Calibri"/>
                <a:ea typeface="Calibri"/>
                <a:cs typeface="Times New Roman"/>
              </a:rPr>
              <a:t>                     TABLE A</a:t>
            </a:r>
            <a:endParaRPr lang="en-US" sz="1400" dirty="0"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26" name="Text Box 102"/>
          <p:cNvSpPr txBox="1"/>
          <p:nvPr/>
        </p:nvSpPr>
        <p:spPr>
          <a:xfrm>
            <a:off x="5364088" y="3553076"/>
            <a:ext cx="2482816" cy="276225"/>
          </a:xfrm>
          <a:prstGeom prst="rect">
            <a:avLst/>
          </a:prstGeom>
          <a:solidFill>
            <a:srgbClr val="4F81BD">
              <a:lumMod val="20000"/>
              <a:lumOff val="80000"/>
              <a:alpha val="38000"/>
            </a:srgbClr>
          </a:solidFill>
          <a:ln w="6350">
            <a:solidFill>
              <a:prstClr val="black"/>
            </a:solidFill>
          </a:ln>
          <a:effectLst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CA" sz="1400" dirty="0">
                <a:latin typeface="Calibri"/>
                <a:ea typeface="Calibri"/>
                <a:cs typeface="Times New Roman"/>
              </a:rPr>
              <a:t>                     TABLE B</a:t>
            </a:r>
            <a:endParaRPr lang="en-US" sz="1400" dirty="0"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27" name="Oval 26"/>
          <p:cNvSpPr>
            <a:spLocks/>
          </p:cNvSpPr>
          <p:nvPr/>
        </p:nvSpPr>
        <p:spPr>
          <a:xfrm>
            <a:off x="4859263" y="4144459"/>
            <a:ext cx="228600" cy="228600"/>
          </a:xfrm>
          <a:prstGeom prst="ellipse">
            <a:avLst/>
          </a:prstGeom>
          <a:solidFill>
            <a:sysClr val="window" lastClr="FFFFFF"/>
          </a:solidFill>
          <a:ln w="9525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CA"/>
          </a:p>
        </p:txBody>
      </p:sp>
      <p:sp>
        <p:nvSpPr>
          <p:cNvPr id="28" name="Isosceles Triangle 27"/>
          <p:cNvSpPr>
            <a:spLocks/>
          </p:cNvSpPr>
          <p:nvPr/>
        </p:nvSpPr>
        <p:spPr>
          <a:xfrm rot="16200000">
            <a:off x="5011663" y="4126580"/>
            <a:ext cx="428625" cy="276225"/>
          </a:xfrm>
          <a:prstGeom prst="triangle">
            <a:avLst/>
          </a:prstGeom>
          <a:noFill/>
          <a:ln w="9525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53772442"/>
      </p:ext>
    </p:extLst>
  </p:cSld>
  <p:clrMapOvr>
    <a:masterClrMapping/>
  </p:clrMapOvr>
  <p:transition spd="slow">
    <p:wipe dir="d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sz="4400" b="1" dirty="0">
                <a:solidFill>
                  <a:srgbClr val="C00000"/>
                </a:solidFill>
              </a:rPr>
              <a:t>Optionality and Cardinality</a:t>
            </a:r>
          </a:p>
        </p:txBody>
      </p:sp>
      <p:sp>
        <p:nvSpPr>
          <p:cNvPr id="13" name="Text Box 166"/>
          <p:cNvSpPr txBox="1"/>
          <p:nvPr/>
        </p:nvSpPr>
        <p:spPr>
          <a:xfrm>
            <a:off x="6357342" y="4386808"/>
            <a:ext cx="1524000" cy="914400"/>
          </a:xfrm>
          <a:prstGeom prst="rect">
            <a:avLst/>
          </a:prstGeom>
          <a:solidFill>
            <a:schemeClr val="lt1"/>
          </a:solidFill>
          <a:ln w="6350">
            <a:solidFill>
              <a:prstClr val="black"/>
            </a:solidFill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>
                <a:effectLst/>
                <a:ea typeface="Times New Roman"/>
                <a:cs typeface="Times New Roman"/>
              </a:rPr>
              <a:t> </a:t>
            </a:r>
          </a:p>
        </p:txBody>
      </p:sp>
      <p:sp>
        <p:nvSpPr>
          <p:cNvPr id="14" name="Isosceles Triangle 13"/>
          <p:cNvSpPr/>
          <p:nvPr/>
        </p:nvSpPr>
        <p:spPr>
          <a:xfrm rot="16200000">
            <a:off x="5775047" y="2630336"/>
            <a:ext cx="514350" cy="533400"/>
          </a:xfrm>
          <a:prstGeom prst="triangle">
            <a:avLst/>
          </a:prstGeom>
          <a:noFill/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366445" y="4797108"/>
            <a:ext cx="1428750" cy="0"/>
          </a:xfrm>
          <a:prstGeom prst="line">
            <a:avLst/>
          </a:prstGeom>
          <a:ln>
            <a:solidFill>
              <a:schemeClr val="accent1">
                <a:shade val="95000"/>
                <a:satMod val="105000"/>
                <a:alpha val="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5209579" y="4844008"/>
            <a:ext cx="117157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>
            <a:spLocks/>
          </p:cNvSpPr>
          <p:nvPr/>
        </p:nvSpPr>
        <p:spPr>
          <a:xfrm>
            <a:off x="5608994" y="4729707"/>
            <a:ext cx="228600" cy="228600"/>
          </a:xfrm>
          <a:prstGeom prst="ellipse">
            <a:avLst/>
          </a:prstGeom>
          <a:solidFill>
            <a:sysClr val="window" lastClr="FFFFFF"/>
          </a:solidFill>
          <a:ln w="9525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18" name="Text Box 175"/>
          <p:cNvSpPr txBox="1"/>
          <p:nvPr/>
        </p:nvSpPr>
        <p:spPr>
          <a:xfrm>
            <a:off x="1795195" y="4386808"/>
            <a:ext cx="1524000" cy="914400"/>
          </a:xfrm>
          <a:prstGeom prst="rect">
            <a:avLst/>
          </a:prstGeom>
          <a:solidFill>
            <a:sysClr val="window" lastClr="FFFFFF"/>
          </a:solidFill>
          <a:ln w="6350">
            <a:solidFill>
              <a:prstClr val="black"/>
            </a:solidFill>
          </a:ln>
          <a:effectLst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>
                <a:effectLst/>
                <a:latin typeface="Calibri"/>
                <a:ea typeface="Times New Roman"/>
                <a:cs typeface="Times New Roman"/>
              </a:rPr>
              <a:t> 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66445" y="4473893"/>
            <a:ext cx="1428750" cy="0"/>
          </a:xfrm>
          <a:prstGeom prst="line">
            <a:avLst/>
          </a:prstGeom>
          <a:noFill/>
          <a:ln w="9525" cap="flat" cmpd="sng" algn="ctr">
            <a:solidFill>
              <a:srgbClr val="4F81BD">
                <a:shade val="95000"/>
                <a:satMod val="105000"/>
                <a:alpha val="0"/>
              </a:srgbClr>
            </a:solidFill>
            <a:prstDash val="solid"/>
          </a:ln>
          <a:effectLst/>
        </p:spPr>
      </p:cxnSp>
      <p:cxnSp>
        <p:nvCxnSpPr>
          <p:cNvPr id="29" name="Straight Connector 28"/>
          <p:cNvCxnSpPr/>
          <p:nvPr/>
        </p:nvCxnSpPr>
        <p:spPr>
          <a:xfrm>
            <a:off x="622985" y="4805273"/>
            <a:ext cx="1171575" cy="0"/>
          </a:xfrm>
          <a:prstGeom prst="line">
            <a:avLst/>
          </a:prstGeom>
          <a:noFill/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/>
        </p:spPr>
      </p:cxnSp>
      <p:sp>
        <p:nvSpPr>
          <p:cNvPr id="30" name="Oval 29"/>
          <p:cNvSpPr>
            <a:spLocks/>
          </p:cNvSpPr>
          <p:nvPr/>
        </p:nvSpPr>
        <p:spPr>
          <a:xfrm>
            <a:off x="1089710" y="4696688"/>
            <a:ext cx="228600" cy="228600"/>
          </a:xfrm>
          <a:prstGeom prst="ellipse">
            <a:avLst/>
          </a:prstGeom>
          <a:solidFill>
            <a:sysClr val="window" lastClr="FFFFFF"/>
          </a:solidFill>
          <a:ln w="9525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566595" y="4595088"/>
            <a:ext cx="0" cy="457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 Box 177"/>
          <p:cNvSpPr txBox="1"/>
          <p:nvPr/>
        </p:nvSpPr>
        <p:spPr>
          <a:xfrm>
            <a:off x="6300192" y="2422691"/>
            <a:ext cx="1581150" cy="914400"/>
          </a:xfrm>
          <a:prstGeom prst="rect">
            <a:avLst/>
          </a:prstGeom>
          <a:solidFill>
            <a:schemeClr val="lt1"/>
          </a:solidFill>
          <a:ln w="6350">
            <a:solidFill>
              <a:prstClr val="black"/>
            </a:solidFill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>
                <a:effectLst/>
                <a:ea typeface="Times New Roman"/>
                <a:cs typeface="Times New Roman"/>
              </a:rPr>
              <a:t> </a:t>
            </a:r>
          </a:p>
        </p:txBody>
      </p:sp>
      <p:sp>
        <p:nvSpPr>
          <p:cNvPr id="33" name="Isosceles Triangle 32"/>
          <p:cNvSpPr/>
          <p:nvPr/>
        </p:nvSpPr>
        <p:spPr>
          <a:xfrm rot="16200000">
            <a:off x="5833467" y="4577308"/>
            <a:ext cx="514350" cy="533400"/>
          </a:xfrm>
          <a:prstGeom prst="triangle">
            <a:avLst/>
          </a:prstGeom>
          <a:noFill/>
          <a:ln w="9525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cxnSp>
        <p:nvCxnSpPr>
          <p:cNvPr id="34" name="Straight Connector 33"/>
          <p:cNvCxnSpPr/>
          <p:nvPr/>
        </p:nvCxnSpPr>
        <p:spPr>
          <a:xfrm>
            <a:off x="5137507" y="2886876"/>
            <a:ext cx="1171575" cy="0"/>
          </a:xfrm>
          <a:prstGeom prst="line">
            <a:avLst/>
          </a:prstGeom>
          <a:noFill/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/>
        </p:spPr>
      </p:cxnSp>
      <p:cxnSp>
        <p:nvCxnSpPr>
          <p:cNvPr id="35" name="Straight Connector 34"/>
          <p:cNvCxnSpPr/>
          <p:nvPr/>
        </p:nvCxnSpPr>
        <p:spPr>
          <a:xfrm>
            <a:off x="5538192" y="2696376"/>
            <a:ext cx="0" cy="457200"/>
          </a:xfrm>
          <a:prstGeom prst="line">
            <a:avLst/>
          </a:prstGeom>
          <a:noFill/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/>
        </p:spPr>
      </p:cxnSp>
      <p:sp>
        <p:nvSpPr>
          <p:cNvPr id="36" name="Text Box 181"/>
          <p:cNvSpPr txBox="1"/>
          <p:nvPr/>
        </p:nvSpPr>
        <p:spPr>
          <a:xfrm>
            <a:off x="1557070" y="2415541"/>
            <a:ext cx="1762125" cy="914400"/>
          </a:xfrm>
          <a:prstGeom prst="rect">
            <a:avLst/>
          </a:prstGeom>
          <a:solidFill>
            <a:schemeClr val="lt1"/>
          </a:solidFill>
          <a:ln w="6350">
            <a:solidFill>
              <a:prstClr val="black"/>
            </a:solidFill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>
                <a:effectLst/>
                <a:ea typeface="Times New Roman"/>
                <a:cs typeface="Times New Roman"/>
              </a:rPr>
              <a:t> </a:t>
            </a:r>
          </a:p>
        </p:txBody>
      </p:sp>
      <p:cxnSp>
        <p:nvCxnSpPr>
          <p:cNvPr id="37" name="Straight Connector 36"/>
          <p:cNvCxnSpPr/>
          <p:nvPr/>
        </p:nvCxnSpPr>
        <p:spPr>
          <a:xfrm>
            <a:off x="462792" y="2897189"/>
            <a:ext cx="11239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/>
          <p:nvPr/>
        </p:nvCxnSpPr>
        <p:spPr>
          <a:xfrm>
            <a:off x="815217" y="2697798"/>
            <a:ext cx="0" cy="457200"/>
          </a:xfrm>
          <a:prstGeom prst="line">
            <a:avLst/>
          </a:prstGeom>
          <a:noFill/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/>
        </p:spPr>
      </p:cxnSp>
      <p:cxnSp>
        <p:nvCxnSpPr>
          <p:cNvPr id="39" name="Straight Connector 38"/>
          <p:cNvCxnSpPr/>
          <p:nvPr/>
        </p:nvCxnSpPr>
        <p:spPr>
          <a:xfrm>
            <a:off x="1113984" y="2668589"/>
            <a:ext cx="0" cy="457200"/>
          </a:xfrm>
          <a:prstGeom prst="line">
            <a:avLst/>
          </a:prstGeom>
          <a:noFill/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/>
        </p:spPr>
      </p:cxnSp>
      <p:sp>
        <p:nvSpPr>
          <p:cNvPr id="41" name="TextBox 40"/>
          <p:cNvSpPr txBox="1"/>
          <p:nvPr/>
        </p:nvSpPr>
        <p:spPr>
          <a:xfrm>
            <a:off x="1557070" y="3489042"/>
            <a:ext cx="20162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One and only one</a:t>
            </a:r>
            <a:endParaRPr lang="en-CA" dirty="0"/>
          </a:p>
        </p:txBody>
      </p:sp>
      <p:sp>
        <p:nvSpPr>
          <p:cNvPr id="42" name="TextBox 41"/>
          <p:cNvSpPr txBox="1"/>
          <p:nvPr/>
        </p:nvSpPr>
        <p:spPr>
          <a:xfrm>
            <a:off x="6298922" y="3483431"/>
            <a:ext cx="20162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One or more</a:t>
            </a:r>
            <a:endParaRPr lang="en-CA" dirty="0"/>
          </a:p>
        </p:txBody>
      </p:sp>
      <p:sp>
        <p:nvSpPr>
          <p:cNvPr id="43" name="TextBox 42"/>
          <p:cNvSpPr txBox="1"/>
          <p:nvPr/>
        </p:nvSpPr>
        <p:spPr>
          <a:xfrm>
            <a:off x="1586742" y="5516262"/>
            <a:ext cx="20162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Zero or one</a:t>
            </a:r>
            <a:endParaRPr lang="en-CA" dirty="0"/>
          </a:p>
        </p:txBody>
      </p:sp>
      <p:sp>
        <p:nvSpPr>
          <p:cNvPr id="44" name="TextBox 43"/>
          <p:cNvSpPr txBox="1"/>
          <p:nvPr/>
        </p:nvSpPr>
        <p:spPr>
          <a:xfrm>
            <a:off x="6357342" y="5465920"/>
            <a:ext cx="20162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Zero or many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475766319"/>
      </p:ext>
    </p:extLst>
  </p:cSld>
  <p:clrMapOvr>
    <a:masterClrMapping/>
  </p:clrMapOvr>
  <p:transition spd="slow">
    <p:wipe dir="d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sz="4400" b="1" dirty="0">
                <a:solidFill>
                  <a:srgbClr val="C00000"/>
                </a:solidFill>
              </a:rPr>
              <a:t>Cardinality Notations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CA" sz="2800" dirty="0"/>
              <a:t>Different notations are used to represent the cardinality of relationships</a:t>
            </a:r>
          </a:p>
          <a:p>
            <a:pPr marL="0" indent="0">
              <a:buNone/>
            </a:pPr>
            <a:endParaRPr lang="en-CA" sz="2800" dirty="0"/>
          </a:p>
          <a:p>
            <a:pPr marL="1028700" lvl="1" indent="-571500"/>
            <a:r>
              <a:rPr lang="en-CA" sz="2800" dirty="0"/>
              <a:t>1:1</a:t>
            </a:r>
          </a:p>
          <a:p>
            <a:pPr marL="1028700" lvl="1" indent="-571500"/>
            <a:r>
              <a:rPr lang="en-CA" sz="2800" dirty="0"/>
              <a:t>1:M</a:t>
            </a:r>
          </a:p>
          <a:p>
            <a:pPr marL="1028700" lvl="1" indent="-571500"/>
            <a:r>
              <a:rPr lang="en-CA" sz="2800" dirty="0"/>
              <a:t>M:M</a:t>
            </a:r>
          </a:p>
          <a:p>
            <a:endParaRPr lang="en-CA" sz="2800" dirty="0"/>
          </a:p>
          <a:p>
            <a:endParaRPr lang="en-CA" sz="2800" dirty="0"/>
          </a:p>
        </p:txBody>
      </p:sp>
    </p:spTree>
    <p:extLst>
      <p:ext uri="{BB962C8B-B14F-4D97-AF65-F5344CB8AC3E}">
        <p14:creationId xmlns:p14="http://schemas.microsoft.com/office/powerpoint/2010/main" val="410543464"/>
      </p:ext>
    </p:extLst>
  </p:cSld>
  <p:clrMapOvr>
    <a:masterClrMapping/>
  </p:clrMapOvr>
  <p:transition spd="slow">
    <p:wipe dir="d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sz="4400" b="1" dirty="0">
                <a:solidFill>
                  <a:srgbClr val="C00000"/>
                </a:solidFill>
              </a:rPr>
              <a:t>1:M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CA" sz="2800" dirty="0"/>
              <a:t>No information on optionality is given with this 1:M example</a:t>
            </a:r>
          </a:p>
          <a:p>
            <a:endParaRPr lang="en-CA" sz="2800" dirty="0"/>
          </a:p>
          <a:p>
            <a:endParaRPr lang="en-CA" sz="2800" dirty="0"/>
          </a:p>
        </p:txBody>
      </p:sp>
      <p:sp>
        <p:nvSpPr>
          <p:cNvPr id="9" name="Text Box 181"/>
          <p:cNvSpPr txBox="1"/>
          <p:nvPr/>
        </p:nvSpPr>
        <p:spPr>
          <a:xfrm>
            <a:off x="4881920" y="2852936"/>
            <a:ext cx="3218472" cy="3464681"/>
          </a:xfrm>
          <a:prstGeom prst="rect">
            <a:avLst/>
          </a:prstGeom>
          <a:solidFill>
            <a:schemeClr val="lt1"/>
          </a:solidFill>
          <a:ln w="6350">
            <a:solidFill>
              <a:prstClr val="black"/>
            </a:solidFill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endParaRPr lang="en-US" b="1" dirty="0">
              <a:ea typeface="Times New Roman"/>
              <a:cs typeface="Times New Roman"/>
            </a:endParaRP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400" b="1" dirty="0">
                <a:ea typeface="Times New Roman"/>
                <a:cs typeface="Times New Roman"/>
              </a:rPr>
              <a:t>PK  </a:t>
            </a:r>
            <a:r>
              <a:rPr lang="en-US" b="1" dirty="0">
                <a:ea typeface="Times New Roman"/>
                <a:cs typeface="Times New Roman"/>
              </a:rPr>
              <a:t>   	</a:t>
            </a:r>
            <a:r>
              <a:rPr lang="en-US" b="1" dirty="0" err="1">
                <a:ea typeface="Times New Roman"/>
                <a:cs typeface="Times New Roman"/>
              </a:rPr>
              <a:t>employee_id</a:t>
            </a:r>
            <a:r>
              <a:rPr lang="en-US" b="1" dirty="0">
                <a:effectLst/>
                <a:ea typeface="Times New Roman"/>
                <a:cs typeface="Times New Roman"/>
              </a:rPr>
              <a:t>                                      	       </a:t>
            </a:r>
            <a:r>
              <a:rPr lang="en-US" b="1" dirty="0" err="1">
                <a:effectLst/>
                <a:ea typeface="Times New Roman"/>
                <a:cs typeface="Times New Roman"/>
              </a:rPr>
              <a:t>first_name</a:t>
            </a:r>
            <a:r>
              <a:rPr lang="en-US" b="1" dirty="0">
                <a:ea typeface="Times New Roman"/>
                <a:cs typeface="Times New Roman"/>
              </a:rPr>
              <a:t>	  </a:t>
            </a: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b="1" dirty="0">
                <a:ea typeface="Times New Roman"/>
                <a:cs typeface="Times New Roman"/>
              </a:rPr>
              <a:t>              </a:t>
            </a:r>
            <a:r>
              <a:rPr lang="en-US" b="1" dirty="0" err="1">
                <a:ea typeface="Times New Roman"/>
                <a:cs typeface="Times New Roman"/>
              </a:rPr>
              <a:t>last_name</a:t>
            </a:r>
            <a:r>
              <a:rPr lang="en-US" b="1" dirty="0">
                <a:effectLst/>
                <a:ea typeface="Times New Roman"/>
                <a:cs typeface="Times New Roman"/>
              </a:rPr>
              <a:t>          	       </a:t>
            </a:r>
            <a:r>
              <a:rPr lang="en-US" b="1" dirty="0" err="1">
                <a:effectLst/>
                <a:ea typeface="Times New Roman"/>
                <a:cs typeface="Times New Roman"/>
              </a:rPr>
              <a:t>soc_sec_no</a:t>
            </a:r>
            <a:r>
              <a:rPr lang="en-US" b="1" dirty="0">
                <a:effectLst/>
                <a:ea typeface="Times New Roman"/>
                <a:cs typeface="Times New Roman"/>
              </a:rPr>
              <a:t>	   </a:t>
            </a: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b="1" dirty="0">
                <a:ea typeface="Times New Roman"/>
                <a:cs typeface="Times New Roman"/>
              </a:rPr>
              <a:t>              </a:t>
            </a:r>
            <a:r>
              <a:rPr lang="en-US" b="1" dirty="0" err="1">
                <a:effectLst/>
                <a:ea typeface="Times New Roman"/>
                <a:cs typeface="Times New Roman"/>
              </a:rPr>
              <a:t>hire_date</a:t>
            </a:r>
            <a:r>
              <a:rPr lang="en-US" b="1" dirty="0">
                <a:effectLst/>
                <a:ea typeface="Times New Roman"/>
                <a:cs typeface="Times New Roman"/>
              </a:rPr>
              <a:t>		    </a:t>
            </a: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b="1" dirty="0">
                <a:ea typeface="Times New Roman"/>
                <a:cs typeface="Times New Roman"/>
              </a:rPr>
              <a:t>               </a:t>
            </a:r>
            <a:r>
              <a:rPr lang="en-US" b="1" dirty="0" err="1">
                <a:effectLst/>
                <a:ea typeface="Times New Roman"/>
                <a:cs typeface="Times New Roman"/>
              </a:rPr>
              <a:t>job_id</a:t>
            </a:r>
            <a:endParaRPr lang="en-US" b="1" dirty="0">
              <a:effectLst/>
              <a:ea typeface="Times New Roman"/>
              <a:cs typeface="Times New Roman"/>
            </a:endParaRP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400" b="1" dirty="0">
                <a:ea typeface="Times New Roman"/>
                <a:cs typeface="Times New Roman"/>
              </a:rPr>
              <a:t>FK1  </a:t>
            </a:r>
            <a:r>
              <a:rPr lang="en-US" b="1" dirty="0">
                <a:ea typeface="Times New Roman"/>
                <a:cs typeface="Times New Roman"/>
              </a:rPr>
              <a:t>	</a:t>
            </a:r>
            <a:r>
              <a:rPr lang="en-US" b="1" dirty="0" err="1">
                <a:ea typeface="Times New Roman"/>
                <a:cs typeface="Times New Roman"/>
              </a:rPr>
              <a:t>department_code</a:t>
            </a:r>
            <a:endParaRPr lang="en-US" b="1" dirty="0">
              <a:effectLst/>
              <a:ea typeface="Times New Roman"/>
              <a:cs typeface="Times New Roman"/>
            </a:endParaRP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endParaRPr lang="en-US" b="1" dirty="0">
              <a:effectLst/>
              <a:ea typeface="Times New Roman"/>
              <a:cs typeface="Times New Roman"/>
            </a:endParaRP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endParaRPr lang="en-US" b="1" dirty="0">
              <a:effectLst/>
              <a:ea typeface="Times New Roman"/>
              <a:cs typeface="Times New Roman"/>
            </a:endParaRPr>
          </a:p>
        </p:txBody>
      </p:sp>
      <p:cxnSp>
        <p:nvCxnSpPr>
          <p:cNvPr id="10" name="Straight Connector 9"/>
          <p:cNvCxnSpPr/>
          <p:nvPr/>
        </p:nvCxnSpPr>
        <p:spPr>
          <a:xfrm>
            <a:off x="2135455" y="4561383"/>
            <a:ext cx="274646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Box 181"/>
          <p:cNvSpPr txBox="1"/>
          <p:nvPr/>
        </p:nvSpPr>
        <p:spPr>
          <a:xfrm>
            <a:off x="137634" y="3811376"/>
            <a:ext cx="2995621" cy="1554675"/>
          </a:xfrm>
          <a:prstGeom prst="rect">
            <a:avLst/>
          </a:prstGeom>
          <a:solidFill>
            <a:schemeClr val="lt1"/>
          </a:solidFill>
          <a:ln w="6350">
            <a:solidFill>
              <a:prstClr val="black"/>
            </a:solidFill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b="1" dirty="0">
                <a:ea typeface="Times New Roman"/>
                <a:cs typeface="Times New Roman"/>
              </a:rPr>
              <a:t>	</a:t>
            </a: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b="1" dirty="0" err="1">
                <a:ea typeface="Times New Roman"/>
                <a:cs typeface="Times New Roman"/>
              </a:rPr>
              <a:t>PK</a:t>
            </a:r>
            <a:r>
              <a:rPr lang="en-US" b="1" dirty="0">
                <a:ea typeface="Times New Roman"/>
                <a:cs typeface="Times New Roman"/>
              </a:rPr>
              <a:t>	</a:t>
            </a:r>
            <a:r>
              <a:rPr lang="en-US" b="1" dirty="0" err="1">
                <a:ea typeface="Times New Roman"/>
                <a:cs typeface="Times New Roman"/>
              </a:rPr>
              <a:t>department_code</a:t>
            </a:r>
            <a:r>
              <a:rPr lang="en-US" b="1" dirty="0">
                <a:ea typeface="Times New Roman"/>
                <a:cs typeface="Times New Roman"/>
              </a:rPr>
              <a:t>	</a:t>
            </a:r>
            <a:r>
              <a:rPr lang="en-US" b="1" dirty="0" err="1">
                <a:ea typeface="Times New Roman"/>
                <a:cs typeface="Times New Roman"/>
              </a:rPr>
              <a:t>department_name</a:t>
            </a:r>
            <a:r>
              <a:rPr lang="en-US" b="1" dirty="0">
                <a:ea typeface="Times New Roman"/>
                <a:cs typeface="Times New Roman"/>
              </a:rPr>
              <a:t>		</a:t>
            </a:r>
            <a:r>
              <a:rPr lang="en-US" b="1" dirty="0" err="1">
                <a:ea typeface="Times New Roman"/>
                <a:cs typeface="Times New Roman"/>
              </a:rPr>
              <a:t>manager_id</a:t>
            </a:r>
            <a:endParaRPr lang="en-US" b="1" dirty="0">
              <a:effectLst/>
              <a:ea typeface="Times New Roman"/>
              <a:cs typeface="Times New Roman"/>
            </a:endParaRPr>
          </a:p>
        </p:txBody>
      </p:sp>
      <p:sp>
        <p:nvSpPr>
          <p:cNvPr id="12" name="Text Box 102"/>
          <p:cNvSpPr txBox="1"/>
          <p:nvPr/>
        </p:nvSpPr>
        <p:spPr>
          <a:xfrm>
            <a:off x="137635" y="3843384"/>
            <a:ext cx="2995620" cy="276225"/>
          </a:xfrm>
          <a:prstGeom prst="rect">
            <a:avLst/>
          </a:prstGeom>
          <a:solidFill>
            <a:srgbClr val="4F81BD">
              <a:lumMod val="20000"/>
              <a:lumOff val="80000"/>
              <a:alpha val="38000"/>
            </a:srgbClr>
          </a:solidFill>
          <a:ln w="6350">
            <a:solidFill>
              <a:prstClr val="black"/>
            </a:solidFill>
          </a:ln>
          <a:effectLst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CA" sz="1400" dirty="0">
                <a:latin typeface="Calibri"/>
                <a:ea typeface="Calibri"/>
                <a:cs typeface="Times New Roman"/>
              </a:rPr>
              <a:t>                     </a:t>
            </a:r>
            <a:r>
              <a:rPr lang="en-CA" dirty="0">
                <a:latin typeface="Calibri"/>
                <a:ea typeface="Calibri"/>
                <a:cs typeface="Times New Roman"/>
              </a:rPr>
              <a:t>DEPARTMENT</a:t>
            </a:r>
            <a:endParaRPr lang="en-US" dirty="0"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13" name="Text Box 102"/>
          <p:cNvSpPr txBox="1"/>
          <p:nvPr/>
        </p:nvSpPr>
        <p:spPr>
          <a:xfrm>
            <a:off x="4860032" y="2852936"/>
            <a:ext cx="3154928" cy="374633"/>
          </a:xfrm>
          <a:prstGeom prst="rect">
            <a:avLst/>
          </a:prstGeom>
          <a:solidFill>
            <a:srgbClr val="4F81BD">
              <a:lumMod val="20000"/>
              <a:lumOff val="80000"/>
              <a:alpha val="38000"/>
            </a:srgbClr>
          </a:solidFill>
          <a:ln w="6350">
            <a:solidFill>
              <a:prstClr val="black"/>
            </a:solidFill>
          </a:ln>
          <a:effectLst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CA" dirty="0">
                <a:latin typeface="Calibri"/>
                <a:ea typeface="Calibri"/>
                <a:cs typeface="Times New Roman"/>
              </a:rPr>
              <a:t>                     EMPLOYEE</a:t>
            </a:r>
            <a:endParaRPr lang="en-US" dirty="0"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377864" y="3981496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19548" y="399578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749157479"/>
      </p:ext>
    </p:extLst>
  </p:cSld>
  <p:clrMapOvr>
    <a:masterClrMapping/>
  </p:clrMapOvr>
  <p:transition spd="slow">
    <p:wipe dir="d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>
            <a:normAutofit/>
          </a:bodyPr>
          <a:lstStyle/>
          <a:p>
            <a:r>
              <a:rPr lang="en-US" sz="4400" b="1" dirty="0">
                <a:solidFill>
                  <a:srgbClr val="C00000"/>
                </a:solidFill>
              </a:rP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Entity or Event</a:t>
            </a:r>
          </a:p>
          <a:p>
            <a:r>
              <a:rPr lang="en-US" sz="2800" dirty="0"/>
              <a:t>Relationship</a:t>
            </a:r>
          </a:p>
          <a:p>
            <a:r>
              <a:rPr lang="en-US" sz="2800" dirty="0"/>
              <a:t>Optionality</a:t>
            </a:r>
          </a:p>
          <a:p>
            <a:r>
              <a:rPr lang="en-US" sz="2800" dirty="0"/>
              <a:t>Cardinality</a:t>
            </a:r>
          </a:p>
          <a:p>
            <a:r>
              <a:rPr lang="en-US" sz="2800" dirty="0"/>
              <a:t>Attributes</a:t>
            </a:r>
          </a:p>
          <a:p>
            <a:r>
              <a:rPr lang="en-US" sz="2800" dirty="0" err="1"/>
              <a:t>UID</a:t>
            </a:r>
            <a:endParaRPr lang="en-US" sz="2800" dirty="0"/>
          </a:p>
          <a:p>
            <a:r>
              <a:rPr lang="en-US" sz="2800" dirty="0" err="1"/>
              <a:t>ERD</a:t>
            </a:r>
            <a:r>
              <a:rPr lang="en-US" sz="2800" dirty="0"/>
              <a:t> Diagrams</a:t>
            </a:r>
          </a:p>
          <a:p>
            <a:pPr marL="457200" lvl="1" indent="0">
              <a:buNone/>
            </a:pPr>
            <a:endParaRPr lang="en-US" sz="2800" dirty="0"/>
          </a:p>
        </p:txBody>
      </p:sp>
    </p:spTree>
    <p:custDataLst>
      <p:tags r:id="rId1"/>
    </p:custDataLst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QUq8QELArFIgadhH063fpq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InkrlxYPS4jAzciXk8ToAM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retnMj4SFfqbVIhVK0Rf8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QUq8QELArFIgadhH063fpq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InkrlxYPS4jAzciXk8ToAM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retnMj4SFfqbVIhVK0Rf83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QUq8QELArFIgadhH063fpq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InkrlxYPS4jAzciXk8ToAM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retnMj4SFfqbVIhVK0Rf83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QUq8QELArFIgadhH063fpq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InkrlxYPS4jAzciXk8ToAM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retnMj4SFfqbVIhVK0Rf83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QUq8QELArFIgadhH063fpq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InkrlxYPS4jAzciXk8ToAM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retnMj4SFfqbVIhVK0Rf83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QUq8QELArFIgadhH063fpq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InkrlxYPS4jAzciXk8ToAM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retnMj4SFfqbVIhVK0Rf83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QUq8QELArFIgadhH063fpq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InkrlxYPS4jAzciXk8ToAM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retnMj4SFfqbVIhVK0Rf83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QUq8QELArFIgadhH063fpq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InkrlxYPS4jAzciXk8ToAM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retnMj4SFfqbVIhVK0Rf83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QUq8QELArFIgadhH063fpq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InkrlxYPS4jAzciXk8ToAM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retnMj4SFfqbVIhVK0Rf83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QUq8QELArFIgadhH063fpq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InkrlxYPS4jAzciXk8ToAM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retnMj4SFfqbVIhVK0Rf83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QUq8QELArFIgadhH063fpq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InkrlxYPS4jAzciXk8ToAM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retnMj4SFfqbVIhVK0Rf83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QUq8QELArFIgadhH063fpq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InkrlxYPS4jAzciXk8ToAM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retnMj4SFfqbVIhVK0Rf83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QUq8QELArFIgadhH063fpq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InkrlxYPS4jAzciXk8ToAM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retnMj4SFfqbVIhVK0Rf83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QUq8QELArFIgadhH063fpq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InkrlxYPS4jAzciXk8ToAM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retnMj4SFfqbVIhVK0Rf83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QUq8QELArFIgadhH063fpq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InkrlxYPS4jAzciXk8ToAM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retnMj4SFfqbVIhVK0Rf83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QUq8QELArFIgadhH063fpq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InkrlxYPS4jAzciXk8ToAM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retnMj4SFfqbVIhVK0Rf83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QUq8QELArFIgadhH063fpq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InkrlxYPS4jAzciXk8ToAM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retnMj4SFfqbVIhVK0Rf83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QUq8QELArFIgadhH063fpq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InkrlxYPS4jAzciXk8ToAM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retnMj4SFfqbVIhVK0Rf83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QUq8QELArFIgadhH063fpq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InkrlxYPS4jAzciXk8ToAM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retnMj4SFfqbVIhVK0Rf83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QUq8QELArFIgadhH063fpq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InkrlxYPS4jAzciXk8ToAM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retnMj4SFfqbVIhVK0Rf83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QUq8QELArFIgadhH063fpq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InkrlxYPS4jAzciXk8ToAM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retnMj4SFfqbVIhVK0Rf83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QUq8QELArFIgadhH063fpq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InkrlxYPS4jAzciXk8ToAM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retnMj4SFfqbVIhVK0Rf83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Unk8vjtC9q0JAXtyxsX2O5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Rcuf4iZwLgLEPe9Eifdx3u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uzParF19LzvJyR9qw266In"/>
</p:tagLst>
</file>

<file path=ppt/theme/theme1.xml><?xml version="1.0" encoding="utf-8"?>
<a:theme xmlns:a="http://schemas.openxmlformats.org/drawingml/2006/main" name="View">
  <a:themeElements>
    <a:clrScheme name="View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View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View</Template>
  <TotalTime>0</TotalTime>
  <Words>1452</Words>
  <Application>Microsoft Office PowerPoint</Application>
  <PresentationFormat>On-screen Show (4:3)</PresentationFormat>
  <Paragraphs>255</Paragraphs>
  <Slides>32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8" baseType="lpstr">
      <vt:lpstr>Arial</vt:lpstr>
      <vt:lpstr>Calibri</vt:lpstr>
      <vt:lpstr>Century Schoolbook</vt:lpstr>
      <vt:lpstr>Times New Roman</vt:lpstr>
      <vt:lpstr>Wingdings 2</vt:lpstr>
      <vt:lpstr>View</vt:lpstr>
      <vt:lpstr>Entity Relationship Diagrams ERDs  </vt:lpstr>
      <vt:lpstr>What is an ERD?</vt:lpstr>
      <vt:lpstr>Why ERDs?</vt:lpstr>
      <vt:lpstr>Entities and Events</vt:lpstr>
      <vt:lpstr>E (Relationship)Ds</vt:lpstr>
      <vt:lpstr>E (Relationship)Ds</vt:lpstr>
      <vt:lpstr>An ERD should…</vt:lpstr>
      <vt:lpstr>Equivalent Terms:</vt:lpstr>
      <vt:lpstr>Customer</vt:lpstr>
      <vt:lpstr>Last Name</vt:lpstr>
      <vt:lpstr>Phone Number</vt:lpstr>
      <vt:lpstr>Phone Number is 4164915050</vt:lpstr>
      <vt:lpstr>Last Name, First Name, Phone</vt:lpstr>
      <vt:lpstr>Steps in Designing an ERD</vt:lpstr>
      <vt:lpstr>Steps in Designing an ERD</vt:lpstr>
      <vt:lpstr>Steps in Designing an ERD</vt:lpstr>
      <vt:lpstr>Case Study</vt:lpstr>
      <vt:lpstr>Case Study</vt:lpstr>
      <vt:lpstr>Case Study</vt:lpstr>
      <vt:lpstr>Identify Attributes</vt:lpstr>
      <vt:lpstr>Select Unique Identifier (UID)</vt:lpstr>
      <vt:lpstr>Candidate Key</vt:lpstr>
      <vt:lpstr>Candidate Keys Must:</vt:lpstr>
      <vt:lpstr>Unique Identifier</vt:lpstr>
      <vt:lpstr>EMPLOYEE EXAMPLE</vt:lpstr>
      <vt:lpstr>Determining relationships</vt:lpstr>
      <vt:lpstr>Determining optionality and cardinality</vt:lpstr>
      <vt:lpstr>Optionality and Cardinality</vt:lpstr>
      <vt:lpstr>Optionality and Cardinality</vt:lpstr>
      <vt:lpstr>Cardinality Notations</vt:lpstr>
      <vt:lpstr>1:M 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cp:lastModifiedBy/>
  <cp:revision>1</cp:revision>
  <dcterms:created xsi:type="dcterms:W3CDTF">2013-07-01T13:50:36Z</dcterms:created>
  <dcterms:modified xsi:type="dcterms:W3CDTF">2024-03-11T14:00:30Z</dcterms:modified>
</cp:coreProperties>
</file>